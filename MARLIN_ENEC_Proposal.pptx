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098b3b4fea4da5" /><Relationship Type="http://schemas.openxmlformats.org/officeDocument/2006/relationships/extended-properties" Target="/docProps/app.xml" Id="R9bd0a64134f74255" /><Relationship Type="http://schemas.openxmlformats.org/officeDocument/2006/relationships/officeDocument" Target="/ppt/presentation.xml" Id="Rebb3089bf1f44d32" /></Relationships>
</file>

<file path=ppt/presentation.xml><?xml version="1.0" encoding="utf-8"?>
<p:presentation xmlns:p="http://schemas.openxmlformats.org/presentationml/2006/main">
  <p:sldMasterIdLst>
    <p:sldMasterId xmlns:r="http://schemas.openxmlformats.org/officeDocument/2006/relationships" id="2147483648" r:id="Rd57776fb7f734f5a"/>
  </p:sldMasterIdLst>
  <p:notesMasterIdLst>
    <p:notesMasterId xmlns:r="http://schemas.openxmlformats.org/officeDocument/2006/relationships" r:id="R6254e5dba6aa4700"/>
  </p:notesMasterIdLst>
  <p:sldIdLst>
    <p:sldId xmlns:r="http://schemas.openxmlformats.org/officeDocument/2006/relationships" id="256" r:id="R36a623fa9e2c4c3c"/>
    <p:sldId xmlns:r="http://schemas.openxmlformats.org/officeDocument/2006/relationships" id="257" r:id="R8188bd40317a4314"/>
    <p:sldId xmlns:r="http://schemas.openxmlformats.org/officeDocument/2006/relationships" id="258" r:id="R8ee89624ae5f406a"/>
    <p:sldId xmlns:r="http://schemas.openxmlformats.org/officeDocument/2006/relationships" id="259" r:id="Re1998f3c22984e8d"/>
    <p:sldId xmlns:r="http://schemas.openxmlformats.org/officeDocument/2006/relationships" id="260" r:id="R31b4d1e9821c4bd4"/>
    <p:sldId xmlns:r="http://schemas.openxmlformats.org/officeDocument/2006/relationships" id="261" r:id="R03cd9b0e5cf34e80"/>
    <p:sldId xmlns:r="http://schemas.openxmlformats.org/officeDocument/2006/relationships" id="262" r:id="Rf263a5d52b6e4963"/>
    <p:sldId xmlns:r="http://schemas.openxmlformats.org/officeDocument/2006/relationships" id="263" r:id="Rc0c5569d91064af9"/>
    <p:sldId xmlns:r="http://schemas.openxmlformats.org/officeDocument/2006/relationships" id="264" r:id="R45be812115ea4b94"/>
    <p:sldId xmlns:r="http://schemas.openxmlformats.org/officeDocument/2006/relationships" id="265" r:id="Rd785d93d3b5a43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41f392a5bd4ba2" /><Relationship Type="http://schemas.openxmlformats.org/officeDocument/2006/relationships/slideMaster" Target="/ppt/slideMasters/slideMaster1.xml" Id="Rd57776fb7f734f5a" /><Relationship Type="http://schemas.openxmlformats.org/officeDocument/2006/relationships/notesMaster" Target="/ppt/notesMasters/notesMaster1.xml" Id="R6254e5dba6aa4700" /><Relationship Type="http://schemas.openxmlformats.org/officeDocument/2006/relationships/presProps" Target="/ppt/presProps.xml" Id="R050d9b3ce6b64e82" /><Relationship Type="http://schemas.openxmlformats.org/officeDocument/2006/relationships/tableStyles" Target="/ppt/tableStyles.xml" Id="R0714ae84f57f4c92" /><Relationship Type="http://schemas.openxmlformats.org/officeDocument/2006/relationships/slide" Target="/ppt/slides/slide1.xml" Id="R36a623fa9e2c4c3c" /><Relationship Type="http://schemas.openxmlformats.org/officeDocument/2006/relationships/slide" Target="/ppt/slides/slide2.xml" Id="R8188bd40317a4314" /><Relationship Type="http://schemas.openxmlformats.org/officeDocument/2006/relationships/slide" Target="/ppt/slides/slide3.xml" Id="R8ee89624ae5f406a" /><Relationship Type="http://schemas.openxmlformats.org/officeDocument/2006/relationships/slide" Target="/ppt/slides/slide4.xml" Id="Re1998f3c22984e8d" /><Relationship Type="http://schemas.openxmlformats.org/officeDocument/2006/relationships/slide" Target="/ppt/slides/slide5.xml" Id="R31b4d1e9821c4bd4" /><Relationship Type="http://schemas.openxmlformats.org/officeDocument/2006/relationships/slide" Target="/ppt/slides/slide6.xml" Id="R03cd9b0e5cf34e80" /><Relationship Type="http://schemas.openxmlformats.org/officeDocument/2006/relationships/slide" Target="/ppt/slides/slide7.xml" Id="Rf263a5d52b6e4963" /><Relationship Type="http://schemas.openxmlformats.org/officeDocument/2006/relationships/slide" Target="/ppt/slides/slide8.xml" Id="Rc0c5569d91064af9" /><Relationship Type="http://schemas.openxmlformats.org/officeDocument/2006/relationships/slide" Target="/ppt/slides/slide9.xml" Id="R45be812115ea4b94" /><Relationship Type="http://schemas.openxmlformats.org/officeDocument/2006/relationships/slide" Target="/ppt/slides/slide10.xml" Id="Rd785d93d3b5a43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891a87faf342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d44a7c32804ac7" /><Relationship Type="http://schemas.openxmlformats.org/officeDocument/2006/relationships/notesMaster" Target="/ppt/notesMasters/notesMaster1.xml" Id="R985f1677fc2d4c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0439e534ae4f5b" /><Relationship Type="http://schemas.openxmlformats.org/officeDocument/2006/relationships/notesMaster" Target="/ppt/notesMasters/notesMaster1.xml" Id="R0e17df1797934c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14ec38538b4b8b" /><Relationship Type="http://schemas.openxmlformats.org/officeDocument/2006/relationships/notesMaster" Target="/ppt/notesMasters/notesMaster1.xml" Id="Rc36a8bdc2bbf46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49a1cbb40d4b65" /><Relationship Type="http://schemas.openxmlformats.org/officeDocument/2006/relationships/notesMaster" Target="/ppt/notesMasters/notesMaster1.xml" Id="Rbe8ecf4deb674f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f2e1d2af324ee5" /><Relationship Type="http://schemas.openxmlformats.org/officeDocument/2006/relationships/notesMaster" Target="/ppt/notesMasters/notesMaster1.xml" Id="R710b9709ea734b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0ebf0e26894114" /><Relationship Type="http://schemas.openxmlformats.org/officeDocument/2006/relationships/notesMaster" Target="/ppt/notesMasters/notesMaster1.xml" Id="Rf7f25f8de30944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fbc925a1b84502" /><Relationship Type="http://schemas.openxmlformats.org/officeDocument/2006/relationships/notesMaster" Target="/ppt/notesMasters/notesMaster1.xml" Id="R817b77c0790b42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c3a9c39f6d4dc4" /><Relationship Type="http://schemas.openxmlformats.org/officeDocument/2006/relationships/notesMaster" Target="/ppt/notesMasters/notesMaster1.xml" Id="R578f954eab8f43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2173286e5f4998" /><Relationship Type="http://schemas.openxmlformats.org/officeDocument/2006/relationships/notesMaster" Target="/ppt/notesMasters/notesMaster1.xml" Id="Rf647d7033b7a4c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534cf4ddd248b4" /><Relationship Type="http://schemas.openxmlformats.org/officeDocument/2006/relationships/notesMaster" Target="/ppt/notesMasters/notesMaster1.xml" Id="R88da50e126a449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concept. The supplied MARLIN image is an illustrative visual, not a site-validated layout.</a:t>
            </a:r>
          </a:p>
          <a:p xmlns:a="http://schemas.openxmlformats.org/drawingml/2006/main">
            <a:r>
              <a:t>Challenge brief: https://challengeon.atrc.ae/en/challenges/atp2026/pages/enec-challenge-statement?lang=en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v4 reference result is taken from the project’s local screening report: workbench/v4/output/RUN_REPORT.md. The model reports 2.50% uncaptured and 97.50% delivered to its hypothetical supervised shore-receiving step for the reference scenario.</a:t>
            </a:r>
          </a:p>
          <a:p xmlns:a="http://schemas.openxmlformats.org/drawingml/2006/main">
            <a:r>
              <a:t>The model uses synthetic bloom input and uncalibrated contact probabilities; it is not a verified field performance estimate.</a:t>
            </a:r>
          </a:p>
          <a:p xmlns:a="http://schemas.openxmlformats.org/drawingml/2006/main">
            <a:r>
              <a:t>Official challenge scope: https://challengeon.atrc.ae/en/challenges/atp2026/pages/enec-challenge-statement?lang=en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ATP 2026 ENEC brief says ENEC already has an offshore bloom early-warning program and asks for sustainable management after an alert. It emphasizes harm minimization, practicality, reduced manual intervention, cost-conscious scalability, evidence/assumptions, and large continuous blooms.</a:t>
            </a:r>
          </a:p>
          <a:p xmlns:a="http://schemas.openxmlformats.org/drawingml/2006/main">
            <a:r>
              <a:t>Source: https://challengeon.atrc.ae/en/challenges/atp2026/pages/enec-challenge-statement?lang=en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cross-section is a conceptual system diagram and does not describe ENEC’s internal plant systems or approved deployment geometry. The v4 simulation assumes flat 12 m depth, two guide bands with 11.8 m skirts, a 200 m modeled corridor, and powered wet collection/lift.</a:t>
            </a:r>
          </a:p>
          <a:p xmlns:a="http://schemas.openxmlformats.org/drawingml/2006/main">
            <a:r>
              <a:t>The optional bubble airlift / curtain is excluded from the 97.5% reference run. The project model estimated 77.1 kWh/event for continuous dual-line bubble operation and found no reliable capture gain across a very small repeat set; a field benefit is not established.</a:t>
            </a:r>
          </a:p>
          <a:p xmlns:a="http://schemas.openxmlformats.org/drawingml/2006/main">
            <a:r>
              <a:t>Jellyfish bubble-curtain tests have reported mixed field results and show that wave conditions can affect transport through a curtain: https://research.ucc.ie/en/publications/field-and-flume-tank-experiments-investigating-the-efficacy-of-a/ (Haberlin et al., 2021).</a:t>
            </a:r>
          </a:p>
          <a:p xmlns:a="http://schemas.openxmlformats.org/drawingml/2006/main">
            <a:r>
              <a:t>Bubble-curtain / wave-current physical interaction study: https://link.springer.com/article/10.1007/s10652-025-10029-1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simulation uses deterministic/synthetic control conditions and contains no trained machine-learning or computer-vision model. ML/CV appears here as a future decision-support feature, contingent on labeled local observations and validation.</a:t>
            </a:r>
          </a:p>
          <a:p xmlns:a="http://schemas.openxmlformats.org/drawingml/2006/main">
            <a:r>
              <a:t>The project’s operational concept uses local controls and independent limit checks so that communications loss does not cause uncontrolled actuator changes. Final setpoints and trips must be engineered and approved with ENEC.</a:t>
            </a:r>
          </a:p>
          <a:p xmlns:a="http://schemas.openxmlformats.org/drawingml/2006/main">
            <a:r>
              <a:t>Official challenge statement distinguishes post-alert management from early detection and invites environmental monitoring and decision support: https://challengeon.atrc.ae/en/challenges/atp2026/pages/enec-challenge-statement?lang=en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plotted results are from workbench/v4/output/RUN_REPORT.md. The model’s reference case has 97.50% delivered and 2.50% uncaptured; storm has 84% delivered and 16% uncaptured; strong transverse-current sensitivity has 93.5% delivered and 6.5% uncaptured; triple arrival has 41.67% delivered, 31.33% still held, and 27% uncaptured.</a:t>
            </a:r>
          </a:p>
          <a:p xmlns:a="http://schemas.openxmlformats.org/drawingml/2006/main">
            <a:r>
              <a:t>The 95% threshold is an aspirational screening target and is not achieved robustly across tested conditions.</a:t>
            </a:r>
          </a:p>
          <a:p xmlns:a="http://schemas.openxmlformats.org/drawingml/2006/main">
            <a:r>
              <a:t>The 27 tests check code/kinematics and mass balance. They do not establish full hydrodynamics, intake-system coupling, device capacity, ecological effect, or field catch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challenge requires minimizing potential harm to jellyfish and other marine organisms and considering unintended environmental consequences: https://challengeon.atrc.ae/en/challenges/atp2026/pages/enec-challenge-statement?lang=en</a:t>
            </a:r>
          </a:p>
          <a:p xmlns:a="http://schemas.openxmlformats.org/drawingml/2006/main">
            <a:r>
              <a:t>A large physical guide can introduce entanglement, debris, mooring, drag, and water-flow risks. The simulation does not model bycatch or injury, does not resolve detailed intake hydraulics, and does not establish a safe mesh or skirt design. The safeguards on this slide are proposed test gates, not demonstrated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model’s bubble-on/off results are preliminary: bubble-on repeat range 2.25–2.50% uncaptured (n=4), bubble-off 2.00–2.50% (n=11). This is a small, model-dependent seed sample, not field evidence. Reported 77.1 kWh/event is an assumed compressor estimate for continuous operation of two lines.</a:t>
            </a:r>
          </a:p>
          <a:p xmlns:a="http://schemas.openxmlformats.org/drawingml/2006/main">
            <a:r>
              <a:t>Bubble curtain field/flume work found mixed results and identified wave conditions and jellyfish size/shape as important: https://research.ucc.ie/en/publications/field-and-flume-tank-experiments-investigating-the-efficacy-of-a/ (Haberlin, McAllen &amp; Doyle, 2021, Aquaculture 531, 735915; DOI 10.1016/j.aquaculture.2020.735915).</a:t>
            </a:r>
          </a:p>
          <a:p xmlns:a="http://schemas.openxmlformats.org/drawingml/2006/main">
            <a:r>
              <a:t>No vendor pricing, anchor/installation quote, marine-service cost, or maintenance contract is included. The challenge asks for a cost-conscious approach; this slide proposes ways to limit unnecessary operating expense without claiming a validated total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asks teams to explain how they would test or demonstrate the concept if shortlisted. The 5% escape threshold is a proposed engineering gate, not an established biological standard. Conditions for that target must be defined before testing and agreed with environmental specialists and the operator.</a:t>
            </a:r>
          </a:p>
          <a:p xmlns:a="http://schemas.openxmlformats.org/drawingml/2006/main">
            <a:r>
              <a:t>The challenge brief states no internal operational data or detailed facility design will be provided; public data and clearly stated assumptions may be used, with mentorship/clarification available to shortlisted teams: https://challengeon.atrc.ae/en/challenges/atp2026/pages/enec-challenge-statement?lang=en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Simulation details and caveats: workbench/v4/output/RUN_REPORT.md. Synthetic bloom loading, assumed 12 m flat water depth and 200 m corridor, uncalibrated contact probabilities, and no biological damage model or ML/CV model are in the simulation.</a:t>
            </a:r>
          </a:p>
          <a:p xmlns:a="http://schemas.openxmlformats.org/drawingml/2006/main">
            <a:r>
              <a:t>Challenge source and submission requirements: https://challengeon.atrc.ae/en/challenges/atp2026/pages/enec-challenge-statement?lang=en</a:t>
            </a:r>
          </a:p>
          <a:p xmlns:a="http://schemas.openxmlformats.org/drawingml/2006/main">
            <a:r>
              <a:t>Bubble-curtain jellyfish field/flume study: Haberlin, D., McAllen, R. &amp; Doyle, T.K. (2021), Aquaculture 531, 735915. https://doi.org/10.1016/j.aquaculture.2020.735915</a:t>
            </a:r>
          </a:p>
          <a:p xmlns:a="http://schemas.openxmlformats.org/drawingml/2006/main">
            <a:r>
              <a:t>ERA5 hourly weather/wave reanalysis: https://cds.climate.copernicus.eu/datasets/reanalysis-era5-single-levels?tab=overview</a:t>
            </a:r>
          </a:p>
          <a:p xmlns:a="http://schemas.openxmlformats.org/drawingml/2006/main">
            <a:r>
              <a:t>Copernicus Marine Global Ocean Physics Reanalysis (GLORYS12V1): https://data.marine.copernicus.eu/?option=com_csw&amp;product_id=GLOBAL_MULTIYEAR_PHY_001_030&amp;view=details</a:t>
            </a:r>
          </a:p>
          <a:p xmlns:a="http://schemas.openxmlformats.org/drawingml/2006/main">
            <a:r>
              <a:t>These are broad public data products. Their use does not convert regional forcing into site-scale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d3c4a9bc104bd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3752f8f590441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06a72102974f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7acec60f144da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4e5dd2142441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5b05f894d942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601D1F-0C2E-4C1F-B9ED-CCA815688C1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E99CDE4-B0A6-49D8-9C6E-68F13B5E756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C145AE5-DBA9-44E1-AAD9-0EB14291B0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273506-9409-4736-9F80-1D9319A1D4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27AC18-8FC4-496C-B3A3-5B2702FBFDA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4BE55F-E463-4A7D-8E21-D6912B092C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250C15-CE65-48CC-A3C3-83A38AEF0B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E8A31E-29E3-4A33-83D4-19C219C9CD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280D4B-EFAE-4EA0-8F61-2BE86DCCAD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1154CC-DD83-40C2-B574-B8DE6844BD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3b72f80a9a4ffc" /><Relationship Type="http://schemas.openxmlformats.org/officeDocument/2006/relationships/slideLayout" Target="/ppt/slideLayouts/slideLayout1.xml" Id="R82d3cbe278ea42fe" /><Relationship Type="http://schemas.openxmlformats.org/officeDocument/2006/relationships/slideLayout" Target="/ppt/slideLayouts/slideLayout2.xml" Id="R1c40b538800e443d" /><Relationship Type="http://schemas.openxmlformats.org/officeDocument/2006/relationships/slideLayout" Target="/ppt/slideLayouts/slideLayout3.xml" Id="R6dd6c258f72641b1" /><Relationship Type="http://schemas.openxmlformats.org/officeDocument/2006/relationships/slideLayout" Target="/ppt/slideLayouts/slideLayout4.xml" Id="R546a0c639a894396" /><Relationship Type="http://schemas.openxmlformats.org/officeDocument/2006/relationships/slideLayout" Target="/ppt/slideLayouts/slideLayout5.xml" Id="R64a7add0711a439b" /><Relationship Type="http://schemas.openxmlformats.org/officeDocument/2006/relationships/slideLayout" Target="/ppt/slideLayouts/slideLayout6.xml" Id="R0ce0cfc5aa934d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d3cbe278ea42fe"/>
    <p:sldLayoutId xmlns:r="http://schemas.openxmlformats.org/officeDocument/2006/relationships" id="2147483650" r:id="R1c40b538800e443d"/>
    <p:sldLayoutId xmlns:r="http://schemas.openxmlformats.org/officeDocument/2006/relationships" id="2147483651" r:id="R6dd6c258f72641b1"/>
    <p:sldLayoutId xmlns:r="http://schemas.openxmlformats.org/officeDocument/2006/relationships" id="2147483652" r:id="R546a0c639a894396"/>
    <p:sldLayoutId xmlns:r="http://schemas.openxmlformats.org/officeDocument/2006/relationships" id="2147483653" r:id="R64a7add0711a439b"/>
    <p:sldLayoutId xmlns:r="http://schemas.openxmlformats.org/officeDocument/2006/relationships" id="2147483654" r:id="R0ce0cfc5aa934d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87bad7e8114559" /><Relationship Type="http://schemas.openxmlformats.org/officeDocument/2006/relationships/image" Target="/ppt/media/image.jpeg" Id="Rfbf6793405bb4ec4" /><Relationship Type="http://schemas.openxmlformats.org/officeDocument/2006/relationships/notesSlide" Target="/ppt/notesSlides/notesSlide1.xml" Id="R30ce90d46c934b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fef4cc8d2a7499d" /><Relationship Type="http://schemas.openxmlformats.org/officeDocument/2006/relationships/notesSlide" Target="/ppt/notesSlides/notesSlide2.xml" Id="R96496153901b46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2bbb5b32ba48ff" /><Relationship Type="http://schemas.openxmlformats.org/officeDocument/2006/relationships/notesSlide" Target="/ppt/notesSlides/notesSlide3.xml" Id="R05e3bb92851847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b32b8ddd664423" /><Relationship Type="http://schemas.openxmlformats.org/officeDocument/2006/relationships/notesSlide" Target="/ppt/notesSlides/notesSlide4.xml" Id="R723d91f6c43249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1ed72cd31f74abc" /><Relationship Type="http://schemas.openxmlformats.org/officeDocument/2006/relationships/notesSlide" Target="/ppt/notesSlides/notesSlide5.xml" Id="Rc3f5495d02c74f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595620375e4f3c" /><Relationship Type="http://schemas.openxmlformats.org/officeDocument/2006/relationships/notesSlide" Target="/ppt/notesSlides/notesSlide6.xml" Id="R8ee02cf1949448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88f5a40e1c24689" /><Relationship Type="http://schemas.openxmlformats.org/officeDocument/2006/relationships/notesSlide" Target="/ppt/notesSlides/notesSlide7.xml" Id="R4e24b2ac504c49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9021395cd2b4889" /><Relationship Type="http://schemas.openxmlformats.org/officeDocument/2006/relationships/notesSlide" Target="/ppt/notesSlides/notesSlide8.xml" Id="R8ca6b958ef9946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bfb4e8888c34766" /><Relationship Type="http://schemas.openxmlformats.org/officeDocument/2006/relationships/notesSlide" Target="/ppt/notesSlides/notesSlide9.xml" Id="R8c1314cece4945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57cbb42f8d94ac5" /><Relationship Type="http://schemas.openxmlformats.org/officeDocument/2006/relationships/notesSlide" Target="/ppt/notesSlides/notesSlide10.xml" Id="R25195049f11e428d" /></Relationships>
</file>

<file path=ppt/slides/slide1.xml><?xml version="1.0" encoding="utf-8"?>
<p:sld xmlns:p="http://schemas.openxmlformats.org/presentationml/2006/main">
  <p:cSld>
    <p:bg>
      <p:bgPr>
        <a:solidFill xmlns:a="http://schemas.openxmlformats.org/drawingml/2006/main">
          <a:srgbClr val="061B27"/>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366D5ED-2AB6-465D-8C70-48E52DE58F75}"/>
              </a:ext>
            </a:extLst>
          </p:cNvPr>
          <p:cNvPicPr>
            <a:picLocks xmlns:a="http://schemas.openxmlformats.org/drawingml/2006/main" noChangeAspect="1"/>
          </p:cNvPicPr>
          <p:nvPr/>
        </p:nvPicPr>
        <p:blipFill>
          <a:blip xmlns:r="http://schemas.openxmlformats.org/officeDocument/2006/relationships" xmlns:a="http://schemas.openxmlformats.org/drawingml/2006/main" r:embed="Rfbf6793405bb4ec4"/>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7090C6D-7C1B-4755-B831-5CAEE3666272}"/>
              </a:ext>
            </a:extLst>
          </p:cNvPr>
          <p:cNvSpPr>
            <a:spLocks xmlns:a="http://schemas.openxmlformats.org/drawingml/2006/main" noGrp="1"/>
          </p:cNvSpPr>
          <p:nvPr/>
        </p:nvSpPr>
        <p:spPr>
          <a:xfrm xmlns:a="http://schemas.openxmlformats.org/drawingml/2006/main">
            <a:off x="0" y="0"/>
            <a:ext cx="12192000" cy="476250"/>
          </a:xfrm>
          <a:prstGeom xmlns:a="http://schemas.openxmlformats.org/drawingml/2006/main" prst="rect">
            <a:avLst/>
          </a:prstGeom>
          <a:solidFill xmlns:a="http://schemas.openxmlformats.org/drawingml/2006/main">
            <a:srgbClr val="071E2C">
              <a:alpha val="36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8DD7E9D-7839-4ACE-8DF3-8C2E29830227}"/>
              </a:ext>
            </a:extLst>
          </p:cNvPr>
          <p:cNvSpPr>
            <a:spLocks xmlns:a="http://schemas.openxmlformats.org/drawingml/2006/main" noGrp="1"/>
          </p:cNvSpPr>
          <p:nvPr/>
        </p:nvSpPr>
        <p:spPr>
          <a:xfrm xmlns:a="http://schemas.openxmlformats.org/drawingml/2006/main">
            <a:off x="8858250" y="16192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FFFFFF"/>
                </a:solidFill>
                <a:latin typeface="Aptos"/>
                <a:ea typeface="Aptos"/>
                <a:cs typeface="Aptos"/>
              </a:defRPr>
            </a:defPPr>
          </a:lstStyle>
          <a:p xmlns:a="http://schemas.openxmlformats.org/drawingml/2006/main">
            <a:pPr algn="r">
              <a:defRPr sz="1050" b="1" i="0">
                <a:solidFill>
                  <a:srgbClr val="FFFFFF"/>
                </a:solidFill>
                <a:latin typeface="Aptos"/>
                <a:ea typeface="Aptos"/>
                <a:cs typeface="Aptos"/>
              </a:defRPr>
            </a:pPr>
            <a:r>
              <a:rPr sz="1050" b="1" i="0">
                <a:solidFill>
                  <a:srgbClr val="FFFFFF"/>
                </a:solidFill>
                <a:latin typeface="Aptos"/>
                <a:ea typeface="Aptos"/>
                <a:cs typeface="Aptos"/>
              </a:rPr>
              <a:t>ATP 2026   /   ENEC CHALLENGE</a:t>
            </a:r>
          </a:p>
        </p:txBody>
      </p:sp>
      <p:sp>
        <p:nvSpPr>
          <p:cNvPr id="4" name="">
            <a:extLst xmlns:a="http://schemas.openxmlformats.org/drawingml/2006/main">
              <a:ext uri="{FF2B5EF4-FFF2-40B4-BE49-F238E27FC236}">
                <a16:creationId xmlns:a16="http://schemas.microsoft.com/office/drawing/2014/main" id="{F8348956-FDE9-42A9-BD1E-DD5E993F8103}"/>
              </a:ext>
            </a:extLst>
          </p:cNvPr>
          <p:cNvSpPr>
            <a:spLocks xmlns:a="http://schemas.openxmlformats.org/drawingml/2006/main" noGrp="1"/>
          </p:cNvSpPr>
          <p:nvPr/>
        </p:nvSpPr>
        <p:spPr>
          <a:xfrm xmlns:a="http://schemas.openxmlformats.org/drawingml/2006/main">
            <a:off x="0" y="5429250"/>
            <a:ext cx="12192000" cy="1428750"/>
          </a:xfrm>
          <a:prstGeom xmlns:a="http://schemas.openxmlformats.org/drawingml/2006/main" prst="rect">
            <a:avLst/>
          </a:prstGeom>
          <a:gradFill xmlns:a="http://schemas.openxmlformats.org/drawingml/2006/main">
            <a:gsLst>
              <a:gs pos="0">
                <a:srgbClr val="061B27">
                  <a:alpha val="96000"/>
                </a:srgbClr>
              </a:gs>
              <a:gs pos="68000">
                <a:srgbClr val="061B27">
                  <a:alpha val="62000"/>
                </a:srgbClr>
              </a:gs>
              <a:gs pos="100000">
                <a:srgbClr val="061B27">
                  <a:alpha val="0"/>
                </a:srgbClr>
              </a:gs>
            </a:gsLst>
            <a:lin ang="0"/>
          </a:gra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6BE92A-214E-4AEE-86E3-89FE67BC0D6E}"/>
              </a:ext>
            </a:extLst>
          </p:cNvPr>
          <p:cNvSpPr>
            <a:spLocks xmlns:a="http://schemas.openxmlformats.org/drawingml/2006/main" noGrp="1"/>
          </p:cNvSpPr>
          <p:nvPr/>
        </p:nvSpPr>
        <p:spPr>
          <a:xfrm xmlns:a="http://schemas.openxmlformats.org/drawingml/2006/main">
            <a:off x="628650" y="5715000"/>
            <a:ext cx="847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i="0">
                <a:solidFill>
                  <a:srgbClr val="FFFFFF"/>
                </a:solidFill>
                <a:latin typeface="Georgia"/>
                <a:ea typeface="Georgia"/>
                <a:cs typeface="Georgia"/>
              </a:defRPr>
            </a:defPPr>
          </a:lstStyle>
          <a:p xmlns:a="http://schemas.openxmlformats.org/drawingml/2006/main">
            <a:pPr algn="l">
              <a:defRPr sz="2100" b="1" i="0">
                <a:solidFill>
                  <a:srgbClr val="FFFFFF"/>
                </a:solidFill>
                <a:latin typeface="Georgia"/>
                <a:ea typeface="Georgia"/>
                <a:cs typeface="Georgia"/>
              </a:defRPr>
            </a:pPr>
            <a:r>
              <a:rPr sz="2100" b="1" i="0">
                <a:solidFill>
                  <a:srgbClr val="FFFFFF"/>
                </a:solidFill>
                <a:latin typeface="Georgia"/>
                <a:ea typeface="Georgia"/>
                <a:cs typeface="Georgia"/>
              </a:rPr>
              <a:t>A post-alert response for seasonal jellyfish blooms</a:t>
            </a:r>
          </a:p>
        </p:txBody>
      </p:sp>
      <p:sp>
        <p:nvSpPr>
          <p:cNvPr id="6" name="">
            <a:extLst xmlns:a="http://schemas.openxmlformats.org/drawingml/2006/main">
              <a:ext uri="{FF2B5EF4-FFF2-40B4-BE49-F238E27FC236}">
                <a16:creationId xmlns:a16="http://schemas.microsoft.com/office/drawing/2014/main" id="{304AE0C4-65F0-4C2C-8267-5BF5377F7426}"/>
              </a:ext>
            </a:extLst>
          </p:cNvPr>
          <p:cNvSpPr>
            <a:spLocks xmlns:a="http://schemas.openxmlformats.org/drawingml/2006/main" noGrp="1"/>
          </p:cNvSpPr>
          <p:nvPr/>
        </p:nvSpPr>
        <p:spPr>
          <a:xfrm xmlns:a="http://schemas.openxmlformats.org/drawingml/2006/main">
            <a:off x="647700" y="6191250"/>
            <a:ext cx="885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FFFFF">
                    <a:alpha val="90000"/>
                  </a:srgbClr>
                </a:solidFill>
                <a:latin typeface="Aptos"/>
                <a:ea typeface="Aptos"/>
                <a:cs typeface="Aptos"/>
              </a:defRPr>
            </a:defPPr>
          </a:lstStyle>
          <a:p xmlns:a="http://schemas.openxmlformats.org/drawingml/2006/main">
            <a:pPr algn="l">
              <a:defRPr sz="1350" b="0" i="0">
                <a:solidFill>
                  <a:srgbClr val="FFFFFF">
                    <a:alpha val="90000"/>
                  </a:srgbClr>
                </a:solidFill>
                <a:latin typeface="Aptos"/>
                <a:ea typeface="Aptos"/>
                <a:cs typeface="Aptos"/>
              </a:defRPr>
            </a:pPr>
            <a:r>
              <a:rPr sz="1350" b="0" i="0">
                <a:solidFill>
                  <a:srgbClr val="FFFFFF">
                    <a:alpha val="90000"/>
                  </a:srgbClr>
                </a:solidFill>
                <a:latin typeface="Aptos"/>
                <a:ea typeface="Aptos"/>
                <a:cs typeface="Aptos"/>
              </a:rPr>
              <a:t>A testable, two-layer concept focused on marine-life protection and less manual response.</a:t>
            </a:r>
          </a:p>
        </p:txBody>
      </p:sp>
      <p:sp>
        <p:nvSpPr>
          <p:cNvPr id="7" name="">
            <a:extLst xmlns:a="http://schemas.openxmlformats.org/drawingml/2006/main">
              <a:ext uri="{FF2B5EF4-FFF2-40B4-BE49-F238E27FC236}">
                <a16:creationId xmlns:a16="http://schemas.microsoft.com/office/drawing/2014/main" id="{127AD2E8-8128-4F92-AA51-E46F040A4C40}"/>
              </a:ext>
            </a:extLst>
          </p:cNvPr>
          <p:cNvSpPr>
            <a:spLocks xmlns:a="http://schemas.openxmlformats.org/drawingml/2006/main" noGrp="1"/>
          </p:cNvSpPr>
          <p:nvPr/>
        </p:nvSpPr>
        <p:spPr>
          <a:xfrm xmlns:a="http://schemas.openxmlformats.org/drawingml/2006/main">
            <a:off x="647700" y="6496050"/>
            <a:ext cx="109061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FFFFF">
                    <a:alpha val="86000"/>
                  </a:srgbClr>
                </a:solidFill>
                <a:latin typeface="Aptos"/>
                <a:ea typeface="Aptos"/>
                <a:cs typeface="Aptos"/>
              </a:defRPr>
            </a:defPPr>
          </a:lstStyle>
          <a:p xmlns:a="http://schemas.openxmlformats.org/drawingml/2006/main">
            <a:pPr algn="l">
              <a:defRPr sz="975" b="1" i="0">
                <a:solidFill>
                  <a:srgbClr val="FFFFFF">
                    <a:alpha val="86000"/>
                  </a:srgbClr>
                </a:solidFill>
                <a:latin typeface="Aptos"/>
                <a:ea typeface="Aptos"/>
                <a:cs typeface="Aptos"/>
              </a:defRPr>
            </a:pPr>
            <a:r>
              <a:rPr sz="975" b="1" i="0">
                <a:solidFill>
                  <a:srgbClr val="FFFFFF">
                    <a:alpha val="86000"/>
                  </a:srgbClr>
                </a:solidFill>
                <a:latin typeface="Aptos"/>
                <a:ea typeface="Aptos"/>
                <a:cs typeface="Aptos"/>
              </a:rPr>
              <a:t>TEAM   Bashger Aljneibi  ·  Keyal Doshi  ·  Abdul Fattah Mohammed  ·  Abdul Bari Mohammed</a:t>
            </a:r>
          </a:p>
        </p:txBody>
      </p:sp>
    </p:spTree>
    <p:extLst>
      <p:ext uri="{BB962C8B-B14F-4D97-AF65-F5344CB8AC3E}">
        <p14:creationId xmlns:p14="http://schemas.microsoft.com/office/powerpoint/2010/main" val="105330935"/>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BAE4356-5860-409B-B00B-855800A9FDB5}"/>
              </a:ext>
            </a:extLst>
          </p:cNvPr>
          <p:cNvSpPr>
            <a:spLocks xmlns:a="http://schemas.openxmlformats.org/drawingml/2006/main" noGrp="1"/>
          </p:cNvSpPr>
          <p:nvPr/>
        </p:nvSpPr>
        <p:spPr>
          <a:xfrm xmlns:a="http://schemas.openxmlformats.org/drawingml/2006/main">
            <a:off x="552450" y="3619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01   /   EXECUTIVE BRIEF</a:t>
            </a:r>
          </a:p>
        </p:txBody>
      </p:sp>
      <p:sp>
        <p:nvSpPr>
          <p:cNvPr id="2" name="">
            <a:extLst xmlns:a="http://schemas.openxmlformats.org/drawingml/2006/main">
              <a:ext uri="{FF2B5EF4-FFF2-40B4-BE49-F238E27FC236}">
                <a16:creationId xmlns:a16="http://schemas.microsoft.com/office/drawing/2014/main" id="{1960C1CC-2003-40D3-9B6A-D9E0EC5ED5F3}"/>
              </a:ext>
            </a:extLst>
          </p:cNvPr>
          <p:cNvSpPr>
            <a:spLocks xmlns:a="http://schemas.openxmlformats.org/drawingml/2006/main" noGrp="1"/>
          </p:cNvSpPr>
          <p:nvPr/>
        </p:nvSpPr>
        <p:spPr>
          <a:xfrm xmlns:a="http://schemas.openxmlformats.org/drawingml/2006/main">
            <a:off x="552450" y="72390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B39"/>
                </a:solidFill>
                <a:latin typeface="Georgia"/>
                <a:ea typeface="Georgia"/>
                <a:cs typeface="Georgia"/>
              </a:defRPr>
            </a:defPPr>
          </a:lstStyle>
          <a:p xmlns:a="http://schemas.openxmlformats.org/drawingml/2006/main">
            <a:pPr algn="l">
              <a:defRPr sz="2850" b="1" i="0">
                <a:solidFill>
                  <a:srgbClr val="102B39"/>
                </a:solidFill>
                <a:latin typeface="Georgia"/>
                <a:ea typeface="Georgia"/>
                <a:cs typeface="Georgia"/>
              </a:defRPr>
            </a:pPr>
            <a:r>
              <a:rPr sz="2850" b="1" i="0">
                <a:solidFill>
                  <a:srgbClr val="102B39"/>
                </a:solidFill>
                <a:latin typeface="Georgia"/>
                <a:ea typeface="Georgia"/>
                <a:cs typeface="Georgia"/>
              </a:rPr>
              <a:t>Two physical layers, one simple objective</a:t>
            </a:r>
          </a:p>
        </p:txBody>
      </p:sp>
      <p:sp>
        <p:nvSpPr>
          <p:cNvPr id="3" name="">
            <a:extLst xmlns:a="http://schemas.openxmlformats.org/drawingml/2006/main">
              <a:ext uri="{FF2B5EF4-FFF2-40B4-BE49-F238E27FC236}">
                <a16:creationId xmlns:a16="http://schemas.microsoft.com/office/drawing/2014/main" id="{37B3FDAE-3D16-4768-934B-6BB0EB08FD5C}"/>
              </a:ext>
            </a:extLst>
          </p:cNvPr>
          <p:cNvSpPr>
            <a:spLocks xmlns:a="http://schemas.openxmlformats.org/drawingml/2006/main" noGrp="1"/>
          </p:cNvSpPr>
          <p:nvPr/>
        </p:nvSpPr>
        <p:spPr>
          <a:xfrm xmlns:a="http://schemas.openxmlformats.org/drawingml/2006/main">
            <a:off x="571500" y="13049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66B72"/>
                </a:solidFill>
                <a:latin typeface="Aptos"/>
                <a:ea typeface="Aptos"/>
                <a:cs typeface="Aptos"/>
              </a:defRPr>
            </a:defPPr>
          </a:lstStyle>
          <a:p xmlns:a="http://schemas.openxmlformats.org/drawingml/2006/main">
            <a:pPr algn="l">
              <a:defRPr sz="1425" b="0" i="0">
                <a:solidFill>
                  <a:srgbClr val="566B72"/>
                </a:solidFill>
                <a:latin typeface="Aptos"/>
                <a:ea typeface="Aptos"/>
                <a:cs typeface="Aptos"/>
              </a:defRPr>
            </a:pPr>
            <a:r>
              <a:rPr sz="1425" b="0" i="0">
                <a:solidFill>
                  <a:srgbClr val="566B72"/>
                </a:solidFill>
                <a:latin typeface="Aptos"/>
                <a:ea typeface="Aptos"/>
                <a:cs typeface="Aptos"/>
              </a:rPr>
              <a:t>Respond after the existing bloom alert—guide, collect gently, and keep the intake screens as backup.</a:t>
            </a:r>
          </a:p>
        </p:txBody>
      </p:sp>
      <p:sp>
        <p:nvSpPr>
          <p:cNvPr id="4" name="">
            <a:extLst xmlns:a="http://schemas.openxmlformats.org/drawingml/2006/main">
              <a:ext uri="{FF2B5EF4-FFF2-40B4-BE49-F238E27FC236}">
                <a16:creationId xmlns:a16="http://schemas.microsoft.com/office/drawing/2014/main" id="{408AA919-DAB0-4DC5-BBCC-9FC8516E10F5}"/>
              </a:ext>
            </a:extLst>
          </p:cNvPr>
          <p:cNvSpPr>
            <a:spLocks xmlns:a="http://schemas.openxmlformats.org/drawingml/2006/main" noGrp="1"/>
          </p:cNvSpPr>
          <p:nvPr/>
        </p:nvSpPr>
        <p:spPr>
          <a:xfrm xmlns:a="http://schemas.openxmlformats.org/drawingml/2006/main">
            <a:off x="619125" y="2028825"/>
            <a:ext cx="4000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850" b="1" i="0">
                <a:solidFill>
                  <a:srgbClr val="087E83"/>
                </a:solidFill>
                <a:latin typeface="Georgia"/>
                <a:ea typeface="Georgia"/>
                <a:cs typeface="Georgia"/>
              </a:defRPr>
            </a:defPPr>
          </a:lstStyle>
          <a:p xmlns:a="http://schemas.openxmlformats.org/drawingml/2006/main">
            <a:pPr algn="l">
              <a:defRPr sz="5850" b="1" i="0">
                <a:solidFill>
                  <a:srgbClr val="087E83"/>
                </a:solidFill>
                <a:latin typeface="Georgia"/>
                <a:ea typeface="Georgia"/>
                <a:cs typeface="Georgia"/>
              </a:defRPr>
            </a:pPr>
            <a:r>
              <a:rPr sz="5850" b="1" i="0">
                <a:solidFill>
                  <a:srgbClr val="087E83"/>
                </a:solidFill>
                <a:latin typeface="Georgia"/>
                <a:ea typeface="Georgia"/>
                <a:cs typeface="Georgia"/>
              </a:rPr>
              <a:t>97.5%</a:t>
            </a:r>
          </a:p>
        </p:txBody>
      </p:sp>
      <p:sp>
        <p:nvSpPr>
          <p:cNvPr id="5" name="">
            <a:extLst xmlns:a="http://schemas.openxmlformats.org/drawingml/2006/main">
              <a:ext uri="{FF2B5EF4-FFF2-40B4-BE49-F238E27FC236}">
                <a16:creationId xmlns:a16="http://schemas.microsoft.com/office/drawing/2014/main" id="{8BD80276-C827-4FE4-BBED-837593E2C366}"/>
              </a:ext>
            </a:extLst>
          </p:cNvPr>
          <p:cNvSpPr>
            <a:spLocks xmlns:a="http://schemas.openxmlformats.org/drawingml/2006/main" noGrp="1"/>
          </p:cNvSpPr>
          <p:nvPr/>
        </p:nvSpPr>
        <p:spPr>
          <a:xfrm xmlns:a="http://schemas.openxmlformats.org/drawingml/2006/main">
            <a:off x="666750" y="3000375"/>
            <a:ext cx="3714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91"/>
          </a:bodyPr>
          <a:lstStyle xmlns:a="http://schemas.openxmlformats.org/drawingml/2006/main">
            <a:defPPr algn="l">
              <a:defRPr sz="1725" b="1" i="0">
                <a:solidFill>
                  <a:srgbClr val="102B39"/>
                </a:solidFill>
                <a:latin typeface="Aptos"/>
                <a:ea typeface="Aptos"/>
                <a:cs typeface="Aptos"/>
              </a:defRPr>
            </a:defPPr>
          </a:lstStyle>
          <a:p xmlns:a="http://schemas.openxmlformats.org/drawingml/2006/main">
            <a:pPr algn="l">
              <a:defRPr sz="1725" b="1" i="0">
                <a:solidFill>
                  <a:srgbClr val="102B39"/>
                </a:solidFill>
                <a:latin typeface="Aptos"/>
                <a:ea typeface="Aptos"/>
                <a:cs typeface="Aptos"/>
              </a:defRPr>
            </a:pPr>
            <a:r>
              <a:rPr sz="1725" b="1" i="0">
                <a:solidFill>
                  <a:srgbClr val="102B39"/>
                </a:solidFill>
                <a:latin typeface="Aptos"/>
                <a:ea typeface="Aptos"/>
                <a:cs typeface="Aptos"/>
              </a:rPr>
              <a:t>delivered to a hypothetical supervised receiver</a:t>
            </a:r>
          </a:p>
        </p:txBody>
      </p:sp>
      <p:sp>
        <p:nvSpPr>
          <p:cNvPr id="6" name="">
            <a:extLst xmlns:a="http://schemas.openxmlformats.org/drawingml/2006/main">
              <a:ext uri="{FF2B5EF4-FFF2-40B4-BE49-F238E27FC236}">
                <a16:creationId xmlns:a16="http://schemas.microsoft.com/office/drawing/2014/main" id="{661BE7FA-254A-428A-9201-83A3B57F0170}"/>
              </a:ext>
            </a:extLst>
          </p:cNvPr>
          <p:cNvSpPr>
            <a:spLocks xmlns:a="http://schemas.openxmlformats.org/drawingml/2006/main" noGrp="1"/>
          </p:cNvSpPr>
          <p:nvPr/>
        </p:nvSpPr>
        <p:spPr>
          <a:xfrm xmlns:a="http://schemas.openxmlformats.org/drawingml/2006/main">
            <a:off x="666750" y="3562350"/>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66B72"/>
                </a:solidFill>
                <a:latin typeface="Aptos"/>
                <a:ea typeface="Aptos"/>
                <a:cs typeface="Aptos"/>
              </a:defRPr>
            </a:defPPr>
          </a:lstStyle>
          <a:p xmlns:a="http://schemas.openxmlformats.org/drawingml/2006/main">
            <a:pPr algn="l">
              <a:defRPr sz="1275" b="0" i="0">
                <a:solidFill>
                  <a:srgbClr val="566B72"/>
                </a:solidFill>
                <a:latin typeface="Aptos"/>
                <a:ea typeface="Aptos"/>
                <a:cs typeface="Aptos"/>
              </a:defRPr>
            </a:pPr>
            <a:r>
              <a:rPr sz="1275" b="0" i="0">
                <a:solidFill>
                  <a:srgbClr val="566B72"/>
                </a:solidFill>
                <a:latin typeface="Aptos"/>
                <a:ea typeface="Aptos"/>
                <a:cs typeface="Aptos"/>
              </a:rPr>
              <a:t>2.5% remained uncaptured in the v4 reference run.</a:t>
            </a:r>
          </a:p>
        </p:txBody>
      </p:sp>
      <p:sp>
        <p:nvSpPr>
          <p:cNvPr id="7" name="">
            <a:extLst xmlns:a="http://schemas.openxmlformats.org/drawingml/2006/main">
              <a:ext uri="{FF2B5EF4-FFF2-40B4-BE49-F238E27FC236}">
                <a16:creationId xmlns:a16="http://schemas.microsoft.com/office/drawing/2014/main" id="{9A72BB15-96B7-4FFA-A632-6E0991879489}"/>
              </a:ext>
            </a:extLst>
          </p:cNvPr>
          <p:cNvSpPr>
            <a:spLocks xmlns:a="http://schemas.openxmlformats.org/drawingml/2006/main" noGrp="1"/>
          </p:cNvSpPr>
          <p:nvPr/>
        </p:nvSpPr>
        <p:spPr>
          <a:xfrm xmlns:a="http://schemas.openxmlformats.org/drawingml/2006/main">
            <a:off x="666750" y="4038600"/>
            <a:ext cx="3695700" cy="704850"/>
          </a:xfrm>
          <a:prstGeom xmlns:a="http://schemas.openxmlformats.org/drawingml/2006/main" prst="rect">
            <a:avLst/>
          </a:prstGeom>
          <a:solidFill xmlns:a="http://schemas.openxmlformats.org/drawingml/2006/main">
            <a:srgbClr val="08233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ABD439-57ED-49C4-8789-7FA00AE7156E}"/>
              </a:ext>
            </a:extLst>
          </p:cNvPr>
          <p:cNvSpPr>
            <a:spLocks xmlns:a="http://schemas.openxmlformats.org/drawingml/2006/main" noGrp="1"/>
          </p:cNvSpPr>
          <p:nvPr/>
        </p:nvSpPr>
        <p:spPr>
          <a:xfrm xmlns:a="http://schemas.openxmlformats.org/drawingml/2006/main">
            <a:off x="857250" y="41719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8C7BE"/>
                </a:solidFill>
                <a:latin typeface="Aptos"/>
                <a:ea typeface="Aptos"/>
                <a:cs typeface="Aptos"/>
              </a:defRPr>
            </a:defPPr>
          </a:lstStyle>
          <a:p xmlns:a="http://schemas.openxmlformats.org/drawingml/2006/main">
            <a:pPr algn="l">
              <a:defRPr sz="900" b="1" i="0">
                <a:solidFill>
                  <a:srgbClr val="58C7BE"/>
                </a:solidFill>
                <a:latin typeface="Aptos"/>
                <a:ea typeface="Aptos"/>
                <a:cs typeface="Aptos"/>
              </a:defRPr>
            </a:pPr>
            <a:r>
              <a:rPr sz="900" b="1" i="0">
                <a:solidFill>
                  <a:srgbClr val="58C7BE"/>
                </a:solidFill>
                <a:latin typeface="Aptos"/>
                <a:ea typeface="Aptos"/>
                <a:cs typeface="Aptos"/>
              </a:rPr>
              <a:t>SCREENING RESULT</a:t>
            </a:r>
          </a:p>
        </p:txBody>
      </p:sp>
      <p:sp>
        <p:nvSpPr>
          <p:cNvPr id="9" name="">
            <a:extLst xmlns:a="http://schemas.openxmlformats.org/drawingml/2006/main">
              <a:ext uri="{FF2B5EF4-FFF2-40B4-BE49-F238E27FC236}">
                <a16:creationId xmlns:a16="http://schemas.microsoft.com/office/drawing/2014/main" id="{1295FD17-DCCC-45A3-B34D-F9D1FA8B1453}"/>
              </a:ext>
            </a:extLst>
          </p:cNvPr>
          <p:cNvSpPr>
            <a:spLocks xmlns:a="http://schemas.openxmlformats.org/drawingml/2006/main" noGrp="1"/>
          </p:cNvSpPr>
          <p:nvPr/>
        </p:nvSpPr>
        <p:spPr>
          <a:xfrm xmlns:a="http://schemas.openxmlformats.org/drawingml/2006/main">
            <a:off x="857250" y="4381500"/>
            <a:ext cx="3267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defPPr algn="l">
              <a:defRPr sz="1200" b="1" i="0">
                <a:solidFill>
                  <a:srgbClr val="FFFFFF"/>
                </a:solidFill>
                <a:latin typeface="Aptos"/>
                <a:ea typeface="Aptos"/>
                <a:cs typeface="Aptos"/>
              </a:defRPr>
            </a:defPPr>
          </a:lstStyle>
          <a:p xmlns:a="http://schemas.openxmlformats.org/drawingml/2006/main">
            <a:pPr algn="l">
              <a:defRPr sz="1200" b="1" i="0">
                <a:solidFill>
                  <a:srgbClr val="FFFFFF"/>
                </a:solidFill>
                <a:latin typeface="Aptos"/>
                <a:ea typeface="Aptos"/>
                <a:cs typeface="Aptos"/>
              </a:defRPr>
            </a:pPr>
            <a:r>
              <a:rPr sz="1200" b="1" i="0">
                <a:solidFill>
                  <a:srgbClr val="FFFFFF"/>
                </a:solidFill>
                <a:latin typeface="Aptos"/>
                <a:ea typeface="Aptos"/>
                <a:cs typeface="Aptos"/>
              </a:rPr>
              <a:t>A model outcome under stated assumptions—not a field catch-rate claim.</a:t>
            </a:r>
          </a:p>
        </p:txBody>
      </p:sp>
      <p:sp>
        <p:nvSpPr>
          <p:cNvPr id="10" name="">
            <a:extLst xmlns:a="http://schemas.openxmlformats.org/drawingml/2006/main">
              <a:ext uri="{FF2B5EF4-FFF2-40B4-BE49-F238E27FC236}">
                <a16:creationId xmlns:a16="http://schemas.microsoft.com/office/drawing/2014/main" id="{C70EB7E1-5CF4-410D-8BFC-A6FE7641E286}"/>
              </a:ext>
            </a:extLst>
          </p:cNvPr>
          <p:cNvSpPr>
            <a:spLocks xmlns:a="http://schemas.openxmlformats.org/drawingml/2006/main" noGrp="1"/>
          </p:cNvSpPr>
          <p:nvPr/>
        </p:nvSpPr>
        <p:spPr>
          <a:xfrm xmlns:a="http://schemas.openxmlformats.org/drawingml/2006/main">
            <a:off x="5238750" y="216217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EA705E"/>
                </a:solidFill>
                <a:latin typeface="Aptos"/>
                <a:ea typeface="Aptos"/>
                <a:cs typeface="Aptos"/>
              </a:defRPr>
            </a:defPPr>
          </a:lstStyle>
          <a:p xmlns:a="http://schemas.openxmlformats.org/drawingml/2006/main">
            <a:pPr algn="l">
              <a:defRPr sz="1500" b="1" i="0">
                <a:solidFill>
                  <a:srgbClr val="EA705E"/>
                </a:solidFill>
                <a:latin typeface="Aptos"/>
                <a:ea typeface="Aptos"/>
                <a:cs typeface="Aptos"/>
              </a:defRPr>
            </a:pPr>
            <a:r>
              <a:rPr sz="1500" b="1" i="0">
                <a:solidFill>
                  <a:srgbClr val="EA705E"/>
                </a:solidFill>
                <a:latin typeface="Aptos"/>
                <a:ea typeface="Aptos"/>
                <a:cs typeface="Aptos"/>
              </a:rPr>
              <a:t>01</a:t>
            </a:r>
          </a:p>
        </p:txBody>
      </p:sp>
      <p:sp>
        <p:nvSpPr>
          <p:cNvPr id="11" name="">
            <a:extLst xmlns:a="http://schemas.openxmlformats.org/drawingml/2006/main">
              <a:ext uri="{FF2B5EF4-FFF2-40B4-BE49-F238E27FC236}">
                <a16:creationId xmlns:a16="http://schemas.microsoft.com/office/drawing/2014/main" id="{45EAE34B-79D5-4669-8B93-649F70A41341}"/>
              </a:ext>
            </a:extLst>
          </p:cNvPr>
          <p:cNvSpPr>
            <a:spLocks xmlns:a="http://schemas.openxmlformats.org/drawingml/2006/main" noGrp="1"/>
          </p:cNvSpPr>
          <p:nvPr/>
        </p:nvSpPr>
        <p:spPr>
          <a:xfrm xmlns:a="http://schemas.openxmlformats.org/drawingml/2006/main">
            <a:off x="5886450" y="2143125"/>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02B39"/>
                </a:solidFill>
                <a:latin typeface="Georgia"/>
                <a:ea typeface="Georgia"/>
                <a:cs typeface="Georgia"/>
              </a:defRPr>
            </a:defPPr>
          </a:lstStyle>
          <a:p xmlns:a="http://schemas.openxmlformats.org/drawingml/2006/main">
            <a:pPr algn="l">
              <a:defRPr sz="1800" b="1" i="0">
                <a:solidFill>
                  <a:srgbClr val="102B39"/>
                </a:solidFill>
                <a:latin typeface="Georgia"/>
                <a:ea typeface="Georgia"/>
                <a:cs typeface="Georgia"/>
              </a:defRPr>
            </a:pPr>
            <a:r>
              <a:rPr sz="1800" b="1" i="0">
                <a:solidFill>
                  <a:srgbClr val="102B39"/>
                </a:solidFill>
                <a:latin typeface="Georgia"/>
                <a:ea typeface="Georgia"/>
                <a:cs typeface="Georgia"/>
              </a:rPr>
              <a:t>Outer guide</a:t>
            </a:r>
          </a:p>
        </p:txBody>
      </p:sp>
      <p:sp>
        <p:nvSpPr>
          <p:cNvPr id="12" name="">
            <a:extLst xmlns:a="http://schemas.openxmlformats.org/drawingml/2006/main">
              <a:ext uri="{FF2B5EF4-FFF2-40B4-BE49-F238E27FC236}">
                <a16:creationId xmlns:a16="http://schemas.microsoft.com/office/drawing/2014/main" id="{A65DDFEE-F4E3-4576-8F4D-5F3E49A6F74A}"/>
              </a:ext>
            </a:extLst>
          </p:cNvPr>
          <p:cNvSpPr>
            <a:spLocks xmlns:a="http://schemas.openxmlformats.org/drawingml/2006/main" noGrp="1"/>
          </p:cNvSpPr>
          <p:nvPr/>
        </p:nvSpPr>
        <p:spPr>
          <a:xfrm xmlns:a="http://schemas.openxmlformats.org/drawingml/2006/main">
            <a:off x="5886450" y="250507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566B72"/>
                </a:solidFill>
                <a:latin typeface="Aptos"/>
                <a:ea typeface="Aptos"/>
                <a:cs typeface="Aptos"/>
              </a:defRPr>
            </a:defPPr>
          </a:lstStyle>
          <a:p xmlns:a="http://schemas.openxmlformats.org/drawingml/2006/main">
            <a:pPr algn="l">
              <a:defRPr sz="1350" b="0" i="0">
                <a:solidFill>
                  <a:srgbClr val="566B72"/>
                </a:solidFill>
                <a:latin typeface="Aptos"/>
                <a:ea typeface="Aptos"/>
                <a:cs typeface="Aptos"/>
              </a:defRPr>
            </a:pPr>
            <a:r>
              <a:rPr sz="1350" b="0" i="0">
                <a:solidFill>
                  <a:srgbClr val="566B72"/>
                </a:solidFill>
                <a:latin typeface="Aptos"/>
                <a:ea typeface="Aptos"/>
                <a:cs typeface="Aptos"/>
              </a:rPr>
              <a:t>Primary interception; guided conveyance to a wet receiver.</a:t>
            </a:r>
          </a:p>
        </p:txBody>
      </p:sp>
      <p:sp>
        <p:nvSpPr>
          <p:cNvPr id="13" name="">
            <a:extLst xmlns:a="http://schemas.openxmlformats.org/drawingml/2006/main">
              <a:ext uri="{FF2B5EF4-FFF2-40B4-BE49-F238E27FC236}">
                <a16:creationId xmlns:a16="http://schemas.microsoft.com/office/drawing/2014/main" id="{153BE714-E6E1-4A32-A2EA-8B42E50965A8}"/>
              </a:ext>
            </a:extLst>
          </p:cNvPr>
          <p:cNvSpPr>
            <a:spLocks xmlns:a="http://schemas.openxmlformats.org/drawingml/2006/main" noGrp="1"/>
          </p:cNvSpPr>
          <p:nvPr/>
        </p:nvSpPr>
        <p:spPr>
          <a:xfrm xmlns:a="http://schemas.openxmlformats.org/drawingml/2006/main">
            <a:off x="5238750" y="3019425"/>
            <a:ext cx="607695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9FEFF7-7407-465F-AC6A-A8909FAA0D75}"/>
              </a:ext>
            </a:extLst>
          </p:cNvPr>
          <p:cNvSpPr>
            <a:spLocks xmlns:a="http://schemas.openxmlformats.org/drawingml/2006/main" noGrp="1"/>
          </p:cNvSpPr>
          <p:nvPr/>
        </p:nvSpPr>
        <p:spPr>
          <a:xfrm xmlns:a="http://schemas.openxmlformats.org/drawingml/2006/main">
            <a:off x="5238750" y="326707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EA705E"/>
                </a:solidFill>
                <a:latin typeface="Aptos"/>
                <a:ea typeface="Aptos"/>
                <a:cs typeface="Aptos"/>
              </a:defRPr>
            </a:defPPr>
          </a:lstStyle>
          <a:p xmlns:a="http://schemas.openxmlformats.org/drawingml/2006/main">
            <a:pPr algn="l">
              <a:defRPr sz="1500" b="1" i="0">
                <a:solidFill>
                  <a:srgbClr val="EA705E"/>
                </a:solidFill>
                <a:latin typeface="Aptos"/>
                <a:ea typeface="Aptos"/>
                <a:cs typeface="Aptos"/>
              </a:defRPr>
            </a:pPr>
            <a:r>
              <a:rPr sz="1500" b="1" i="0">
                <a:solidFill>
                  <a:srgbClr val="EA705E"/>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FE67206A-CF23-4E16-AD5D-0A5D525DB33A}"/>
              </a:ext>
            </a:extLst>
          </p:cNvPr>
          <p:cNvSpPr>
            <a:spLocks xmlns:a="http://schemas.openxmlformats.org/drawingml/2006/main" noGrp="1"/>
          </p:cNvSpPr>
          <p:nvPr/>
        </p:nvSpPr>
        <p:spPr>
          <a:xfrm xmlns:a="http://schemas.openxmlformats.org/drawingml/2006/main">
            <a:off x="5886450" y="3248025"/>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02B39"/>
                </a:solidFill>
                <a:latin typeface="Georgia"/>
                <a:ea typeface="Georgia"/>
                <a:cs typeface="Georgia"/>
              </a:defRPr>
            </a:defPPr>
          </a:lstStyle>
          <a:p xmlns:a="http://schemas.openxmlformats.org/drawingml/2006/main">
            <a:pPr algn="l">
              <a:defRPr sz="1800" b="1" i="0">
                <a:solidFill>
                  <a:srgbClr val="102B39"/>
                </a:solidFill>
                <a:latin typeface="Georgia"/>
                <a:ea typeface="Georgia"/>
                <a:cs typeface="Georgia"/>
              </a:defRPr>
            </a:pPr>
            <a:r>
              <a:rPr sz="1800" b="1" i="0">
                <a:solidFill>
                  <a:srgbClr val="102B39"/>
                </a:solidFill>
                <a:latin typeface="Georgia"/>
                <a:ea typeface="Georgia"/>
                <a:cs typeface="Georgia"/>
              </a:rPr>
              <a:t>Second guide</a:t>
            </a:r>
          </a:p>
        </p:txBody>
      </p:sp>
      <p:sp>
        <p:nvSpPr>
          <p:cNvPr id="16" name="">
            <a:extLst xmlns:a="http://schemas.openxmlformats.org/drawingml/2006/main">
              <a:ext uri="{FF2B5EF4-FFF2-40B4-BE49-F238E27FC236}">
                <a16:creationId xmlns:a16="http://schemas.microsoft.com/office/drawing/2014/main" id="{8AFFB8EA-60C7-492F-BD72-F02338DD8884}"/>
              </a:ext>
            </a:extLst>
          </p:cNvPr>
          <p:cNvSpPr>
            <a:spLocks xmlns:a="http://schemas.openxmlformats.org/drawingml/2006/main" noGrp="1"/>
          </p:cNvSpPr>
          <p:nvPr/>
        </p:nvSpPr>
        <p:spPr>
          <a:xfrm xmlns:a="http://schemas.openxmlformats.org/drawingml/2006/main">
            <a:off x="5886450" y="360997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566B72"/>
                </a:solidFill>
                <a:latin typeface="Aptos"/>
                <a:ea typeface="Aptos"/>
                <a:cs typeface="Aptos"/>
              </a:defRPr>
            </a:defPPr>
          </a:lstStyle>
          <a:p xmlns:a="http://schemas.openxmlformats.org/drawingml/2006/main">
            <a:pPr algn="l">
              <a:defRPr sz="1350" b="0" i="0">
                <a:solidFill>
                  <a:srgbClr val="566B72"/>
                </a:solidFill>
                <a:latin typeface="Aptos"/>
                <a:ea typeface="Aptos"/>
                <a:cs typeface="Aptos"/>
              </a:defRPr>
            </a:pPr>
            <a:r>
              <a:rPr sz="1350" b="0" i="0">
                <a:solidFill>
                  <a:srgbClr val="566B72"/>
                </a:solidFill>
                <a:latin typeface="Aptos"/>
                <a:ea typeface="Aptos"/>
                <a:cs typeface="Aptos"/>
              </a:rPr>
              <a:t>Independent reserve line for bloom that passes the first.</a:t>
            </a:r>
          </a:p>
        </p:txBody>
      </p:sp>
      <p:sp>
        <p:nvSpPr>
          <p:cNvPr id="17" name="">
            <a:extLst xmlns:a="http://schemas.openxmlformats.org/drawingml/2006/main">
              <a:ext uri="{FF2B5EF4-FFF2-40B4-BE49-F238E27FC236}">
                <a16:creationId xmlns:a16="http://schemas.microsoft.com/office/drawing/2014/main" id="{A2D05787-3209-4AD5-BF52-83997CC1E5C5}"/>
              </a:ext>
            </a:extLst>
          </p:cNvPr>
          <p:cNvSpPr>
            <a:spLocks xmlns:a="http://schemas.openxmlformats.org/drawingml/2006/main" noGrp="1"/>
          </p:cNvSpPr>
          <p:nvPr/>
        </p:nvSpPr>
        <p:spPr>
          <a:xfrm xmlns:a="http://schemas.openxmlformats.org/drawingml/2006/main">
            <a:off x="5238750" y="4124325"/>
            <a:ext cx="607695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4E6A063-9E17-485D-B277-0DE7AD8663C7}"/>
              </a:ext>
            </a:extLst>
          </p:cNvPr>
          <p:cNvSpPr>
            <a:spLocks xmlns:a="http://schemas.openxmlformats.org/drawingml/2006/main" noGrp="1"/>
          </p:cNvSpPr>
          <p:nvPr/>
        </p:nvSpPr>
        <p:spPr>
          <a:xfrm xmlns:a="http://schemas.openxmlformats.org/drawingml/2006/main">
            <a:off x="5238750" y="437197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EA705E"/>
                </a:solidFill>
                <a:latin typeface="Aptos"/>
                <a:ea typeface="Aptos"/>
                <a:cs typeface="Aptos"/>
              </a:defRPr>
            </a:defPPr>
          </a:lstStyle>
          <a:p xmlns:a="http://schemas.openxmlformats.org/drawingml/2006/main">
            <a:pPr algn="l">
              <a:defRPr sz="1500" b="1" i="0">
                <a:solidFill>
                  <a:srgbClr val="EA705E"/>
                </a:solidFill>
                <a:latin typeface="Aptos"/>
                <a:ea typeface="Aptos"/>
                <a:cs typeface="Aptos"/>
              </a:defRPr>
            </a:pPr>
            <a:r>
              <a:rPr sz="1500" b="1" i="0">
                <a:solidFill>
                  <a:srgbClr val="EA705E"/>
                </a:solidFill>
                <a:latin typeface="Aptos"/>
                <a:ea typeface="Aptos"/>
                <a:cs typeface="Aptos"/>
              </a:rPr>
              <a:t>03</a:t>
            </a:r>
          </a:p>
        </p:txBody>
      </p:sp>
      <p:sp>
        <p:nvSpPr>
          <p:cNvPr id="19" name="">
            <a:extLst xmlns:a="http://schemas.openxmlformats.org/drawingml/2006/main">
              <a:ext uri="{FF2B5EF4-FFF2-40B4-BE49-F238E27FC236}">
                <a16:creationId xmlns:a16="http://schemas.microsoft.com/office/drawing/2014/main" id="{B25371A6-DE64-473B-933A-070429519611}"/>
              </a:ext>
            </a:extLst>
          </p:cNvPr>
          <p:cNvSpPr>
            <a:spLocks xmlns:a="http://schemas.openxmlformats.org/drawingml/2006/main" noGrp="1"/>
          </p:cNvSpPr>
          <p:nvPr/>
        </p:nvSpPr>
        <p:spPr>
          <a:xfrm xmlns:a="http://schemas.openxmlformats.org/drawingml/2006/main">
            <a:off x="5886450" y="4352925"/>
            <a:ext cx="542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i="0">
                <a:solidFill>
                  <a:srgbClr val="102B39"/>
                </a:solidFill>
                <a:latin typeface="Georgia"/>
                <a:ea typeface="Georgia"/>
                <a:cs typeface="Georgia"/>
              </a:defRPr>
            </a:defPPr>
          </a:lstStyle>
          <a:p xmlns:a="http://schemas.openxmlformats.org/drawingml/2006/main">
            <a:pPr algn="l">
              <a:defRPr sz="1800" b="1" i="0">
                <a:solidFill>
                  <a:srgbClr val="102B39"/>
                </a:solidFill>
                <a:latin typeface="Georgia"/>
                <a:ea typeface="Georgia"/>
                <a:cs typeface="Georgia"/>
              </a:defRPr>
            </a:pPr>
            <a:r>
              <a:rPr sz="1800" b="1" i="0">
                <a:solidFill>
                  <a:srgbClr val="102B39"/>
                </a:solidFill>
                <a:latin typeface="Georgia"/>
                <a:ea typeface="Georgia"/>
                <a:cs typeface="Georgia"/>
              </a:rPr>
              <a:t>Measured response</a:t>
            </a:r>
          </a:p>
        </p:txBody>
      </p:sp>
      <p:sp>
        <p:nvSpPr>
          <p:cNvPr id="20" name="">
            <a:extLst xmlns:a="http://schemas.openxmlformats.org/drawingml/2006/main">
              <a:ext uri="{FF2B5EF4-FFF2-40B4-BE49-F238E27FC236}">
                <a16:creationId xmlns:a16="http://schemas.microsoft.com/office/drawing/2014/main" id="{6788C86F-159B-4D5B-83F8-00B28F107AA3}"/>
              </a:ext>
            </a:extLst>
          </p:cNvPr>
          <p:cNvSpPr>
            <a:spLocks xmlns:a="http://schemas.openxmlformats.org/drawingml/2006/main" noGrp="1"/>
          </p:cNvSpPr>
          <p:nvPr/>
        </p:nvSpPr>
        <p:spPr>
          <a:xfrm xmlns:a="http://schemas.openxmlformats.org/drawingml/2006/main">
            <a:off x="5886450" y="471487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566B72"/>
                </a:solidFill>
                <a:latin typeface="Aptos"/>
                <a:ea typeface="Aptos"/>
                <a:cs typeface="Aptos"/>
              </a:defRPr>
            </a:defPPr>
          </a:lstStyle>
          <a:p xmlns:a="http://schemas.openxmlformats.org/drawingml/2006/main">
            <a:pPr algn="l">
              <a:defRPr sz="1350" b="0" i="0">
                <a:solidFill>
                  <a:srgbClr val="566B72"/>
                </a:solidFill>
                <a:latin typeface="Aptos"/>
                <a:ea typeface="Aptos"/>
                <a:cs typeface="Aptos"/>
              </a:defRPr>
            </a:pPr>
            <a:r>
              <a:rPr sz="1350" b="0" i="0">
                <a:solidFill>
                  <a:srgbClr val="566B72"/>
                </a:solidFill>
                <a:latin typeface="Aptos"/>
                <a:ea typeface="Aptos"/>
                <a:cs typeface="Aptos"/>
              </a:rPr>
              <a:t>Operate after the ENEC alert; local interlocks bound automation.</a:t>
            </a:r>
          </a:p>
        </p:txBody>
      </p:sp>
      <p:sp>
        <p:nvSpPr>
          <p:cNvPr id="21" name="">
            <a:extLst xmlns:a="http://schemas.openxmlformats.org/drawingml/2006/main">
              <a:ext uri="{FF2B5EF4-FFF2-40B4-BE49-F238E27FC236}">
                <a16:creationId xmlns:a16="http://schemas.microsoft.com/office/drawing/2014/main" id="{8DB116E4-5276-4AD2-89D3-39F69FB5735D}"/>
              </a:ext>
            </a:extLst>
          </p:cNvPr>
          <p:cNvSpPr>
            <a:spLocks xmlns:a="http://schemas.openxmlformats.org/drawingml/2006/main" noGrp="1"/>
          </p:cNvSpPr>
          <p:nvPr/>
        </p:nvSpPr>
        <p:spPr>
          <a:xfrm xmlns:a="http://schemas.openxmlformats.org/drawingml/2006/main">
            <a:off x="5238750" y="5229225"/>
            <a:ext cx="607695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A56A687-C748-49D9-A6EE-259D2878CEBA}"/>
              </a:ext>
            </a:extLst>
          </p:cNvPr>
          <p:cNvSpPr>
            <a:spLocks xmlns:a="http://schemas.openxmlformats.org/drawingml/2006/main" noGrp="1"/>
          </p:cNvSpPr>
          <p:nvPr/>
        </p:nvSpPr>
        <p:spPr>
          <a:xfrm xmlns:a="http://schemas.openxmlformats.org/drawingml/2006/main">
            <a:off x="666750" y="5191125"/>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66B72"/>
                </a:solidFill>
                <a:latin typeface="Aptos"/>
                <a:ea typeface="Aptos"/>
                <a:cs typeface="Aptos"/>
              </a:defRPr>
            </a:defPPr>
          </a:lstStyle>
          <a:p xmlns:a="http://schemas.openxmlformats.org/drawingml/2006/main">
            <a:pPr algn="l">
              <a:defRPr sz="1200" b="1" i="0">
                <a:solidFill>
                  <a:srgbClr val="566B72"/>
                </a:solidFill>
                <a:latin typeface="Aptos"/>
                <a:ea typeface="Aptos"/>
                <a:cs typeface="Aptos"/>
              </a:defRPr>
            </a:pPr>
            <a:r>
              <a:rPr sz="1200" b="1" i="0">
                <a:solidFill>
                  <a:srgbClr val="566B72"/>
                </a:solidFill>
                <a:latin typeface="Aptos"/>
                <a:ea typeface="Aptos"/>
                <a:cs typeface="Aptos"/>
              </a:rPr>
              <a:t>TEAM   Bashger Aljneibi  ·  Keyal Doshi  ·  Abdul Fattah Mohammed  ·  Abdul Bari Mohammed</a:t>
            </a:r>
          </a:p>
        </p:txBody>
      </p:sp>
      <p:sp>
        <p:nvSpPr>
          <p:cNvPr id="23" name="">
            <a:extLst xmlns:a="http://schemas.openxmlformats.org/drawingml/2006/main">
              <a:ext uri="{FF2B5EF4-FFF2-40B4-BE49-F238E27FC236}">
                <a16:creationId xmlns:a16="http://schemas.microsoft.com/office/drawing/2014/main" id="{ACEEB3E1-BB8E-4E52-AE38-CE12682DBD22}"/>
              </a:ext>
            </a:extLst>
          </p:cNvPr>
          <p:cNvSpPr>
            <a:spLocks xmlns:a="http://schemas.openxmlformats.org/drawingml/2006/main" noGrp="1"/>
          </p:cNvSpPr>
          <p:nvPr/>
        </p:nvSpPr>
        <p:spPr>
          <a:xfrm xmlns:a="http://schemas.openxmlformats.org/drawingml/2006/main">
            <a:off x="666750" y="5505450"/>
            <a:ext cx="1057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829296"/>
                </a:solidFill>
                <a:latin typeface="Aptos"/>
                <a:ea typeface="Aptos"/>
                <a:cs typeface="Aptos"/>
              </a:defRPr>
            </a:defPPr>
          </a:lstStyle>
          <a:p xmlns:a="http://schemas.openxmlformats.org/drawingml/2006/main">
            <a:pPr algn="l">
              <a:defRPr sz="1125" b="0" i="0">
                <a:solidFill>
                  <a:srgbClr val="829296"/>
                </a:solidFill>
                <a:latin typeface="Aptos"/>
                <a:ea typeface="Aptos"/>
                <a:cs typeface="Aptos"/>
              </a:defRPr>
            </a:pPr>
            <a:r>
              <a:rPr sz="1125" b="0" i="0">
                <a:solidFill>
                  <a:srgbClr val="829296"/>
                </a:solidFill>
                <a:latin typeface="Aptos"/>
                <a:ea typeface="Aptos"/>
                <a:cs typeface="Aptos"/>
              </a:rPr>
              <a:t>Reference run: 12 m assumed depth · 200 m corridor · 1,200 kg/h synthetic arrival · 8 h simulation.</a:t>
            </a:r>
          </a:p>
        </p:txBody>
      </p:sp>
      <p:sp>
        <p:nvSpPr>
          <p:cNvPr id="24" name="">
            <a:extLst xmlns:a="http://schemas.openxmlformats.org/drawingml/2006/main">
              <a:ext uri="{FF2B5EF4-FFF2-40B4-BE49-F238E27FC236}">
                <a16:creationId xmlns:a16="http://schemas.microsoft.com/office/drawing/2014/main" id="{C425B854-09DB-4DA4-B388-A0EF25AD65F7}"/>
              </a:ext>
            </a:extLst>
          </p:cNvPr>
          <p:cNvSpPr>
            <a:spLocks xmlns:a="http://schemas.openxmlformats.org/drawingml/2006/main" noGrp="1"/>
          </p:cNvSpPr>
          <p:nvPr/>
        </p:nvSpPr>
        <p:spPr>
          <a:xfrm xmlns:a="http://schemas.openxmlformats.org/drawingml/2006/main">
            <a:off x="552450" y="6457950"/>
            <a:ext cx="1108710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8892E4E-6330-4C68-AC55-F937091129FE}"/>
              </a:ext>
            </a:extLst>
          </p:cNvPr>
          <p:cNvSpPr>
            <a:spLocks xmlns:a="http://schemas.openxmlformats.org/drawingml/2006/main" noGrp="1"/>
          </p:cNvSpPr>
          <p:nvPr/>
        </p:nvSpPr>
        <p:spPr>
          <a:xfrm xmlns:a="http://schemas.openxmlformats.org/drawingml/2006/main">
            <a:off x="552450" y="655320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66B72"/>
                </a:solidFill>
                <a:latin typeface="Aptos"/>
                <a:ea typeface="Aptos"/>
                <a:cs typeface="Aptos"/>
              </a:defRPr>
            </a:defPPr>
          </a:lstStyle>
          <a:p xmlns:a="http://schemas.openxmlformats.org/drawingml/2006/main">
            <a:pPr algn="l">
              <a:defRPr sz="900" b="1" i="0">
                <a:solidFill>
                  <a:srgbClr val="566B72"/>
                </a:solidFill>
                <a:latin typeface="Aptos"/>
                <a:ea typeface="Aptos"/>
                <a:cs typeface="Aptos"/>
              </a:defRPr>
            </a:pPr>
            <a:r>
              <a:rPr sz="900" b="1" i="0">
                <a:solidFill>
                  <a:srgbClr val="566B72"/>
                </a:solidFill>
                <a:latin typeface="Aptos"/>
                <a:ea typeface="Aptos"/>
                <a:cs typeface="Aptos"/>
              </a:rPr>
              <a:t>MARLIN   /   ATP 2026 • ENEC CHALLENGE</a:t>
            </a:r>
          </a:p>
        </p:txBody>
      </p:sp>
      <p:sp>
        <p:nvSpPr>
          <p:cNvPr id="26" name="">
            <a:extLst xmlns:a="http://schemas.openxmlformats.org/drawingml/2006/main">
              <a:ext uri="{FF2B5EF4-FFF2-40B4-BE49-F238E27FC236}">
                <a16:creationId xmlns:a16="http://schemas.microsoft.com/office/drawing/2014/main" id="{81B8829F-F3C6-4B47-9EAA-5DCC26CE3E62}"/>
              </a:ext>
            </a:extLst>
          </p:cNvPr>
          <p:cNvSpPr>
            <a:spLocks xmlns:a="http://schemas.openxmlformats.org/drawingml/2006/main" noGrp="1"/>
          </p:cNvSpPr>
          <p:nvPr/>
        </p:nvSpPr>
        <p:spPr>
          <a:xfrm xmlns:a="http://schemas.openxmlformats.org/drawingml/2006/main">
            <a:off x="11239500" y="65341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566B72"/>
                </a:solidFill>
                <a:latin typeface="Aptos"/>
                <a:ea typeface="Aptos"/>
                <a:cs typeface="Aptos"/>
              </a:defRPr>
            </a:defPPr>
          </a:lstStyle>
          <a:p xmlns:a="http://schemas.openxmlformats.org/drawingml/2006/main">
            <a:pPr algn="r">
              <a:defRPr sz="975" b="1" i="0">
                <a:solidFill>
                  <a:srgbClr val="566B72"/>
                </a:solidFill>
                <a:latin typeface="Aptos"/>
                <a:ea typeface="Aptos"/>
                <a:cs typeface="Aptos"/>
              </a:defRPr>
            </a:pPr>
            <a:r>
              <a:rPr sz="975" b="1" i="0">
                <a:solidFill>
                  <a:srgbClr val="566B72"/>
                </a:solidFill>
                <a:latin typeface="Aptos"/>
                <a:ea typeface="Aptos"/>
                <a:cs typeface="Aptos"/>
              </a:rPr>
              <a:t>02</a:t>
            </a:r>
          </a:p>
        </p:txBody>
      </p:sp>
    </p:spTree>
    <p:extLst>
      <p:ext uri="{BB962C8B-B14F-4D97-AF65-F5344CB8AC3E}">
        <p14:creationId xmlns:p14="http://schemas.microsoft.com/office/powerpoint/2010/main" val="521020184"/>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ACE0581-4C27-4150-8008-4271ECB3D68F}"/>
              </a:ext>
            </a:extLst>
          </p:cNvPr>
          <p:cNvSpPr>
            <a:spLocks xmlns:a="http://schemas.openxmlformats.org/drawingml/2006/main" noGrp="1"/>
          </p:cNvSpPr>
          <p:nvPr/>
        </p:nvSpPr>
        <p:spPr>
          <a:xfrm xmlns:a="http://schemas.openxmlformats.org/drawingml/2006/main">
            <a:off x="552450" y="3619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02   /   CHALLENGE FRAMING</a:t>
            </a:r>
          </a:p>
        </p:txBody>
      </p:sp>
      <p:sp>
        <p:nvSpPr>
          <p:cNvPr id="2" name="">
            <a:extLst xmlns:a="http://schemas.openxmlformats.org/drawingml/2006/main">
              <a:ext uri="{FF2B5EF4-FFF2-40B4-BE49-F238E27FC236}">
                <a16:creationId xmlns:a16="http://schemas.microsoft.com/office/drawing/2014/main" id="{5A3FBCA4-5DA6-4ADF-AB44-4A6973B1C149}"/>
              </a:ext>
            </a:extLst>
          </p:cNvPr>
          <p:cNvSpPr>
            <a:spLocks xmlns:a="http://schemas.openxmlformats.org/drawingml/2006/main" noGrp="1"/>
          </p:cNvSpPr>
          <p:nvPr/>
        </p:nvSpPr>
        <p:spPr>
          <a:xfrm xmlns:a="http://schemas.openxmlformats.org/drawingml/2006/main">
            <a:off x="552450" y="72390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B39"/>
                </a:solidFill>
                <a:latin typeface="Georgia"/>
                <a:ea typeface="Georgia"/>
                <a:cs typeface="Georgia"/>
              </a:defRPr>
            </a:defPPr>
          </a:lstStyle>
          <a:p xmlns:a="http://schemas.openxmlformats.org/drawingml/2006/main">
            <a:pPr algn="l">
              <a:defRPr sz="2850" b="1" i="0">
                <a:solidFill>
                  <a:srgbClr val="102B39"/>
                </a:solidFill>
                <a:latin typeface="Georgia"/>
                <a:ea typeface="Georgia"/>
                <a:cs typeface="Georgia"/>
              </a:defRPr>
            </a:pPr>
            <a:r>
              <a:rPr sz="2850" b="1" i="0">
                <a:solidFill>
                  <a:srgbClr val="102B39"/>
                </a:solidFill>
                <a:latin typeface="Georgia"/>
                <a:ea typeface="Georgia"/>
                <a:cs typeface="Georgia"/>
              </a:rPr>
              <a:t>The hard part begins after the alert</a:t>
            </a:r>
          </a:p>
        </p:txBody>
      </p:sp>
      <p:sp>
        <p:nvSpPr>
          <p:cNvPr id="3" name="">
            <a:extLst xmlns:a="http://schemas.openxmlformats.org/drawingml/2006/main">
              <a:ext uri="{FF2B5EF4-FFF2-40B4-BE49-F238E27FC236}">
                <a16:creationId xmlns:a16="http://schemas.microsoft.com/office/drawing/2014/main" id="{0868C900-6E04-4ADF-BA02-4F1948403520}"/>
              </a:ext>
            </a:extLst>
          </p:cNvPr>
          <p:cNvSpPr>
            <a:spLocks xmlns:a="http://schemas.openxmlformats.org/drawingml/2006/main" noGrp="1"/>
          </p:cNvSpPr>
          <p:nvPr/>
        </p:nvSpPr>
        <p:spPr>
          <a:xfrm xmlns:a="http://schemas.openxmlformats.org/drawingml/2006/main">
            <a:off x="571500" y="13049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66B72"/>
                </a:solidFill>
                <a:latin typeface="Aptos"/>
                <a:ea typeface="Aptos"/>
                <a:cs typeface="Aptos"/>
              </a:defRPr>
            </a:defPPr>
          </a:lstStyle>
          <a:p xmlns:a="http://schemas.openxmlformats.org/drawingml/2006/main">
            <a:pPr algn="l">
              <a:defRPr sz="1425" b="0" i="0">
                <a:solidFill>
                  <a:srgbClr val="566B72"/>
                </a:solidFill>
                <a:latin typeface="Aptos"/>
                <a:ea typeface="Aptos"/>
                <a:cs typeface="Aptos"/>
              </a:defRPr>
            </a:pPr>
            <a:r>
              <a:rPr sz="1425" b="0" i="0">
                <a:solidFill>
                  <a:srgbClr val="566B72"/>
                </a:solidFill>
                <a:latin typeface="Aptos"/>
                <a:ea typeface="Aptos"/>
                <a:cs typeface="Aptos"/>
              </a:rPr>
              <a:t>MARLIN is a bloom-response concept, not a replacement for ENEC’s offshore warning program.</a:t>
            </a:r>
          </a:p>
        </p:txBody>
      </p:sp>
      <p:sp>
        <p:nvSpPr>
          <p:cNvPr id="4" name="">
            <a:extLst xmlns:a="http://schemas.openxmlformats.org/drawingml/2006/main">
              <a:ext uri="{FF2B5EF4-FFF2-40B4-BE49-F238E27FC236}">
                <a16:creationId xmlns:a16="http://schemas.microsoft.com/office/drawing/2014/main" id="{4B3A8161-8718-432E-8D85-7B07CAE9D7BA}"/>
              </a:ext>
            </a:extLst>
          </p:cNvPr>
          <p:cNvSpPr>
            <a:spLocks xmlns:a="http://schemas.openxmlformats.org/drawingml/2006/main" noGrp="1"/>
          </p:cNvSpPr>
          <p:nvPr/>
        </p:nvSpPr>
        <p:spPr>
          <a:xfrm xmlns:a="http://schemas.openxmlformats.org/drawingml/2006/main">
            <a:off x="609600" y="2171700"/>
            <a:ext cx="4238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81"/>
          </a:bodyPr>
          <a:lstStyle xmlns:a="http://schemas.openxmlformats.org/drawingml/2006/main">
            <a:defPPr algn="l">
              <a:defRPr sz="2625" b="1" i="0">
                <a:solidFill>
                  <a:srgbClr val="102B39"/>
                </a:solidFill>
                <a:latin typeface="Georgia"/>
                <a:ea typeface="Georgia"/>
                <a:cs typeface="Georgia"/>
              </a:defRPr>
            </a:defPPr>
          </a:lstStyle>
          <a:p xmlns:a="http://schemas.openxmlformats.org/drawingml/2006/main">
            <a:pPr algn="l">
              <a:defRPr sz="2625" b="1" i="0">
                <a:solidFill>
                  <a:srgbClr val="102B39"/>
                </a:solidFill>
                <a:latin typeface="Georgia"/>
                <a:ea typeface="Georgia"/>
                <a:cs typeface="Georgia"/>
              </a:defRPr>
            </a:pPr>
            <a:r>
              <a:rPr sz="2625" b="1" i="0">
                <a:solidFill>
                  <a:srgbClr val="102B39"/>
                </a:solidFill>
                <a:latin typeface="Georgia"/>
                <a:ea typeface="Georgia"/>
                <a:cs typeface="Georgia"/>
              </a:rPr>
              <a:t>A large bloom is a moving, high-volume load.</a:t>
            </a:r>
          </a:p>
        </p:txBody>
      </p:sp>
      <p:sp>
        <p:nvSpPr>
          <p:cNvPr id="5" name="">
            <a:extLst xmlns:a="http://schemas.openxmlformats.org/drawingml/2006/main">
              <a:ext uri="{FF2B5EF4-FFF2-40B4-BE49-F238E27FC236}">
                <a16:creationId xmlns:a16="http://schemas.microsoft.com/office/drawing/2014/main" id="{034BD156-0593-402B-853A-FD3AE5791352}"/>
              </a:ext>
            </a:extLst>
          </p:cNvPr>
          <p:cNvSpPr>
            <a:spLocks xmlns:a="http://schemas.openxmlformats.org/drawingml/2006/main" noGrp="1"/>
          </p:cNvSpPr>
          <p:nvPr/>
        </p:nvSpPr>
        <p:spPr>
          <a:xfrm xmlns:a="http://schemas.openxmlformats.org/drawingml/2006/main">
            <a:off x="628650" y="3105150"/>
            <a:ext cx="40195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66B72"/>
                </a:solidFill>
                <a:latin typeface="Aptos"/>
                <a:ea typeface="Aptos"/>
                <a:cs typeface="Aptos"/>
              </a:defRPr>
            </a:defPPr>
          </a:lstStyle>
          <a:p xmlns:a="http://schemas.openxmlformats.org/drawingml/2006/main">
            <a:pPr algn="l">
              <a:defRPr sz="1500" b="0" i="0">
                <a:solidFill>
                  <a:srgbClr val="566B72"/>
                </a:solidFill>
                <a:latin typeface="Aptos"/>
                <a:ea typeface="Aptos"/>
                <a:cs typeface="Aptos"/>
              </a:defRPr>
            </a:pPr>
            <a:r>
              <a:rPr sz="1500" b="0" i="0">
                <a:solidFill>
                  <a:srgbClr val="566B72"/>
                </a:solidFill>
                <a:latin typeface="Aptos"/>
                <a:ea typeface="Aptos"/>
                <a:cs typeface="Aptos"/>
              </a:rPr>
              <a:t>Manual clearing can require sustained field effort. Any new barrier or collector must also avoid shifting risk onto other marine life or water flow.</a:t>
            </a:r>
          </a:p>
        </p:txBody>
      </p:sp>
      <p:sp>
        <p:nvSpPr>
          <p:cNvPr id="6" name="">
            <a:extLst xmlns:a="http://schemas.openxmlformats.org/drawingml/2006/main">
              <a:ext uri="{FF2B5EF4-FFF2-40B4-BE49-F238E27FC236}">
                <a16:creationId xmlns:a16="http://schemas.microsoft.com/office/drawing/2014/main" id="{0D0923E5-4B9A-4D73-A7D6-7FFD976625F8}"/>
              </a:ext>
            </a:extLst>
          </p:cNvPr>
          <p:cNvSpPr>
            <a:spLocks xmlns:a="http://schemas.openxmlformats.org/drawingml/2006/main" noGrp="1"/>
          </p:cNvSpPr>
          <p:nvPr/>
        </p:nvSpPr>
        <p:spPr>
          <a:xfrm xmlns:a="http://schemas.openxmlformats.org/drawingml/2006/main">
            <a:off x="5105400" y="2105025"/>
            <a:ext cx="19050" cy="3333750"/>
          </a:xfrm>
          <a:prstGeom xmlns:a="http://schemas.openxmlformats.org/drawingml/2006/main" prst="rect">
            <a:avLst/>
          </a:prstGeom>
          <a:solidFill xmlns:a="http://schemas.openxmlformats.org/drawingml/2006/main">
            <a:srgbClr val="087E8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616A157-1717-4192-BBDB-7F8B30928A22}"/>
              </a:ext>
            </a:extLst>
          </p:cNvPr>
          <p:cNvSpPr>
            <a:spLocks xmlns:a="http://schemas.openxmlformats.org/drawingml/2006/main" noGrp="1"/>
          </p:cNvSpPr>
          <p:nvPr/>
        </p:nvSpPr>
        <p:spPr>
          <a:xfrm xmlns:a="http://schemas.openxmlformats.org/drawingml/2006/main">
            <a:off x="5410200" y="2114550"/>
            <a:ext cx="304800" cy="304800"/>
          </a:xfrm>
          <a:prstGeom xmlns:a="http://schemas.openxmlformats.org/drawingml/2006/main" prst="ellipse">
            <a:avLst/>
          </a:prstGeom>
          <a:solidFill xmlns:a="http://schemas.openxmlformats.org/drawingml/2006/main">
            <a:srgbClr val="D7ECE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2E7A467-3634-4F25-A798-5B03B2E12358}"/>
              </a:ext>
            </a:extLst>
          </p:cNvPr>
          <p:cNvSpPr>
            <a:spLocks xmlns:a="http://schemas.openxmlformats.org/drawingml/2006/main" noGrp="1"/>
          </p:cNvSpPr>
          <p:nvPr/>
        </p:nvSpPr>
        <p:spPr>
          <a:xfrm xmlns:a="http://schemas.openxmlformats.org/drawingml/2006/main">
            <a:off x="5438775" y="219075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087E83"/>
                </a:solidFill>
                <a:latin typeface="Aptos"/>
                <a:ea typeface="Aptos"/>
                <a:cs typeface="Aptos"/>
              </a:defRPr>
            </a:defPPr>
          </a:lstStyle>
          <a:p xmlns:a="http://schemas.openxmlformats.org/drawingml/2006/main">
            <a:pPr algn="ctr">
              <a:defRPr sz="900" b="1" i="0">
                <a:solidFill>
                  <a:srgbClr val="087E83"/>
                </a:solidFill>
                <a:latin typeface="Aptos"/>
                <a:ea typeface="Aptos"/>
                <a:cs typeface="Aptos"/>
              </a:defRPr>
            </a:pPr>
            <a:r>
              <a:rPr sz="900" b="1" i="0">
                <a:solidFill>
                  <a:srgbClr val="087E83"/>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B63EEDD2-84AB-4044-9D00-9AD6CBF5F529}"/>
              </a:ext>
            </a:extLst>
          </p:cNvPr>
          <p:cNvSpPr>
            <a:spLocks xmlns:a="http://schemas.openxmlformats.org/drawingml/2006/main" noGrp="1"/>
          </p:cNvSpPr>
          <p:nvPr/>
        </p:nvSpPr>
        <p:spPr>
          <a:xfrm xmlns:a="http://schemas.openxmlformats.org/drawingml/2006/main">
            <a:off x="5905500" y="2133600"/>
            <a:ext cx="533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02B39"/>
                </a:solidFill>
                <a:latin typeface="Georgia"/>
                <a:ea typeface="Georgia"/>
                <a:cs typeface="Georgia"/>
              </a:defRPr>
            </a:defPPr>
          </a:lstStyle>
          <a:p xmlns:a="http://schemas.openxmlformats.org/drawingml/2006/main">
            <a:pPr algn="l">
              <a:defRPr sz="1725" b="1" i="0">
                <a:solidFill>
                  <a:srgbClr val="102B39"/>
                </a:solidFill>
                <a:latin typeface="Georgia"/>
                <a:ea typeface="Georgia"/>
                <a:cs typeface="Georgia"/>
              </a:defRPr>
            </a:pPr>
            <a:r>
              <a:rPr sz="1725" b="1" i="0">
                <a:solidFill>
                  <a:srgbClr val="102B39"/>
                </a:solidFill>
                <a:latin typeface="Georgia"/>
                <a:ea typeface="Georgia"/>
                <a:cs typeface="Georgia"/>
              </a:rPr>
              <a:t>Reduce repeated manual work</a:t>
            </a:r>
          </a:p>
        </p:txBody>
      </p:sp>
      <p:sp>
        <p:nvSpPr>
          <p:cNvPr id="10" name="">
            <a:extLst xmlns:a="http://schemas.openxmlformats.org/drawingml/2006/main">
              <a:ext uri="{FF2B5EF4-FFF2-40B4-BE49-F238E27FC236}">
                <a16:creationId xmlns:a16="http://schemas.microsoft.com/office/drawing/2014/main" id="{52F973DB-EE29-4E9C-B06E-C3575CDE629D}"/>
              </a:ext>
            </a:extLst>
          </p:cNvPr>
          <p:cNvSpPr>
            <a:spLocks xmlns:a="http://schemas.openxmlformats.org/drawingml/2006/main" noGrp="1"/>
          </p:cNvSpPr>
          <p:nvPr/>
        </p:nvSpPr>
        <p:spPr>
          <a:xfrm xmlns:a="http://schemas.openxmlformats.org/drawingml/2006/main">
            <a:off x="5905500" y="2486025"/>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66B72"/>
                </a:solidFill>
                <a:latin typeface="Aptos"/>
                <a:ea typeface="Aptos"/>
                <a:cs typeface="Aptos"/>
              </a:defRPr>
            </a:defPPr>
          </a:lstStyle>
          <a:p xmlns:a="http://schemas.openxmlformats.org/drawingml/2006/main">
            <a:pPr algn="l">
              <a:defRPr sz="1275" b="0" i="0">
                <a:solidFill>
                  <a:srgbClr val="566B72"/>
                </a:solidFill>
                <a:latin typeface="Aptos"/>
                <a:ea typeface="Aptos"/>
                <a:cs typeface="Aptos"/>
              </a:defRPr>
            </a:pPr>
            <a:r>
              <a:rPr sz="1275" b="0" i="0">
                <a:solidFill>
                  <a:srgbClr val="566B72"/>
                </a:solidFill>
                <a:latin typeface="Aptos"/>
                <a:ea typeface="Aptos"/>
                <a:cs typeface="Aptos"/>
              </a:rPr>
              <a:t>Automate routine conveyance and monitoring, with operators retaining oversight.</a:t>
            </a:r>
          </a:p>
        </p:txBody>
      </p:sp>
      <p:sp>
        <p:nvSpPr>
          <p:cNvPr id="11" name="">
            <a:extLst xmlns:a="http://schemas.openxmlformats.org/drawingml/2006/main">
              <a:ext uri="{FF2B5EF4-FFF2-40B4-BE49-F238E27FC236}">
                <a16:creationId xmlns:a16="http://schemas.microsoft.com/office/drawing/2014/main" id="{2F5196B9-8072-4FFA-8159-B1777D615751}"/>
              </a:ext>
            </a:extLst>
          </p:cNvPr>
          <p:cNvSpPr>
            <a:spLocks xmlns:a="http://schemas.openxmlformats.org/drawingml/2006/main" noGrp="1"/>
          </p:cNvSpPr>
          <p:nvPr/>
        </p:nvSpPr>
        <p:spPr>
          <a:xfrm xmlns:a="http://schemas.openxmlformats.org/drawingml/2006/main">
            <a:off x="5410200" y="3181350"/>
            <a:ext cx="304800" cy="304800"/>
          </a:xfrm>
          <a:prstGeom xmlns:a="http://schemas.openxmlformats.org/drawingml/2006/main" prst="ellipse">
            <a:avLst/>
          </a:prstGeom>
          <a:solidFill xmlns:a="http://schemas.openxmlformats.org/drawingml/2006/main">
            <a:srgbClr val="D7ECE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518828-2F14-4C56-B2BF-540300ECB5FF}"/>
              </a:ext>
            </a:extLst>
          </p:cNvPr>
          <p:cNvSpPr>
            <a:spLocks xmlns:a="http://schemas.openxmlformats.org/drawingml/2006/main" noGrp="1"/>
          </p:cNvSpPr>
          <p:nvPr/>
        </p:nvSpPr>
        <p:spPr>
          <a:xfrm xmlns:a="http://schemas.openxmlformats.org/drawingml/2006/main">
            <a:off x="5438775" y="325755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087E83"/>
                </a:solidFill>
                <a:latin typeface="Aptos"/>
                <a:ea typeface="Aptos"/>
                <a:cs typeface="Aptos"/>
              </a:defRPr>
            </a:defPPr>
          </a:lstStyle>
          <a:p xmlns:a="http://schemas.openxmlformats.org/drawingml/2006/main">
            <a:pPr algn="ctr">
              <a:defRPr sz="900" b="1" i="0">
                <a:solidFill>
                  <a:srgbClr val="087E83"/>
                </a:solidFill>
                <a:latin typeface="Aptos"/>
                <a:ea typeface="Aptos"/>
                <a:cs typeface="Aptos"/>
              </a:defRPr>
            </a:pPr>
            <a:r>
              <a:rPr sz="900" b="1" i="0">
                <a:solidFill>
                  <a:srgbClr val="087E83"/>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F2C7529D-1FD5-4B8A-A827-AB1166FBFFDE}"/>
              </a:ext>
            </a:extLst>
          </p:cNvPr>
          <p:cNvSpPr>
            <a:spLocks xmlns:a="http://schemas.openxmlformats.org/drawingml/2006/main" noGrp="1"/>
          </p:cNvSpPr>
          <p:nvPr/>
        </p:nvSpPr>
        <p:spPr>
          <a:xfrm xmlns:a="http://schemas.openxmlformats.org/drawingml/2006/main">
            <a:off x="5905500" y="3200400"/>
            <a:ext cx="533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02B39"/>
                </a:solidFill>
                <a:latin typeface="Georgia"/>
                <a:ea typeface="Georgia"/>
                <a:cs typeface="Georgia"/>
              </a:defRPr>
            </a:defPPr>
          </a:lstStyle>
          <a:p xmlns:a="http://schemas.openxmlformats.org/drawingml/2006/main">
            <a:pPr algn="l">
              <a:defRPr sz="1725" b="1" i="0">
                <a:solidFill>
                  <a:srgbClr val="102B39"/>
                </a:solidFill>
                <a:latin typeface="Georgia"/>
                <a:ea typeface="Georgia"/>
                <a:cs typeface="Georgia"/>
              </a:defRPr>
            </a:pPr>
            <a:r>
              <a:rPr sz="1725" b="1" i="0">
                <a:solidFill>
                  <a:srgbClr val="102B39"/>
                </a:solidFill>
                <a:latin typeface="Georgia"/>
                <a:ea typeface="Georgia"/>
                <a:cs typeface="Georgia"/>
              </a:rPr>
              <a:t>Protect marine life</a:t>
            </a:r>
          </a:p>
        </p:txBody>
      </p:sp>
      <p:sp>
        <p:nvSpPr>
          <p:cNvPr id="14" name="">
            <a:extLst xmlns:a="http://schemas.openxmlformats.org/drawingml/2006/main">
              <a:ext uri="{FF2B5EF4-FFF2-40B4-BE49-F238E27FC236}">
                <a16:creationId xmlns:a16="http://schemas.microsoft.com/office/drawing/2014/main" id="{40313A70-A371-4FE9-8CAE-A9CD2351E611}"/>
              </a:ext>
            </a:extLst>
          </p:cNvPr>
          <p:cNvSpPr>
            <a:spLocks xmlns:a="http://schemas.openxmlformats.org/drawingml/2006/main" noGrp="1"/>
          </p:cNvSpPr>
          <p:nvPr/>
        </p:nvSpPr>
        <p:spPr>
          <a:xfrm xmlns:a="http://schemas.openxmlformats.org/drawingml/2006/main">
            <a:off x="5905500" y="3552825"/>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66B72"/>
                </a:solidFill>
                <a:latin typeface="Aptos"/>
                <a:ea typeface="Aptos"/>
                <a:cs typeface="Aptos"/>
              </a:defRPr>
            </a:defPPr>
          </a:lstStyle>
          <a:p xmlns:a="http://schemas.openxmlformats.org/drawingml/2006/main">
            <a:pPr algn="l">
              <a:defRPr sz="1275" b="0" i="0">
                <a:solidFill>
                  <a:srgbClr val="566B72"/>
                </a:solidFill>
                <a:latin typeface="Aptos"/>
                <a:ea typeface="Aptos"/>
                <a:cs typeface="Aptos"/>
              </a:defRPr>
            </a:pPr>
            <a:r>
              <a:rPr sz="1275" b="0" i="0">
                <a:solidFill>
                  <a:srgbClr val="566B72"/>
                </a:solidFill>
                <a:latin typeface="Aptos"/>
                <a:ea typeface="Aptos"/>
                <a:cs typeface="Aptos"/>
              </a:rPr>
              <a:t>Measure bycatch, injury, escape routes, and handling outcomes before scaling.</a:t>
            </a:r>
          </a:p>
        </p:txBody>
      </p:sp>
      <p:sp>
        <p:nvSpPr>
          <p:cNvPr id="15" name="">
            <a:extLst xmlns:a="http://schemas.openxmlformats.org/drawingml/2006/main">
              <a:ext uri="{FF2B5EF4-FFF2-40B4-BE49-F238E27FC236}">
                <a16:creationId xmlns:a16="http://schemas.microsoft.com/office/drawing/2014/main" id="{1F4D755F-581C-41C2-9DCA-E5D74BFF1E19}"/>
              </a:ext>
            </a:extLst>
          </p:cNvPr>
          <p:cNvSpPr>
            <a:spLocks xmlns:a="http://schemas.openxmlformats.org/drawingml/2006/main" noGrp="1"/>
          </p:cNvSpPr>
          <p:nvPr/>
        </p:nvSpPr>
        <p:spPr>
          <a:xfrm xmlns:a="http://schemas.openxmlformats.org/drawingml/2006/main">
            <a:off x="5410200" y="4248150"/>
            <a:ext cx="304800" cy="304800"/>
          </a:xfrm>
          <a:prstGeom xmlns:a="http://schemas.openxmlformats.org/drawingml/2006/main" prst="ellipse">
            <a:avLst/>
          </a:prstGeom>
          <a:solidFill xmlns:a="http://schemas.openxmlformats.org/drawingml/2006/main">
            <a:srgbClr val="D7ECE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FA6CB52-084A-47EB-9F0A-668FF88C1B2A}"/>
              </a:ext>
            </a:extLst>
          </p:cNvPr>
          <p:cNvSpPr>
            <a:spLocks xmlns:a="http://schemas.openxmlformats.org/drawingml/2006/main" noGrp="1"/>
          </p:cNvSpPr>
          <p:nvPr/>
        </p:nvSpPr>
        <p:spPr>
          <a:xfrm xmlns:a="http://schemas.openxmlformats.org/drawingml/2006/main">
            <a:off x="5438775" y="4324350"/>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087E83"/>
                </a:solidFill>
                <a:latin typeface="Aptos"/>
                <a:ea typeface="Aptos"/>
                <a:cs typeface="Aptos"/>
              </a:defRPr>
            </a:defPPr>
          </a:lstStyle>
          <a:p xmlns:a="http://schemas.openxmlformats.org/drawingml/2006/main">
            <a:pPr algn="ctr">
              <a:defRPr sz="900" b="1" i="0">
                <a:solidFill>
                  <a:srgbClr val="087E83"/>
                </a:solidFill>
                <a:latin typeface="Aptos"/>
                <a:ea typeface="Aptos"/>
                <a:cs typeface="Aptos"/>
              </a:defRPr>
            </a:pPr>
            <a:r>
              <a:rPr sz="900" b="1" i="0">
                <a:solidFill>
                  <a:srgbClr val="087E83"/>
                </a:solidFill>
                <a:latin typeface="Aptos"/>
                <a:ea typeface="Aptos"/>
                <a:cs typeface="Aptos"/>
              </a:rPr>
              <a:t>03</a:t>
            </a:r>
          </a:p>
        </p:txBody>
      </p:sp>
      <p:sp>
        <p:nvSpPr>
          <p:cNvPr id="17" name="">
            <a:extLst xmlns:a="http://schemas.openxmlformats.org/drawingml/2006/main">
              <a:ext uri="{FF2B5EF4-FFF2-40B4-BE49-F238E27FC236}">
                <a16:creationId xmlns:a16="http://schemas.microsoft.com/office/drawing/2014/main" id="{A66B6AAD-E51D-4E9D-84C4-CB7FEF2DB3CF}"/>
              </a:ext>
            </a:extLst>
          </p:cNvPr>
          <p:cNvSpPr>
            <a:spLocks xmlns:a="http://schemas.openxmlformats.org/drawingml/2006/main" noGrp="1"/>
          </p:cNvSpPr>
          <p:nvPr/>
        </p:nvSpPr>
        <p:spPr>
          <a:xfrm xmlns:a="http://schemas.openxmlformats.org/drawingml/2006/main">
            <a:off x="5905500" y="4267200"/>
            <a:ext cx="533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02B39"/>
                </a:solidFill>
                <a:latin typeface="Georgia"/>
                <a:ea typeface="Georgia"/>
                <a:cs typeface="Georgia"/>
              </a:defRPr>
            </a:defPPr>
          </a:lstStyle>
          <a:p xmlns:a="http://schemas.openxmlformats.org/drawingml/2006/main">
            <a:pPr algn="l">
              <a:defRPr sz="1725" b="1" i="0">
                <a:solidFill>
                  <a:srgbClr val="102B39"/>
                </a:solidFill>
                <a:latin typeface="Georgia"/>
                <a:ea typeface="Georgia"/>
                <a:cs typeface="Georgia"/>
              </a:defRPr>
            </a:pPr>
            <a:r>
              <a:rPr sz="1725" b="1" i="0">
                <a:solidFill>
                  <a:srgbClr val="102B39"/>
                </a:solidFill>
                <a:latin typeface="Georgia"/>
                <a:ea typeface="Georgia"/>
                <a:cs typeface="Georgia"/>
              </a:rPr>
              <a:t>Handle continuous volume</a:t>
            </a:r>
          </a:p>
        </p:txBody>
      </p:sp>
      <p:sp>
        <p:nvSpPr>
          <p:cNvPr id="18" name="">
            <a:extLst xmlns:a="http://schemas.openxmlformats.org/drawingml/2006/main">
              <a:ext uri="{FF2B5EF4-FFF2-40B4-BE49-F238E27FC236}">
                <a16:creationId xmlns:a16="http://schemas.microsoft.com/office/drawing/2014/main" id="{4623EC27-065A-428F-B43A-ED27907858F2}"/>
              </a:ext>
            </a:extLst>
          </p:cNvPr>
          <p:cNvSpPr>
            <a:spLocks xmlns:a="http://schemas.openxmlformats.org/drawingml/2006/main" noGrp="1"/>
          </p:cNvSpPr>
          <p:nvPr/>
        </p:nvSpPr>
        <p:spPr>
          <a:xfrm xmlns:a="http://schemas.openxmlformats.org/drawingml/2006/main">
            <a:off x="5905500" y="4619625"/>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566B72"/>
                </a:solidFill>
                <a:latin typeface="Aptos"/>
                <a:ea typeface="Aptos"/>
                <a:cs typeface="Aptos"/>
              </a:defRPr>
            </a:defPPr>
          </a:lstStyle>
          <a:p xmlns:a="http://schemas.openxmlformats.org/drawingml/2006/main">
            <a:pPr algn="l">
              <a:defRPr sz="1275" b="0" i="0">
                <a:solidFill>
                  <a:srgbClr val="566B72"/>
                </a:solidFill>
                <a:latin typeface="Aptos"/>
                <a:ea typeface="Aptos"/>
                <a:cs typeface="Aptos"/>
              </a:defRPr>
            </a:pPr>
            <a:r>
              <a:rPr sz="1275" b="0" i="0">
                <a:solidFill>
                  <a:srgbClr val="566B72"/>
                </a:solidFill>
                <a:latin typeface="Aptos"/>
                <a:ea typeface="Aptos"/>
                <a:cs typeface="Aptos"/>
              </a:rPr>
              <a:t>Size collection, buffers, and response capacity for bloom loads—not isolated animals.</a:t>
            </a:r>
          </a:p>
        </p:txBody>
      </p:sp>
      <p:sp>
        <p:nvSpPr>
          <p:cNvPr id="19" name="">
            <a:extLst xmlns:a="http://schemas.openxmlformats.org/drawingml/2006/main">
              <a:ext uri="{FF2B5EF4-FFF2-40B4-BE49-F238E27FC236}">
                <a16:creationId xmlns:a16="http://schemas.microsoft.com/office/drawing/2014/main" id="{3C96E29D-B6EE-4D09-B4F5-64AEFE792A26}"/>
              </a:ext>
            </a:extLst>
          </p:cNvPr>
          <p:cNvSpPr>
            <a:spLocks xmlns:a="http://schemas.openxmlformats.org/drawingml/2006/main" noGrp="1"/>
          </p:cNvSpPr>
          <p:nvPr/>
        </p:nvSpPr>
        <p:spPr>
          <a:xfrm xmlns:a="http://schemas.openxmlformats.org/drawingml/2006/main">
            <a:off x="609600" y="577215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829296"/>
                </a:solidFill>
                <a:latin typeface="Aptos"/>
                <a:ea typeface="Aptos"/>
                <a:cs typeface="Aptos"/>
              </a:defRPr>
            </a:defPPr>
          </a:lstStyle>
          <a:p xmlns:a="http://schemas.openxmlformats.org/drawingml/2006/main">
            <a:pPr algn="l">
              <a:defRPr sz="1125" b="0" i="0">
                <a:solidFill>
                  <a:srgbClr val="829296"/>
                </a:solidFill>
                <a:latin typeface="Aptos"/>
                <a:ea typeface="Aptos"/>
                <a:cs typeface="Aptos"/>
              </a:defRPr>
            </a:pPr>
            <a:r>
              <a:rPr sz="1125" b="0" i="0">
                <a:solidFill>
                  <a:srgbClr val="829296"/>
                </a:solidFill>
                <a:latin typeface="Aptos"/>
                <a:ea typeface="Aptos"/>
                <a:cs typeface="Aptos"/>
              </a:rPr>
              <a:t>Challenge brief: post-alert management • marine-life protection • lower manual intervention • cost-conscious scaling.</a:t>
            </a:r>
          </a:p>
        </p:txBody>
      </p:sp>
      <p:sp>
        <p:nvSpPr>
          <p:cNvPr id="20" name="">
            <a:extLst xmlns:a="http://schemas.openxmlformats.org/drawingml/2006/main">
              <a:ext uri="{FF2B5EF4-FFF2-40B4-BE49-F238E27FC236}">
                <a16:creationId xmlns:a16="http://schemas.microsoft.com/office/drawing/2014/main" id="{56564B54-4832-4122-831E-7F95872A3D60}"/>
              </a:ext>
            </a:extLst>
          </p:cNvPr>
          <p:cNvSpPr>
            <a:spLocks xmlns:a="http://schemas.openxmlformats.org/drawingml/2006/main" noGrp="1"/>
          </p:cNvSpPr>
          <p:nvPr/>
        </p:nvSpPr>
        <p:spPr>
          <a:xfrm xmlns:a="http://schemas.openxmlformats.org/drawingml/2006/main">
            <a:off x="552450" y="6457950"/>
            <a:ext cx="1108710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5264BEA-51B7-4360-B6C0-2FEBD886336F}"/>
              </a:ext>
            </a:extLst>
          </p:cNvPr>
          <p:cNvSpPr>
            <a:spLocks xmlns:a="http://schemas.openxmlformats.org/drawingml/2006/main" noGrp="1"/>
          </p:cNvSpPr>
          <p:nvPr/>
        </p:nvSpPr>
        <p:spPr>
          <a:xfrm xmlns:a="http://schemas.openxmlformats.org/drawingml/2006/main">
            <a:off x="552450" y="655320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66B72"/>
                </a:solidFill>
                <a:latin typeface="Aptos"/>
                <a:ea typeface="Aptos"/>
                <a:cs typeface="Aptos"/>
              </a:defRPr>
            </a:defPPr>
          </a:lstStyle>
          <a:p xmlns:a="http://schemas.openxmlformats.org/drawingml/2006/main">
            <a:pPr algn="l">
              <a:defRPr sz="900" b="1" i="0">
                <a:solidFill>
                  <a:srgbClr val="566B72"/>
                </a:solidFill>
                <a:latin typeface="Aptos"/>
                <a:ea typeface="Aptos"/>
                <a:cs typeface="Aptos"/>
              </a:defRPr>
            </a:pPr>
            <a:r>
              <a:rPr sz="900" b="1" i="0">
                <a:solidFill>
                  <a:srgbClr val="566B72"/>
                </a:solidFill>
                <a:latin typeface="Aptos"/>
                <a:ea typeface="Aptos"/>
                <a:cs typeface="Aptos"/>
              </a:rPr>
              <a:t>MARLIN   /   ATP 2026 • ENEC CHALLENGE</a:t>
            </a:r>
          </a:p>
        </p:txBody>
      </p:sp>
      <p:sp>
        <p:nvSpPr>
          <p:cNvPr id="22" name="">
            <a:extLst xmlns:a="http://schemas.openxmlformats.org/drawingml/2006/main">
              <a:ext uri="{FF2B5EF4-FFF2-40B4-BE49-F238E27FC236}">
                <a16:creationId xmlns:a16="http://schemas.microsoft.com/office/drawing/2014/main" id="{401B5E05-D1FC-49E6-B36E-625842BE74E1}"/>
              </a:ext>
            </a:extLst>
          </p:cNvPr>
          <p:cNvSpPr>
            <a:spLocks xmlns:a="http://schemas.openxmlformats.org/drawingml/2006/main" noGrp="1"/>
          </p:cNvSpPr>
          <p:nvPr/>
        </p:nvSpPr>
        <p:spPr>
          <a:xfrm xmlns:a="http://schemas.openxmlformats.org/drawingml/2006/main">
            <a:off x="11239500" y="65341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566B72"/>
                </a:solidFill>
                <a:latin typeface="Aptos"/>
                <a:ea typeface="Aptos"/>
                <a:cs typeface="Aptos"/>
              </a:defRPr>
            </a:defPPr>
          </a:lstStyle>
          <a:p xmlns:a="http://schemas.openxmlformats.org/drawingml/2006/main">
            <a:pPr algn="r">
              <a:defRPr sz="975" b="1" i="0">
                <a:solidFill>
                  <a:srgbClr val="566B72"/>
                </a:solidFill>
                <a:latin typeface="Aptos"/>
                <a:ea typeface="Aptos"/>
                <a:cs typeface="Aptos"/>
              </a:defRPr>
            </a:pPr>
            <a:r>
              <a:rPr sz="975" b="1" i="0">
                <a:solidFill>
                  <a:srgbClr val="566B72"/>
                </a:solidFill>
                <a:latin typeface="Aptos"/>
                <a:ea typeface="Aptos"/>
                <a:cs typeface="Aptos"/>
              </a:rPr>
              <a:t>03</a:t>
            </a:r>
          </a:p>
        </p:txBody>
      </p:sp>
    </p:spTree>
    <p:extLst>
      <p:ext uri="{BB962C8B-B14F-4D97-AF65-F5344CB8AC3E}">
        <p14:creationId xmlns:p14="http://schemas.microsoft.com/office/powerpoint/2010/main" val="369160734"/>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341CB4E1-0699-42E7-A293-E3BAD418BEA2}"/>
              </a:ext>
            </a:extLst>
          </p:cNvPr>
          <p:cNvSpPr>
            <a:spLocks xmlns:a="http://schemas.openxmlformats.org/drawingml/2006/main" noGrp="1"/>
          </p:cNvSpPr>
          <p:nvPr/>
        </p:nvSpPr>
        <p:spPr>
          <a:xfrm xmlns:a="http://schemas.openxmlformats.org/drawingml/2006/main">
            <a:off x="552450" y="3619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03   /   SYSTEM DESIGN</a:t>
            </a:r>
          </a:p>
        </p:txBody>
      </p:sp>
      <p:sp>
        <p:nvSpPr>
          <p:cNvPr id="2" name="">
            <a:extLst xmlns:a="http://schemas.openxmlformats.org/drawingml/2006/main">
              <a:ext uri="{FF2B5EF4-FFF2-40B4-BE49-F238E27FC236}">
                <a16:creationId xmlns:a16="http://schemas.microsoft.com/office/drawing/2014/main" id="{2FEF8ABA-648E-45A3-857B-1D3FCE49A23F}"/>
              </a:ext>
            </a:extLst>
          </p:cNvPr>
          <p:cNvSpPr>
            <a:spLocks xmlns:a="http://schemas.openxmlformats.org/drawingml/2006/main" noGrp="1"/>
          </p:cNvSpPr>
          <p:nvPr/>
        </p:nvSpPr>
        <p:spPr>
          <a:xfrm xmlns:a="http://schemas.openxmlformats.org/drawingml/2006/main">
            <a:off x="552450" y="72390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B39"/>
                </a:solidFill>
                <a:latin typeface="Georgia"/>
                <a:ea typeface="Georgia"/>
                <a:cs typeface="Georgia"/>
              </a:defRPr>
            </a:defPPr>
          </a:lstStyle>
          <a:p xmlns:a="http://schemas.openxmlformats.org/drawingml/2006/main">
            <a:pPr algn="l">
              <a:defRPr sz="2850" b="1" i="0">
                <a:solidFill>
                  <a:srgbClr val="102B39"/>
                </a:solidFill>
                <a:latin typeface="Georgia"/>
                <a:ea typeface="Georgia"/>
                <a:cs typeface="Georgia"/>
              </a:defRPr>
            </a:pPr>
            <a:r>
              <a:rPr sz="2850" b="1" i="0">
                <a:solidFill>
                  <a:srgbClr val="102B39"/>
                </a:solidFill>
                <a:latin typeface="Georgia"/>
                <a:ea typeface="Georgia"/>
                <a:cs typeface="Georgia"/>
              </a:rPr>
              <a:t>Two interception layers; one controlled collection route</a:t>
            </a:r>
          </a:p>
        </p:txBody>
      </p:sp>
      <p:sp>
        <p:nvSpPr>
          <p:cNvPr id="3" name="">
            <a:extLst xmlns:a="http://schemas.openxmlformats.org/drawingml/2006/main">
              <a:ext uri="{FF2B5EF4-FFF2-40B4-BE49-F238E27FC236}">
                <a16:creationId xmlns:a16="http://schemas.microsoft.com/office/drawing/2014/main" id="{A2BC5AF4-20C2-459D-811F-429B208B1359}"/>
              </a:ext>
            </a:extLst>
          </p:cNvPr>
          <p:cNvSpPr>
            <a:spLocks xmlns:a="http://schemas.openxmlformats.org/drawingml/2006/main" noGrp="1"/>
          </p:cNvSpPr>
          <p:nvPr/>
        </p:nvSpPr>
        <p:spPr>
          <a:xfrm xmlns:a="http://schemas.openxmlformats.org/drawingml/2006/main">
            <a:off x="571500" y="13049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66B72"/>
                </a:solidFill>
                <a:latin typeface="Aptos"/>
                <a:ea typeface="Aptos"/>
                <a:cs typeface="Aptos"/>
              </a:defRPr>
            </a:defPPr>
          </a:lstStyle>
          <a:p xmlns:a="http://schemas.openxmlformats.org/drawingml/2006/main">
            <a:pPr algn="l">
              <a:defRPr sz="1425" b="0" i="0">
                <a:solidFill>
                  <a:srgbClr val="566B72"/>
                </a:solidFill>
                <a:latin typeface="Aptos"/>
                <a:ea typeface="Aptos"/>
                <a:cs typeface="Aptos"/>
              </a:defRPr>
            </a:pPr>
            <a:r>
              <a:rPr sz="1425" b="0" i="0">
                <a:solidFill>
                  <a:srgbClr val="566B72"/>
                </a:solidFill>
                <a:latin typeface="Aptos"/>
                <a:ea typeface="Aptos"/>
                <a:cs typeface="Aptos"/>
              </a:rPr>
              <a:t>Conceptual cross-section only. Final placement, coverage, skirt depth, and collection points require site data.</a:t>
            </a:r>
          </a:p>
        </p:txBody>
      </p:sp>
      <p:sp>
        <p:nvSpPr>
          <p:cNvPr id="4" name="">
            <a:extLst xmlns:a="http://schemas.openxmlformats.org/drawingml/2006/main">
              <a:ext uri="{FF2B5EF4-FFF2-40B4-BE49-F238E27FC236}">
                <a16:creationId xmlns:a16="http://schemas.microsoft.com/office/drawing/2014/main" id="{87A272E5-12AC-4B63-9C21-573AFDA79C1E}"/>
              </a:ext>
            </a:extLst>
          </p:cNvPr>
          <p:cNvSpPr>
            <a:spLocks xmlns:a="http://schemas.openxmlformats.org/drawingml/2006/main" noGrp="1"/>
          </p:cNvSpPr>
          <p:nvPr/>
        </p:nvSpPr>
        <p:spPr>
          <a:xfrm xmlns:a="http://schemas.openxmlformats.org/drawingml/2006/main">
            <a:off x="685800" y="1924050"/>
            <a:ext cx="10820400" cy="3581400"/>
          </a:xfrm>
          <a:prstGeom xmlns:a="http://schemas.openxmlformats.org/drawingml/2006/main" prst="rect">
            <a:avLst/>
          </a:prstGeom>
          <a:solidFill xmlns:a="http://schemas.openxmlformats.org/drawingml/2006/main">
            <a:srgbClr val="E2EEF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03C9DE-ECD4-4347-B3F8-57C4AF30F0F7}"/>
              </a:ext>
            </a:extLst>
          </p:cNvPr>
          <p:cNvSpPr>
            <a:spLocks xmlns:a="http://schemas.openxmlformats.org/drawingml/2006/main" noGrp="1"/>
          </p:cNvSpPr>
          <p:nvPr/>
        </p:nvSpPr>
        <p:spPr>
          <a:xfrm xmlns:a="http://schemas.openxmlformats.org/drawingml/2006/main">
            <a:off x="685800" y="1924050"/>
            <a:ext cx="10820400" cy="361950"/>
          </a:xfrm>
          <a:prstGeom xmlns:a="http://schemas.openxmlformats.org/drawingml/2006/main" prst="rect">
            <a:avLst/>
          </a:prstGeom>
          <a:solidFill xmlns:a="http://schemas.openxmlformats.org/drawingml/2006/main">
            <a:srgbClr val="C8DFE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385055B-2486-43FD-AE0E-7F59CB861E6A}"/>
              </a:ext>
            </a:extLst>
          </p:cNvPr>
          <p:cNvSpPr>
            <a:spLocks xmlns:a="http://schemas.openxmlformats.org/drawingml/2006/main" noGrp="1"/>
          </p:cNvSpPr>
          <p:nvPr/>
        </p:nvSpPr>
        <p:spPr>
          <a:xfrm xmlns:a="http://schemas.openxmlformats.org/drawingml/2006/main">
            <a:off x="857250" y="200977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087E83"/>
                </a:solidFill>
                <a:latin typeface="Aptos"/>
                <a:ea typeface="Aptos"/>
                <a:cs typeface="Aptos"/>
              </a:defRPr>
            </a:defPPr>
          </a:lstStyle>
          <a:p xmlns:a="http://schemas.openxmlformats.org/drawingml/2006/main">
            <a:pPr algn="l">
              <a:defRPr sz="900" b="1" i="0">
                <a:solidFill>
                  <a:srgbClr val="087E83"/>
                </a:solidFill>
                <a:latin typeface="Aptos"/>
                <a:ea typeface="Aptos"/>
                <a:cs typeface="Aptos"/>
              </a:defRPr>
            </a:pPr>
            <a:r>
              <a:rPr sz="900" b="1" i="0">
                <a:solidFill>
                  <a:srgbClr val="087E83"/>
                </a:solidFill>
                <a:latin typeface="Aptos"/>
                <a:ea typeface="Aptos"/>
                <a:cs typeface="Aptos"/>
              </a:rPr>
              <a:t>SEA SURFACE</a:t>
            </a:r>
          </a:p>
        </p:txBody>
      </p:sp>
      <p:sp>
        <p:nvSpPr>
          <p:cNvPr id="7" name="">
            <a:extLst xmlns:a="http://schemas.openxmlformats.org/drawingml/2006/main">
              <a:ext uri="{FF2B5EF4-FFF2-40B4-BE49-F238E27FC236}">
                <a16:creationId xmlns:a16="http://schemas.microsoft.com/office/drawing/2014/main" id="{A78FA746-0A53-4CFC-B045-3E88F93C2ABA}"/>
              </a:ext>
            </a:extLst>
          </p:cNvPr>
          <p:cNvSpPr>
            <a:spLocks xmlns:a="http://schemas.openxmlformats.org/drawingml/2006/main" noGrp="1"/>
          </p:cNvSpPr>
          <p:nvPr/>
        </p:nvSpPr>
        <p:spPr>
          <a:xfrm xmlns:a="http://schemas.openxmlformats.org/drawingml/2006/main">
            <a:off x="685800" y="5276850"/>
            <a:ext cx="10820400" cy="228600"/>
          </a:xfrm>
          <a:prstGeom xmlns:a="http://schemas.openxmlformats.org/drawingml/2006/main" prst="rect">
            <a:avLst/>
          </a:prstGeom>
          <a:solidFill xmlns:a="http://schemas.openxmlformats.org/drawingml/2006/main">
            <a:srgbClr val="C7BBA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96278B-93C9-4CC4-9260-9B3B71CF0472}"/>
              </a:ext>
            </a:extLst>
          </p:cNvPr>
          <p:cNvSpPr>
            <a:spLocks xmlns:a="http://schemas.openxmlformats.org/drawingml/2006/main" noGrp="1"/>
          </p:cNvSpPr>
          <p:nvPr/>
        </p:nvSpPr>
        <p:spPr>
          <a:xfrm xmlns:a="http://schemas.openxmlformats.org/drawingml/2006/main">
            <a:off x="857250" y="5305425"/>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102B39"/>
                </a:solidFill>
                <a:latin typeface="Aptos"/>
                <a:ea typeface="Aptos"/>
                <a:cs typeface="Aptos"/>
              </a:defRPr>
            </a:defPPr>
          </a:lstStyle>
          <a:p xmlns:a="http://schemas.openxmlformats.org/drawingml/2006/main">
            <a:pPr algn="l">
              <a:defRPr sz="900" b="1" i="0">
                <a:solidFill>
                  <a:srgbClr val="102B39"/>
                </a:solidFill>
                <a:latin typeface="Aptos"/>
                <a:ea typeface="Aptos"/>
                <a:cs typeface="Aptos"/>
              </a:defRPr>
            </a:pPr>
            <a:r>
              <a:rPr sz="900" b="1" i="0">
                <a:solidFill>
                  <a:srgbClr val="102B39"/>
                </a:solidFill>
                <a:latin typeface="Aptos"/>
                <a:ea typeface="Aptos"/>
                <a:cs typeface="Aptos"/>
              </a:rPr>
              <a:t>SEABED  /  clearance and anchoring must be surveyed</a:t>
            </a:r>
          </a:p>
        </p:txBody>
      </p:sp>
      <p:sp>
        <p:nvSpPr>
          <p:cNvPr id="9" name="">
            <a:extLst xmlns:a="http://schemas.openxmlformats.org/drawingml/2006/main">
              <a:ext uri="{FF2B5EF4-FFF2-40B4-BE49-F238E27FC236}">
                <a16:creationId xmlns:a16="http://schemas.microsoft.com/office/drawing/2014/main" id="{2083E31B-F678-4BAB-958A-51BF695AEBF8}"/>
              </a:ext>
            </a:extLst>
          </p:cNvPr>
          <p:cNvSpPr>
            <a:spLocks xmlns:a="http://schemas.openxmlformats.org/drawingml/2006/main" noGrp="1"/>
          </p:cNvSpPr>
          <p:nvPr/>
        </p:nvSpPr>
        <p:spPr>
          <a:xfrm xmlns:a="http://schemas.openxmlformats.org/drawingml/2006/main">
            <a:off x="895350" y="2562225"/>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66B72"/>
                </a:solidFill>
                <a:latin typeface="Aptos"/>
                <a:ea typeface="Aptos"/>
                <a:cs typeface="Aptos"/>
              </a:defRPr>
            </a:defPPr>
          </a:lstStyle>
          <a:p xmlns:a="http://schemas.openxmlformats.org/drawingml/2006/main">
            <a:pPr algn="l">
              <a:defRPr sz="900" b="1" i="0">
                <a:solidFill>
                  <a:srgbClr val="566B72"/>
                </a:solidFill>
                <a:latin typeface="Aptos"/>
                <a:ea typeface="Aptos"/>
                <a:cs typeface="Aptos"/>
              </a:defRPr>
            </a:pPr>
            <a:r>
              <a:rPr sz="900" b="1" i="0">
                <a:solidFill>
                  <a:srgbClr val="566B72"/>
                </a:solidFill>
                <a:latin typeface="Aptos"/>
                <a:ea typeface="Aptos"/>
                <a:cs typeface="Aptos"/>
              </a:rPr>
              <a:t>BLOOM APPROACH</a:t>
            </a:r>
          </a:p>
        </p:txBody>
      </p:sp>
      <p:sp>
        <p:nvSpPr>
          <p:cNvPr id="10" name="">
            <a:extLst xmlns:a="http://schemas.openxmlformats.org/drawingml/2006/main">
              <a:ext uri="{FF2B5EF4-FFF2-40B4-BE49-F238E27FC236}">
                <a16:creationId xmlns:a16="http://schemas.microsoft.com/office/drawing/2014/main" id="{8995728A-FFE9-477A-BE20-F11D1B354F94}"/>
              </a:ext>
            </a:extLst>
          </p:cNvPr>
          <p:cNvSpPr>
            <a:spLocks xmlns:a="http://schemas.openxmlformats.org/drawingml/2006/main" noGrp="1"/>
          </p:cNvSpPr>
          <p:nvPr/>
        </p:nvSpPr>
        <p:spPr>
          <a:xfrm xmlns:a="http://schemas.openxmlformats.org/drawingml/2006/main">
            <a:off x="1095375" y="3019425"/>
            <a:ext cx="1600200" cy="28575"/>
          </a:xfrm>
          <a:prstGeom xmlns:a="http://schemas.openxmlformats.org/drawingml/2006/main" prst="rect">
            <a:avLst/>
          </a:prstGeom>
          <a:solidFill xmlns:a="http://schemas.openxmlformats.org/drawingml/2006/main">
            <a:srgbClr val="65A9B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0D9E3D7-B4EE-49F9-B6D8-2CC45CE43E27}"/>
              </a:ext>
            </a:extLst>
          </p:cNvPr>
          <p:cNvSpPr>
            <a:spLocks xmlns:a="http://schemas.openxmlformats.org/drawingml/2006/main" noGrp="1"/>
          </p:cNvSpPr>
          <p:nvPr/>
        </p:nvSpPr>
        <p:spPr>
          <a:xfrm xmlns:a="http://schemas.openxmlformats.org/drawingml/2006/main">
            <a:off x="2600325" y="28765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917"/>
          </a:bodyPr>
          <a:lstStyle xmlns:a="http://schemas.openxmlformats.org/drawingml/2006/main">
            <a:defPPr algn="ctr">
              <a:defRPr sz="2400" b="1" i="0">
                <a:solidFill>
                  <a:srgbClr val="087E83"/>
                </a:solidFill>
                <a:latin typeface="Aptos"/>
                <a:ea typeface="Aptos"/>
                <a:cs typeface="Aptos"/>
              </a:defRPr>
            </a:defPPr>
          </a:lstStyle>
          <a:p xmlns:a="http://schemas.openxmlformats.org/drawingml/2006/main">
            <a:pPr algn="ctr">
              <a:defRPr sz="2400" b="1" i="0">
                <a:solidFill>
                  <a:srgbClr val="087E83"/>
                </a:solidFill>
                <a:latin typeface="Aptos"/>
                <a:ea typeface="Aptos"/>
                <a:cs typeface="Aptos"/>
              </a:defRPr>
            </a:pPr>
            <a:r>
              <a:rPr sz="2400" b="1" i="0">
                <a:solidFill>
                  <a:srgbClr val="087E83"/>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90D6F0E3-725C-4716-9DBD-8A5C1328378C}"/>
              </a:ext>
            </a:extLst>
          </p:cNvPr>
          <p:cNvSpPr>
            <a:spLocks xmlns:a="http://schemas.openxmlformats.org/drawingml/2006/main" noGrp="1"/>
          </p:cNvSpPr>
          <p:nvPr/>
        </p:nvSpPr>
        <p:spPr>
          <a:xfrm xmlns:a="http://schemas.openxmlformats.org/drawingml/2006/main">
            <a:off x="1095375" y="3590925"/>
            <a:ext cx="1600200" cy="28575"/>
          </a:xfrm>
          <a:prstGeom xmlns:a="http://schemas.openxmlformats.org/drawingml/2006/main" prst="rect">
            <a:avLst/>
          </a:prstGeom>
          <a:solidFill xmlns:a="http://schemas.openxmlformats.org/drawingml/2006/main">
            <a:srgbClr val="65A9B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90918A7-AFA7-4E77-8DA7-DDDC699B8F78}"/>
              </a:ext>
            </a:extLst>
          </p:cNvPr>
          <p:cNvSpPr>
            <a:spLocks xmlns:a="http://schemas.openxmlformats.org/drawingml/2006/main" noGrp="1"/>
          </p:cNvSpPr>
          <p:nvPr/>
        </p:nvSpPr>
        <p:spPr>
          <a:xfrm xmlns:a="http://schemas.openxmlformats.org/drawingml/2006/main">
            <a:off x="2600325" y="34480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917"/>
          </a:bodyPr>
          <a:lstStyle xmlns:a="http://schemas.openxmlformats.org/drawingml/2006/main">
            <a:defPPr algn="ctr">
              <a:defRPr sz="2400" b="1" i="0">
                <a:solidFill>
                  <a:srgbClr val="087E83"/>
                </a:solidFill>
                <a:latin typeface="Aptos"/>
                <a:ea typeface="Aptos"/>
                <a:cs typeface="Aptos"/>
              </a:defRPr>
            </a:defPPr>
          </a:lstStyle>
          <a:p xmlns:a="http://schemas.openxmlformats.org/drawingml/2006/main">
            <a:pPr algn="ctr">
              <a:defRPr sz="2400" b="1" i="0">
                <a:solidFill>
                  <a:srgbClr val="087E83"/>
                </a:solidFill>
                <a:latin typeface="Aptos"/>
                <a:ea typeface="Aptos"/>
                <a:cs typeface="Aptos"/>
              </a:defRPr>
            </a:pPr>
            <a:r>
              <a:rPr sz="2400" b="1" i="0">
                <a:solidFill>
                  <a:srgbClr val="087E83"/>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AC80E169-E45A-4C26-B95D-6B1D3DFAAE72}"/>
              </a:ext>
            </a:extLst>
          </p:cNvPr>
          <p:cNvSpPr>
            <a:spLocks xmlns:a="http://schemas.openxmlformats.org/drawingml/2006/main" noGrp="1"/>
          </p:cNvSpPr>
          <p:nvPr/>
        </p:nvSpPr>
        <p:spPr>
          <a:xfrm xmlns:a="http://schemas.openxmlformats.org/drawingml/2006/main">
            <a:off x="1095375" y="4162425"/>
            <a:ext cx="1600200" cy="28575"/>
          </a:xfrm>
          <a:prstGeom xmlns:a="http://schemas.openxmlformats.org/drawingml/2006/main" prst="rect">
            <a:avLst/>
          </a:prstGeom>
          <a:solidFill xmlns:a="http://schemas.openxmlformats.org/drawingml/2006/main">
            <a:srgbClr val="65A9B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17F7B09-F9D6-40DD-B578-4EF2ECD0B44F}"/>
              </a:ext>
            </a:extLst>
          </p:cNvPr>
          <p:cNvSpPr>
            <a:spLocks xmlns:a="http://schemas.openxmlformats.org/drawingml/2006/main" noGrp="1"/>
          </p:cNvSpPr>
          <p:nvPr/>
        </p:nvSpPr>
        <p:spPr>
          <a:xfrm xmlns:a="http://schemas.openxmlformats.org/drawingml/2006/main">
            <a:off x="2600325" y="4019550"/>
            <a:ext cx="228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2917"/>
          </a:bodyPr>
          <a:lstStyle xmlns:a="http://schemas.openxmlformats.org/drawingml/2006/main">
            <a:defPPr algn="ctr">
              <a:defRPr sz="2400" b="1" i="0">
                <a:solidFill>
                  <a:srgbClr val="087E83"/>
                </a:solidFill>
                <a:latin typeface="Aptos"/>
                <a:ea typeface="Aptos"/>
                <a:cs typeface="Aptos"/>
              </a:defRPr>
            </a:defPPr>
          </a:lstStyle>
          <a:p xmlns:a="http://schemas.openxmlformats.org/drawingml/2006/main">
            <a:pPr algn="ctr">
              <a:defRPr sz="2400" b="1" i="0">
                <a:solidFill>
                  <a:srgbClr val="087E83"/>
                </a:solidFill>
                <a:latin typeface="Aptos"/>
                <a:ea typeface="Aptos"/>
                <a:cs typeface="Aptos"/>
              </a:defRPr>
            </a:pPr>
            <a:r>
              <a:rPr sz="2400" b="1" i="0">
                <a:solidFill>
                  <a:srgbClr val="087E83"/>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6FAF858E-7A53-4E31-ACFD-746F096096CC}"/>
              </a:ext>
            </a:extLst>
          </p:cNvPr>
          <p:cNvSpPr>
            <a:spLocks xmlns:a="http://schemas.openxmlformats.org/drawingml/2006/main" noGrp="1"/>
          </p:cNvSpPr>
          <p:nvPr/>
        </p:nvSpPr>
        <p:spPr>
          <a:xfrm xmlns:a="http://schemas.openxmlformats.org/drawingml/2006/main">
            <a:off x="1543050" y="3257550"/>
            <a:ext cx="152400" cy="152400"/>
          </a:xfrm>
          <a:prstGeom xmlns:a="http://schemas.openxmlformats.org/drawingml/2006/main" prst="ellipse">
            <a:avLst/>
          </a:prstGeom>
          <a:solidFill xmlns:a="http://schemas.openxmlformats.org/drawingml/2006/main">
            <a:srgbClr val="EA705E"/>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B766162D-3827-4621-91E0-C93D78E7C314}"/>
              </a:ext>
            </a:extLst>
          </p:cNvPr>
          <p:cNvSpPr>
            <a:spLocks xmlns:a="http://schemas.openxmlformats.org/drawingml/2006/main" noGrp="1"/>
          </p:cNvSpPr>
          <p:nvPr/>
        </p:nvSpPr>
        <p:spPr>
          <a:xfrm xmlns:a="http://schemas.openxmlformats.org/drawingml/2006/main">
            <a:off x="1895475" y="3781425"/>
            <a:ext cx="152400" cy="152400"/>
          </a:xfrm>
          <a:prstGeom xmlns:a="http://schemas.openxmlformats.org/drawingml/2006/main" prst="ellipse">
            <a:avLst/>
          </a:prstGeom>
          <a:solidFill xmlns:a="http://schemas.openxmlformats.org/drawingml/2006/main">
            <a:srgbClr val="EA705E"/>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881D58EB-76AE-4B4B-BFEF-D9151F490275}"/>
              </a:ext>
            </a:extLst>
          </p:cNvPr>
          <p:cNvSpPr>
            <a:spLocks xmlns:a="http://schemas.openxmlformats.org/drawingml/2006/main" noGrp="1"/>
          </p:cNvSpPr>
          <p:nvPr/>
        </p:nvSpPr>
        <p:spPr>
          <a:xfrm xmlns:a="http://schemas.openxmlformats.org/drawingml/2006/main">
            <a:off x="2238375" y="3009900"/>
            <a:ext cx="152400" cy="152400"/>
          </a:xfrm>
          <a:prstGeom xmlns:a="http://schemas.openxmlformats.org/drawingml/2006/main" prst="ellipse">
            <a:avLst/>
          </a:prstGeom>
          <a:solidFill xmlns:a="http://schemas.openxmlformats.org/drawingml/2006/main">
            <a:srgbClr val="EA705E"/>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F000ADCB-0171-4550-9BEA-910469395BC0}"/>
              </a:ext>
            </a:extLst>
          </p:cNvPr>
          <p:cNvSpPr>
            <a:spLocks xmlns:a="http://schemas.openxmlformats.org/drawingml/2006/main" noGrp="1"/>
          </p:cNvSpPr>
          <p:nvPr/>
        </p:nvSpPr>
        <p:spPr>
          <a:xfrm xmlns:a="http://schemas.openxmlformats.org/drawingml/2006/main">
            <a:off x="2686050" y="4276725"/>
            <a:ext cx="152400" cy="152400"/>
          </a:xfrm>
          <a:prstGeom xmlns:a="http://schemas.openxmlformats.org/drawingml/2006/main" prst="ellipse">
            <a:avLst/>
          </a:prstGeom>
          <a:solidFill xmlns:a="http://schemas.openxmlformats.org/drawingml/2006/main">
            <a:srgbClr val="EA705E"/>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51B9C277-A5D9-4931-857E-586309F796C4}"/>
              </a:ext>
            </a:extLst>
          </p:cNvPr>
          <p:cNvSpPr>
            <a:spLocks xmlns:a="http://schemas.openxmlformats.org/drawingml/2006/main" noGrp="1"/>
          </p:cNvSpPr>
          <p:nvPr/>
        </p:nvSpPr>
        <p:spPr>
          <a:xfrm xmlns:a="http://schemas.openxmlformats.org/drawingml/2006/main">
            <a:off x="2990850" y="3438525"/>
            <a:ext cx="152400" cy="152400"/>
          </a:xfrm>
          <a:prstGeom xmlns:a="http://schemas.openxmlformats.org/drawingml/2006/main" prst="ellipse">
            <a:avLst/>
          </a:prstGeom>
          <a:solidFill xmlns:a="http://schemas.openxmlformats.org/drawingml/2006/main">
            <a:srgbClr val="EA705E"/>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B3E8E76C-8A1E-4A92-A1AE-BA6E1ACC62B1}"/>
              </a:ext>
            </a:extLst>
          </p:cNvPr>
          <p:cNvSpPr>
            <a:spLocks xmlns:a="http://schemas.openxmlformats.org/drawingml/2006/main" noGrp="1"/>
          </p:cNvSpPr>
          <p:nvPr/>
        </p:nvSpPr>
        <p:spPr>
          <a:xfrm xmlns:a="http://schemas.openxmlformats.org/drawingml/2006/main">
            <a:off x="3276600" y="3962400"/>
            <a:ext cx="152400" cy="152400"/>
          </a:xfrm>
          <a:prstGeom xmlns:a="http://schemas.openxmlformats.org/drawingml/2006/main" prst="ellipse">
            <a:avLst/>
          </a:prstGeom>
          <a:solidFill xmlns:a="http://schemas.openxmlformats.org/drawingml/2006/main">
            <a:srgbClr val="EA705E"/>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C44C610B-6ECA-45DA-9788-AAB351802572}"/>
              </a:ext>
            </a:extLst>
          </p:cNvPr>
          <p:cNvSpPr>
            <a:spLocks xmlns:a="http://schemas.openxmlformats.org/drawingml/2006/main" noGrp="1"/>
          </p:cNvSpPr>
          <p:nvPr/>
        </p:nvSpPr>
        <p:spPr>
          <a:xfrm xmlns:a="http://schemas.openxmlformats.org/drawingml/2006/main">
            <a:off x="914400" y="4600575"/>
            <a:ext cx="2238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1">
                <a:solidFill>
                  <a:srgbClr val="829296"/>
                </a:solidFill>
                <a:latin typeface="Aptos"/>
                <a:ea typeface="Aptos"/>
                <a:cs typeface="Aptos"/>
              </a:defRPr>
            </a:defPPr>
          </a:lstStyle>
          <a:p xmlns:a="http://schemas.openxmlformats.org/drawingml/2006/main">
            <a:pPr algn="l">
              <a:defRPr sz="900" b="0" i="1">
                <a:solidFill>
                  <a:srgbClr val="829296"/>
                </a:solidFill>
                <a:latin typeface="Aptos"/>
                <a:ea typeface="Aptos"/>
                <a:cs typeface="Aptos"/>
              </a:defRPr>
            </a:pPr>
            <a:r>
              <a:rPr sz="900" b="0" i="1">
                <a:solidFill>
                  <a:srgbClr val="829296"/>
                </a:solidFill>
                <a:latin typeface="Aptos"/>
                <a:ea typeface="Aptos"/>
                <a:cs typeface="Aptos"/>
              </a:rPr>
              <a:t>Illustrative cohort markers</a:t>
            </a:r>
          </a:p>
        </p:txBody>
      </p:sp>
      <p:sp>
        <p:nvSpPr>
          <p:cNvPr id="23" name="">
            <a:extLst xmlns:a="http://schemas.openxmlformats.org/drawingml/2006/main">
              <a:ext uri="{FF2B5EF4-FFF2-40B4-BE49-F238E27FC236}">
                <a16:creationId xmlns:a16="http://schemas.microsoft.com/office/drawing/2014/main" id="{CE8DE72C-48AD-4FBA-9955-7CC9EA703C09}"/>
              </a:ext>
            </a:extLst>
          </p:cNvPr>
          <p:cNvSpPr>
            <a:spLocks xmlns:a="http://schemas.openxmlformats.org/drawingml/2006/main" noGrp="1"/>
          </p:cNvSpPr>
          <p:nvPr/>
        </p:nvSpPr>
        <p:spPr>
          <a:xfrm xmlns:a="http://schemas.openxmlformats.org/drawingml/2006/main">
            <a:off x="3752850" y="4914900"/>
            <a:ext cx="1123950" cy="47625"/>
          </a:xfrm>
          <a:prstGeom xmlns:a="http://schemas.openxmlformats.org/drawingml/2006/main" prst="rect">
            <a:avLst/>
          </a:prstGeom>
          <a:solidFill xmlns:a="http://schemas.openxmlformats.org/drawingml/2006/main">
            <a:srgbClr val="3F91B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5FFF29C-141D-4335-B7BF-65E53C90A21A}"/>
              </a:ext>
            </a:extLst>
          </p:cNvPr>
          <p:cNvSpPr>
            <a:spLocks xmlns:a="http://schemas.openxmlformats.org/drawingml/2006/main" noGrp="1"/>
          </p:cNvSpPr>
          <p:nvPr/>
        </p:nvSpPr>
        <p:spPr>
          <a:xfrm xmlns:a="http://schemas.openxmlformats.org/drawingml/2006/main">
            <a:off x="3857625" y="4667250"/>
            <a:ext cx="95250" cy="95250"/>
          </a:xfrm>
          <a:prstGeom xmlns:a="http://schemas.openxmlformats.org/drawingml/2006/main" prst="ellipse">
            <a:avLst/>
          </a:prstGeom>
          <a:solidFill xmlns:a="http://schemas.openxmlformats.org/drawingml/2006/main">
            <a:srgbClr val="FFFFFF"/>
          </a:solidFill>
          <a:ln xmlns:a="http://schemas.openxmlformats.org/drawingml/2006/main" w="9525">
            <a:solidFill>
              <a:srgbClr val="3F91B5"/>
            </a:solidFill>
            <a:prstDash val="solid"/>
          </a:ln>
        </p:spPr>
      </p:sp>
      <p:sp>
        <p:nvSpPr>
          <p:cNvPr id="25" name="">
            <a:extLst xmlns:a="http://schemas.openxmlformats.org/drawingml/2006/main">
              <a:ext uri="{FF2B5EF4-FFF2-40B4-BE49-F238E27FC236}">
                <a16:creationId xmlns:a16="http://schemas.microsoft.com/office/drawing/2014/main" id="{09CEECBD-504E-44DD-A64C-E955FAFB7638}"/>
              </a:ext>
            </a:extLst>
          </p:cNvPr>
          <p:cNvSpPr>
            <a:spLocks xmlns:a="http://schemas.openxmlformats.org/drawingml/2006/main" noGrp="1"/>
          </p:cNvSpPr>
          <p:nvPr/>
        </p:nvSpPr>
        <p:spPr>
          <a:xfrm xmlns:a="http://schemas.openxmlformats.org/drawingml/2006/main">
            <a:off x="4038600" y="43148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3F91B5"/>
            </a:solidFill>
            <a:prstDash val="solid"/>
          </a:ln>
        </p:spPr>
      </p:sp>
      <p:sp>
        <p:nvSpPr>
          <p:cNvPr id="26" name="">
            <a:extLst xmlns:a="http://schemas.openxmlformats.org/drawingml/2006/main">
              <a:ext uri="{FF2B5EF4-FFF2-40B4-BE49-F238E27FC236}">
                <a16:creationId xmlns:a16="http://schemas.microsoft.com/office/drawing/2014/main" id="{3DEA7B4F-2FB8-40A0-BE40-1256A07F8DB0}"/>
              </a:ext>
            </a:extLst>
          </p:cNvPr>
          <p:cNvSpPr>
            <a:spLocks xmlns:a="http://schemas.openxmlformats.org/drawingml/2006/main" noGrp="1"/>
          </p:cNvSpPr>
          <p:nvPr/>
        </p:nvSpPr>
        <p:spPr>
          <a:xfrm xmlns:a="http://schemas.openxmlformats.org/drawingml/2006/main">
            <a:off x="4200525" y="3943350"/>
            <a:ext cx="95250" cy="95250"/>
          </a:xfrm>
          <a:prstGeom xmlns:a="http://schemas.openxmlformats.org/drawingml/2006/main" prst="ellipse">
            <a:avLst/>
          </a:prstGeom>
          <a:solidFill xmlns:a="http://schemas.openxmlformats.org/drawingml/2006/main">
            <a:srgbClr val="FFFFFF"/>
          </a:solidFill>
          <a:ln xmlns:a="http://schemas.openxmlformats.org/drawingml/2006/main" w="9525">
            <a:solidFill>
              <a:srgbClr val="3F91B5"/>
            </a:solidFill>
            <a:prstDash val="solid"/>
          </a:ln>
        </p:spPr>
      </p:sp>
      <p:sp>
        <p:nvSpPr>
          <p:cNvPr id="27" name="">
            <a:extLst xmlns:a="http://schemas.openxmlformats.org/drawingml/2006/main">
              <a:ext uri="{FF2B5EF4-FFF2-40B4-BE49-F238E27FC236}">
                <a16:creationId xmlns:a16="http://schemas.microsoft.com/office/drawing/2014/main" id="{BCB159FA-39A3-45A4-B403-8548F95C86CA}"/>
              </a:ext>
            </a:extLst>
          </p:cNvPr>
          <p:cNvSpPr>
            <a:spLocks xmlns:a="http://schemas.openxmlformats.org/drawingml/2006/main" noGrp="1"/>
          </p:cNvSpPr>
          <p:nvPr/>
        </p:nvSpPr>
        <p:spPr>
          <a:xfrm xmlns:a="http://schemas.openxmlformats.org/drawingml/2006/main">
            <a:off x="4381500" y="35909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3F91B5"/>
            </a:solidFill>
            <a:prstDash val="solid"/>
          </a:ln>
        </p:spPr>
      </p:sp>
      <p:sp>
        <p:nvSpPr>
          <p:cNvPr id="28" name="">
            <a:extLst xmlns:a="http://schemas.openxmlformats.org/drawingml/2006/main">
              <a:ext uri="{FF2B5EF4-FFF2-40B4-BE49-F238E27FC236}">
                <a16:creationId xmlns:a16="http://schemas.microsoft.com/office/drawing/2014/main" id="{099E88D8-B708-4FA8-A9B3-B89AFDC48AF0}"/>
              </a:ext>
            </a:extLst>
          </p:cNvPr>
          <p:cNvSpPr>
            <a:spLocks xmlns:a="http://schemas.openxmlformats.org/drawingml/2006/main" noGrp="1"/>
          </p:cNvSpPr>
          <p:nvPr/>
        </p:nvSpPr>
        <p:spPr>
          <a:xfrm xmlns:a="http://schemas.openxmlformats.org/drawingml/2006/main">
            <a:off x="4543425" y="3219450"/>
            <a:ext cx="95250" cy="95250"/>
          </a:xfrm>
          <a:prstGeom xmlns:a="http://schemas.openxmlformats.org/drawingml/2006/main" prst="ellipse">
            <a:avLst/>
          </a:prstGeom>
          <a:solidFill xmlns:a="http://schemas.openxmlformats.org/drawingml/2006/main">
            <a:srgbClr val="FFFFFF"/>
          </a:solidFill>
          <a:ln xmlns:a="http://schemas.openxmlformats.org/drawingml/2006/main" w="9525">
            <a:solidFill>
              <a:srgbClr val="3F91B5"/>
            </a:solidFill>
            <a:prstDash val="solid"/>
          </a:ln>
        </p:spPr>
      </p:sp>
      <p:sp>
        <p:nvSpPr>
          <p:cNvPr id="29" name="">
            <a:extLst xmlns:a="http://schemas.openxmlformats.org/drawingml/2006/main">
              <a:ext uri="{FF2B5EF4-FFF2-40B4-BE49-F238E27FC236}">
                <a16:creationId xmlns:a16="http://schemas.microsoft.com/office/drawing/2014/main" id="{4DB20701-315F-4DFC-8FD9-81F66FA54B3E}"/>
              </a:ext>
            </a:extLst>
          </p:cNvPr>
          <p:cNvSpPr>
            <a:spLocks xmlns:a="http://schemas.openxmlformats.org/drawingml/2006/main" noGrp="1"/>
          </p:cNvSpPr>
          <p:nvPr/>
        </p:nvSpPr>
        <p:spPr>
          <a:xfrm xmlns:a="http://schemas.openxmlformats.org/drawingml/2006/main">
            <a:off x="3381375" y="2419350"/>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444"/>
          </a:bodyPr>
          <a:lstStyle xmlns:a="http://schemas.openxmlformats.org/drawingml/2006/main">
            <a:defPPr algn="ctr">
              <a:defRPr sz="1125" b="1" i="0">
                <a:solidFill>
                  <a:srgbClr val="3F91B5"/>
                </a:solidFill>
                <a:latin typeface="Aptos"/>
                <a:ea typeface="Aptos"/>
                <a:cs typeface="Aptos"/>
              </a:defRPr>
            </a:defPPr>
          </a:lstStyle>
          <a:p xmlns:a="http://schemas.openxmlformats.org/drawingml/2006/main">
            <a:pPr algn="ctr">
              <a:defRPr sz="1125" b="1" i="0">
                <a:solidFill>
                  <a:srgbClr val="3F91B5"/>
                </a:solidFill>
                <a:latin typeface="Aptos"/>
                <a:ea typeface="Aptos"/>
                <a:cs typeface="Aptos"/>
              </a:defRPr>
            </a:pPr>
            <a:r>
              <a:rPr sz="1125" b="1" i="0">
                <a:solidFill>
                  <a:srgbClr val="3F91B5"/>
                </a:solidFill>
                <a:latin typeface="Aptos"/>
                <a:ea typeface="Aptos"/>
                <a:cs typeface="Aptos"/>
              </a:rPr>
              <a:t>Optional seabed airlift / bubble curtain</a:t>
            </a:r>
          </a:p>
        </p:txBody>
      </p:sp>
      <p:sp>
        <p:nvSpPr>
          <p:cNvPr id="30" name="">
            <a:extLst xmlns:a="http://schemas.openxmlformats.org/drawingml/2006/main">
              <a:ext uri="{FF2B5EF4-FFF2-40B4-BE49-F238E27FC236}">
                <a16:creationId xmlns:a16="http://schemas.microsoft.com/office/drawing/2014/main" id="{6E733EA9-AB0A-4287-A5B1-0B14D55DC7BC}"/>
              </a:ext>
            </a:extLst>
          </p:cNvPr>
          <p:cNvSpPr>
            <a:spLocks xmlns:a="http://schemas.openxmlformats.org/drawingml/2006/main" noGrp="1"/>
          </p:cNvSpPr>
          <p:nvPr/>
        </p:nvSpPr>
        <p:spPr>
          <a:xfrm xmlns:a="http://schemas.openxmlformats.org/drawingml/2006/main">
            <a:off x="3438525" y="2724150"/>
            <a:ext cx="19431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i="0">
                <a:solidFill>
                  <a:srgbClr val="566B72"/>
                </a:solidFill>
                <a:latin typeface="Aptos"/>
                <a:ea typeface="Aptos"/>
                <a:cs typeface="Aptos"/>
              </a:defRPr>
            </a:defPPr>
          </a:lstStyle>
          <a:p xmlns:a="http://schemas.openxmlformats.org/drawingml/2006/main">
            <a:pPr algn="ctr">
              <a:defRPr sz="900" b="0" i="0">
                <a:solidFill>
                  <a:srgbClr val="566B72"/>
                </a:solidFill>
                <a:latin typeface="Aptos"/>
                <a:ea typeface="Aptos"/>
                <a:cs typeface="Aptos"/>
              </a:defRPr>
            </a:pPr>
            <a:r>
              <a:rPr sz="900" b="0" i="0">
                <a:solidFill>
                  <a:srgbClr val="566B72"/>
                </a:solidFill>
                <a:latin typeface="Aptos"/>
                <a:ea typeface="Aptos"/>
                <a:cs typeface="Aptos"/>
              </a:rPr>
              <a:t>trial-only; off in reference result</a:t>
            </a:r>
          </a:p>
        </p:txBody>
      </p:sp>
      <p:sp>
        <p:nvSpPr>
          <p:cNvPr id="31" name="">
            <a:extLst xmlns:a="http://schemas.openxmlformats.org/drawingml/2006/main">
              <a:ext uri="{FF2B5EF4-FFF2-40B4-BE49-F238E27FC236}">
                <a16:creationId xmlns:a16="http://schemas.microsoft.com/office/drawing/2014/main" id="{0C31ABE9-7BC4-404F-AE95-6391E8D4E9CE}"/>
              </a:ext>
            </a:extLst>
          </p:cNvPr>
          <p:cNvSpPr>
            <a:spLocks xmlns:a="http://schemas.openxmlformats.org/drawingml/2006/main" noGrp="1"/>
          </p:cNvSpPr>
          <p:nvPr/>
        </p:nvSpPr>
        <p:spPr>
          <a:xfrm xmlns:a="http://schemas.openxmlformats.org/drawingml/2006/main">
            <a:off x="5448300" y="2276475"/>
            <a:ext cx="104775" cy="2590800"/>
          </a:xfrm>
          <a:prstGeom xmlns:a="http://schemas.openxmlformats.org/drawingml/2006/main" prst="rect">
            <a:avLst/>
          </a:prstGeom>
          <a:solidFill xmlns:a="http://schemas.openxmlformats.org/drawingml/2006/main">
            <a:srgbClr val="087E83"/>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7BAFF12-22D9-4D1A-A546-D33B92C35A4A}"/>
              </a:ext>
            </a:extLst>
          </p:cNvPr>
          <p:cNvSpPr>
            <a:spLocks xmlns:a="http://schemas.openxmlformats.org/drawingml/2006/main" noGrp="1"/>
          </p:cNvSpPr>
          <p:nvPr/>
        </p:nvSpPr>
        <p:spPr>
          <a:xfrm xmlns:a="http://schemas.openxmlformats.org/drawingml/2006/main">
            <a:off x="7820025" y="2276475"/>
            <a:ext cx="104775" cy="2590800"/>
          </a:xfrm>
          <a:prstGeom xmlns:a="http://schemas.openxmlformats.org/drawingml/2006/main" prst="rect">
            <a:avLst/>
          </a:prstGeom>
          <a:solidFill xmlns:a="http://schemas.openxmlformats.org/drawingml/2006/main">
            <a:srgbClr val="EA705E"/>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E0751CB-4CEB-43BA-81E6-ADE93C327177}"/>
              </a:ext>
            </a:extLst>
          </p:cNvPr>
          <p:cNvSpPr>
            <a:spLocks xmlns:a="http://schemas.openxmlformats.org/drawingml/2006/main" noGrp="1"/>
          </p:cNvSpPr>
          <p:nvPr/>
        </p:nvSpPr>
        <p:spPr>
          <a:xfrm xmlns:a="http://schemas.openxmlformats.org/drawingml/2006/main">
            <a:off x="5019675" y="2038350"/>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087E83"/>
                </a:solidFill>
                <a:latin typeface="Aptos"/>
                <a:ea typeface="Aptos"/>
                <a:cs typeface="Aptos"/>
              </a:defRPr>
            </a:defPPr>
          </a:lstStyle>
          <a:p xmlns:a="http://schemas.openxmlformats.org/drawingml/2006/main">
            <a:pPr algn="ctr">
              <a:defRPr sz="975" b="1" i="0">
                <a:solidFill>
                  <a:srgbClr val="087E83"/>
                </a:solidFill>
                <a:latin typeface="Aptos"/>
                <a:ea typeface="Aptos"/>
                <a:cs typeface="Aptos"/>
              </a:defRPr>
            </a:pPr>
            <a:r>
              <a:rPr sz="975" b="1" i="0">
                <a:solidFill>
                  <a:srgbClr val="087E83"/>
                </a:solidFill>
                <a:latin typeface="Aptos"/>
                <a:ea typeface="Aptos"/>
                <a:cs typeface="Aptos"/>
              </a:rPr>
              <a:t>OUTER GUIDE</a:t>
            </a:r>
          </a:p>
        </p:txBody>
      </p:sp>
      <p:sp>
        <p:nvSpPr>
          <p:cNvPr id="34" name="">
            <a:extLst xmlns:a="http://schemas.openxmlformats.org/drawingml/2006/main">
              <a:ext uri="{FF2B5EF4-FFF2-40B4-BE49-F238E27FC236}">
                <a16:creationId xmlns:a16="http://schemas.microsoft.com/office/drawing/2014/main" id="{0F7D25D3-76DD-40FA-8033-59B0794EB555}"/>
              </a:ext>
            </a:extLst>
          </p:cNvPr>
          <p:cNvSpPr>
            <a:spLocks xmlns:a="http://schemas.openxmlformats.org/drawingml/2006/main" noGrp="1"/>
          </p:cNvSpPr>
          <p:nvPr/>
        </p:nvSpPr>
        <p:spPr>
          <a:xfrm xmlns:a="http://schemas.openxmlformats.org/drawingml/2006/main">
            <a:off x="7391400" y="2038350"/>
            <a:ext cx="1095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EA705E"/>
                </a:solidFill>
                <a:latin typeface="Aptos"/>
                <a:ea typeface="Aptos"/>
                <a:cs typeface="Aptos"/>
              </a:defRPr>
            </a:defPPr>
          </a:lstStyle>
          <a:p xmlns:a="http://schemas.openxmlformats.org/drawingml/2006/main">
            <a:pPr algn="ctr">
              <a:defRPr sz="975" b="1" i="0">
                <a:solidFill>
                  <a:srgbClr val="EA705E"/>
                </a:solidFill>
                <a:latin typeface="Aptos"/>
                <a:ea typeface="Aptos"/>
                <a:cs typeface="Aptos"/>
              </a:defRPr>
            </a:pPr>
            <a:r>
              <a:rPr sz="975" b="1" i="0">
                <a:solidFill>
                  <a:srgbClr val="EA705E"/>
                </a:solidFill>
                <a:latin typeface="Aptos"/>
                <a:ea typeface="Aptos"/>
                <a:cs typeface="Aptos"/>
              </a:rPr>
              <a:t>SECOND GUIDE</a:t>
            </a:r>
          </a:p>
        </p:txBody>
      </p:sp>
      <p:sp>
        <p:nvSpPr>
          <p:cNvPr id="35" name="">
            <a:extLst xmlns:a="http://schemas.openxmlformats.org/drawingml/2006/main">
              <a:ext uri="{FF2B5EF4-FFF2-40B4-BE49-F238E27FC236}">
                <a16:creationId xmlns:a16="http://schemas.microsoft.com/office/drawing/2014/main" id="{1D6C63D4-D0B8-4631-BAAE-F003195F837F}"/>
              </a:ext>
            </a:extLst>
          </p:cNvPr>
          <p:cNvSpPr>
            <a:spLocks xmlns:a="http://schemas.openxmlformats.org/drawingml/2006/main" noGrp="1"/>
          </p:cNvSpPr>
          <p:nvPr/>
        </p:nvSpPr>
        <p:spPr>
          <a:xfrm xmlns:a="http://schemas.openxmlformats.org/drawingml/2006/main">
            <a:off x="5124450" y="4962525"/>
            <a:ext cx="762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566B72"/>
                </a:solidFill>
                <a:latin typeface="Aptos"/>
                <a:ea typeface="Aptos"/>
                <a:cs typeface="Aptos"/>
              </a:defRPr>
            </a:defPPr>
          </a:lstStyle>
          <a:p xmlns:a="http://schemas.openxmlformats.org/drawingml/2006/main">
            <a:pPr algn="ctr">
              <a:defRPr sz="825" b="0" i="0">
                <a:solidFill>
                  <a:srgbClr val="566B72"/>
                </a:solidFill>
                <a:latin typeface="Aptos"/>
                <a:ea typeface="Aptos"/>
                <a:cs typeface="Aptos"/>
              </a:defRPr>
            </a:pPr>
            <a:r>
              <a:rPr sz="825" b="0" i="0">
                <a:solidFill>
                  <a:srgbClr val="566B72"/>
                </a:solidFill>
                <a:latin typeface="Aptos"/>
                <a:ea typeface="Aptos"/>
                <a:cs typeface="Aptos"/>
              </a:rPr>
              <a:t>surface-to-near-bed skirt</a:t>
            </a:r>
          </a:p>
        </p:txBody>
      </p:sp>
      <p:sp>
        <p:nvSpPr>
          <p:cNvPr id="36" name="">
            <a:extLst xmlns:a="http://schemas.openxmlformats.org/drawingml/2006/main">
              <a:ext uri="{FF2B5EF4-FFF2-40B4-BE49-F238E27FC236}">
                <a16:creationId xmlns:a16="http://schemas.microsoft.com/office/drawing/2014/main" id="{AFD9BBE7-2D23-4CD7-B833-40D4BEFA4EC9}"/>
              </a:ext>
            </a:extLst>
          </p:cNvPr>
          <p:cNvSpPr>
            <a:spLocks xmlns:a="http://schemas.openxmlformats.org/drawingml/2006/main" noGrp="1"/>
          </p:cNvSpPr>
          <p:nvPr/>
        </p:nvSpPr>
        <p:spPr>
          <a:xfrm xmlns:a="http://schemas.openxmlformats.org/drawingml/2006/main">
            <a:off x="7486650" y="4962525"/>
            <a:ext cx="7810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566B72"/>
                </a:solidFill>
                <a:latin typeface="Aptos"/>
                <a:ea typeface="Aptos"/>
                <a:cs typeface="Aptos"/>
              </a:defRPr>
            </a:defPPr>
          </a:lstStyle>
          <a:p xmlns:a="http://schemas.openxmlformats.org/drawingml/2006/main">
            <a:pPr algn="ctr">
              <a:defRPr sz="825" b="0" i="0">
                <a:solidFill>
                  <a:srgbClr val="566B72"/>
                </a:solidFill>
                <a:latin typeface="Aptos"/>
                <a:ea typeface="Aptos"/>
                <a:cs typeface="Aptos"/>
              </a:defRPr>
            </a:pPr>
            <a:r>
              <a:rPr sz="825" b="0" i="0">
                <a:solidFill>
                  <a:srgbClr val="566B72"/>
                </a:solidFill>
                <a:latin typeface="Aptos"/>
                <a:ea typeface="Aptos"/>
                <a:cs typeface="Aptos"/>
              </a:rPr>
              <a:t>surface-to-near-bed skirt</a:t>
            </a:r>
          </a:p>
        </p:txBody>
      </p:sp>
      <p:sp>
        <p:nvSpPr>
          <p:cNvPr id="37" name="">
            <a:extLst xmlns:a="http://schemas.openxmlformats.org/drawingml/2006/main">
              <a:ext uri="{FF2B5EF4-FFF2-40B4-BE49-F238E27FC236}">
                <a16:creationId xmlns:a16="http://schemas.microsoft.com/office/drawing/2014/main" id="{C062A791-2F89-479F-A44C-CFBAD5CAD6FC}"/>
              </a:ext>
            </a:extLst>
          </p:cNvPr>
          <p:cNvSpPr>
            <a:spLocks xmlns:a="http://schemas.openxmlformats.org/drawingml/2006/main" noGrp="1"/>
          </p:cNvSpPr>
          <p:nvPr/>
        </p:nvSpPr>
        <p:spPr>
          <a:xfrm xmlns:a="http://schemas.openxmlformats.org/drawingml/2006/main">
            <a:off x="5857875" y="2400300"/>
            <a:ext cx="1362075"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087E83"/>
            </a:solidFill>
            <a:prstDash val="solid"/>
          </a:ln>
        </p:spPr>
      </p:sp>
      <p:sp>
        <p:nvSpPr>
          <p:cNvPr id="38" name="">
            <a:extLst xmlns:a="http://schemas.openxmlformats.org/drawingml/2006/main">
              <a:ext uri="{FF2B5EF4-FFF2-40B4-BE49-F238E27FC236}">
                <a16:creationId xmlns:a16="http://schemas.microsoft.com/office/drawing/2014/main" id="{1D963F11-3882-4B95-A1C5-642A0FFB8D95}"/>
              </a:ext>
            </a:extLst>
          </p:cNvPr>
          <p:cNvSpPr>
            <a:spLocks xmlns:a="http://schemas.openxmlformats.org/drawingml/2006/main" noGrp="1"/>
          </p:cNvSpPr>
          <p:nvPr/>
        </p:nvSpPr>
        <p:spPr>
          <a:xfrm xmlns:a="http://schemas.openxmlformats.org/drawingml/2006/main">
            <a:off x="5972175" y="2505075"/>
            <a:ext cx="1133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i="0">
                <a:solidFill>
                  <a:srgbClr val="102B39"/>
                </a:solidFill>
                <a:latin typeface="Aptos"/>
                <a:ea typeface="Aptos"/>
                <a:cs typeface="Aptos"/>
              </a:defRPr>
            </a:defPPr>
          </a:lstStyle>
          <a:p xmlns:a="http://schemas.openxmlformats.org/drawingml/2006/main">
            <a:pPr algn="ctr">
              <a:defRPr sz="1050" b="1" i="0">
                <a:solidFill>
                  <a:srgbClr val="102B39"/>
                </a:solidFill>
                <a:latin typeface="Aptos"/>
                <a:ea typeface="Aptos"/>
                <a:cs typeface="Aptos"/>
              </a:defRPr>
            </a:pPr>
            <a:r>
              <a:rPr sz="1050" b="1" i="0">
                <a:solidFill>
                  <a:srgbClr val="102B39"/>
                </a:solidFill>
                <a:latin typeface="Aptos"/>
                <a:ea typeface="Aptos"/>
                <a:cs typeface="Aptos"/>
              </a:rPr>
              <a:t>GENTLE WET</a:t>
            </a:r>
          </a:p>
          <a:p xmlns:a="http://schemas.openxmlformats.org/drawingml/2006/main">
            <a:pPr algn="ctr">
              <a:defRPr sz="1050" b="1" i="0">
                <a:solidFill>
                  <a:srgbClr val="102B39"/>
                </a:solidFill>
                <a:latin typeface="Aptos"/>
                <a:ea typeface="Aptos"/>
                <a:cs typeface="Aptos"/>
              </a:defRPr>
            </a:pPr>
            <a:r>
              <a:rPr sz="1050" b="1" i="0">
                <a:solidFill>
                  <a:srgbClr val="102B39"/>
                </a:solidFill>
                <a:latin typeface="Aptos"/>
                <a:ea typeface="Aptos"/>
                <a:cs typeface="Aptos"/>
              </a:rPr>
              <a:t>CONVEYOR + LIFT</a:t>
            </a:r>
          </a:p>
        </p:txBody>
      </p:sp>
      <p:sp>
        <p:nvSpPr>
          <p:cNvPr id="39" name="">
            <a:extLst xmlns:a="http://schemas.openxmlformats.org/drawingml/2006/main">
              <a:ext uri="{FF2B5EF4-FFF2-40B4-BE49-F238E27FC236}">
                <a16:creationId xmlns:a16="http://schemas.microsoft.com/office/drawing/2014/main" id="{2E1FA276-E643-4CD4-A6F3-081EA33EC92A}"/>
              </a:ext>
            </a:extLst>
          </p:cNvPr>
          <p:cNvSpPr>
            <a:spLocks xmlns:a="http://schemas.openxmlformats.org/drawingml/2006/main" noGrp="1"/>
          </p:cNvSpPr>
          <p:nvPr/>
        </p:nvSpPr>
        <p:spPr>
          <a:xfrm xmlns:a="http://schemas.openxmlformats.org/drawingml/2006/main">
            <a:off x="8315325" y="2400300"/>
            <a:ext cx="1362075" cy="533400"/>
          </a:xfrm>
          <a:prstGeom xmlns:a="http://schemas.openxmlformats.org/drawingml/2006/main" prst="rect">
            <a:avLst/>
          </a:prstGeom>
          <a:solidFill xmlns:a="http://schemas.openxmlformats.org/drawingml/2006/main">
            <a:srgbClr val="FFFFFF"/>
          </a:solidFill>
          <a:ln xmlns:a="http://schemas.openxmlformats.org/drawingml/2006/main" w="19050">
            <a:solidFill>
              <a:srgbClr val="EA705E"/>
            </a:solidFill>
            <a:prstDash val="solid"/>
          </a:ln>
        </p:spPr>
      </p:sp>
      <p:sp>
        <p:nvSpPr>
          <p:cNvPr id="40" name="">
            <a:extLst xmlns:a="http://schemas.openxmlformats.org/drawingml/2006/main">
              <a:ext uri="{FF2B5EF4-FFF2-40B4-BE49-F238E27FC236}">
                <a16:creationId xmlns:a16="http://schemas.microsoft.com/office/drawing/2014/main" id="{A4A13EC8-D325-4A84-A57E-DD5DDD94ED85}"/>
              </a:ext>
            </a:extLst>
          </p:cNvPr>
          <p:cNvSpPr>
            <a:spLocks xmlns:a="http://schemas.openxmlformats.org/drawingml/2006/main" noGrp="1"/>
          </p:cNvSpPr>
          <p:nvPr/>
        </p:nvSpPr>
        <p:spPr>
          <a:xfrm xmlns:a="http://schemas.openxmlformats.org/drawingml/2006/main">
            <a:off x="8429625" y="2505075"/>
            <a:ext cx="1133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1" i="0">
                <a:solidFill>
                  <a:srgbClr val="102B39"/>
                </a:solidFill>
                <a:latin typeface="Aptos"/>
                <a:ea typeface="Aptos"/>
                <a:cs typeface="Aptos"/>
              </a:defRPr>
            </a:defPPr>
          </a:lstStyle>
          <a:p xmlns:a="http://schemas.openxmlformats.org/drawingml/2006/main">
            <a:pPr algn="ctr">
              <a:defRPr sz="1050" b="1" i="0">
                <a:solidFill>
                  <a:srgbClr val="102B39"/>
                </a:solidFill>
                <a:latin typeface="Aptos"/>
                <a:ea typeface="Aptos"/>
                <a:cs typeface="Aptos"/>
              </a:defRPr>
            </a:pPr>
            <a:r>
              <a:rPr sz="1050" b="1" i="0">
                <a:solidFill>
                  <a:srgbClr val="102B39"/>
                </a:solidFill>
                <a:latin typeface="Aptos"/>
                <a:ea typeface="Aptos"/>
                <a:cs typeface="Aptos"/>
              </a:rPr>
              <a:t>GENTLE WET</a:t>
            </a:r>
          </a:p>
          <a:p xmlns:a="http://schemas.openxmlformats.org/drawingml/2006/main">
            <a:pPr algn="ctr">
              <a:defRPr sz="1050" b="1" i="0">
                <a:solidFill>
                  <a:srgbClr val="102B39"/>
                </a:solidFill>
                <a:latin typeface="Aptos"/>
                <a:ea typeface="Aptos"/>
                <a:cs typeface="Aptos"/>
              </a:defRPr>
            </a:pPr>
            <a:r>
              <a:rPr sz="1050" b="1" i="0">
                <a:solidFill>
                  <a:srgbClr val="102B39"/>
                </a:solidFill>
                <a:latin typeface="Aptos"/>
                <a:ea typeface="Aptos"/>
                <a:cs typeface="Aptos"/>
              </a:rPr>
              <a:t>CONVEYOR + LIFT</a:t>
            </a:r>
          </a:p>
        </p:txBody>
      </p:sp>
      <p:sp>
        <p:nvSpPr>
          <p:cNvPr id="41" name="">
            <a:extLst xmlns:a="http://schemas.openxmlformats.org/drawingml/2006/main">
              <a:ext uri="{FF2B5EF4-FFF2-40B4-BE49-F238E27FC236}">
                <a16:creationId xmlns:a16="http://schemas.microsoft.com/office/drawing/2014/main" id="{39138F4E-49EE-439E-9666-DE167FB37B9F}"/>
              </a:ext>
            </a:extLst>
          </p:cNvPr>
          <p:cNvSpPr>
            <a:spLocks xmlns:a="http://schemas.openxmlformats.org/drawingml/2006/main" noGrp="1"/>
          </p:cNvSpPr>
          <p:nvPr/>
        </p:nvSpPr>
        <p:spPr>
          <a:xfrm xmlns:a="http://schemas.openxmlformats.org/drawingml/2006/main">
            <a:off x="9839325" y="3133725"/>
            <a:ext cx="1362075" cy="942975"/>
          </a:xfrm>
          <a:prstGeom xmlns:a="http://schemas.openxmlformats.org/drawingml/2006/main" prst="rect">
            <a:avLst/>
          </a:prstGeom>
          <a:solidFill xmlns:a="http://schemas.openxmlformats.org/drawingml/2006/main">
            <a:srgbClr val="082332"/>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F18700F5-A362-4298-8DDB-FC155749C6D3}"/>
              </a:ext>
            </a:extLst>
          </p:cNvPr>
          <p:cNvSpPr>
            <a:spLocks xmlns:a="http://schemas.openxmlformats.org/drawingml/2006/main" noGrp="1"/>
          </p:cNvSpPr>
          <p:nvPr/>
        </p:nvSpPr>
        <p:spPr>
          <a:xfrm xmlns:a="http://schemas.openxmlformats.org/drawingml/2006/main">
            <a:off x="9982200" y="3333750"/>
            <a:ext cx="10763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1" i="0">
                <a:solidFill>
                  <a:srgbClr val="FFFFFF"/>
                </a:solidFill>
                <a:latin typeface="Aptos"/>
                <a:ea typeface="Aptos"/>
                <a:cs typeface="Aptos"/>
              </a:defRPr>
            </a:defPPr>
          </a:lstStyle>
          <a:p xmlns:a="http://schemas.openxmlformats.org/drawingml/2006/main">
            <a:pPr algn="ctr">
              <a:defRPr sz="1200" b="1" i="0">
                <a:solidFill>
                  <a:srgbClr val="FFFFFF"/>
                </a:solidFill>
                <a:latin typeface="Aptos"/>
                <a:ea typeface="Aptos"/>
                <a:cs typeface="Aptos"/>
              </a:defRPr>
            </a:pPr>
            <a:r>
              <a:rPr sz="1200" b="1" i="0">
                <a:solidFill>
                  <a:srgbClr val="FFFFFF"/>
                </a:solidFill>
                <a:latin typeface="Aptos"/>
                <a:ea typeface="Aptos"/>
                <a:cs typeface="Aptos"/>
              </a:rPr>
              <a:t>SUPERVISED</a:t>
            </a:r>
          </a:p>
          <a:p xmlns:a="http://schemas.openxmlformats.org/drawingml/2006/main">
            <a:pPr algn="ctr">
              <a:defRPr sz="1200" b="1" i="0">
                <a:solidFill>
                  <a:srgbClr val="FFFFFF"/>
                </a:solidFill>
                <a:latin typeface="Aptos"/>
                <a:ea typeface="Aptos"/>
                <a:cs typeface="Aptos"/>
              </a:defRPr>
            </a:pPr>
            <a:r>
              <a:rPr sz="1200" b="1" i="0">
                <a:solidFill>
                  <a:srgbClr val="FFFFFF"/>
                </a:solidFill>
                <a:latin typeface="Aptos"/>
                <a:ea typeface="Aptos"/>
                <a:cs typeface="Aptos"/>
              </a:rPr>
              <a:t>WET RECEIVER</a:t>
            </a:r>
          </a:p>
        </p:txBody>
      </p:sp>
      <p:sp>
        <p:nvSpPr>
          <p:cNvPr id="43" name="">
            <a:extLst xmlns:a="http://schemas.openxmlformats.org/drawingml/2006/main">
              <a:ext uri="{FF2B5EF4-FFF2-40B4-BE49-F238E27FC236}">
                <a16:creationId xmlns:a16="http://schemas.microsoft.com/office/drawing/2014/main" id="{BF9FB3F8-7EE7-456F-8702-40F31F874D76}"/>
              </a:ext>
            </a:extLst>
          </p:cNvPr>
          <p:cNvSpPr>
            <a:spLocks xmlns:a="http://schemas.openxmlformats.org/drawingml/2006/main" noGrp="1"/>
          </p:cNvSpPr>
          <p:nvPr/>
        </p:nvSpPr>
        <p:spPr>
          <a:xfrm xmlns:a="http://schemas.openxmlformats.org/drawingml/2006/main">
            <a:off x="9667875" y="2524125"/>
            <a:ext cx="323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i="0">
                <a:solidFill>
                  <a:srgbClr val="087E83"/>
                </a:solidFill>
                <a:latin typeface="Aptos"/>
                <a:ea typeface="Aptos"/>
                <a:cs typeface="Aptos"/>
              </a:defRPr>
            </a:defPPr>
          </a:lstStyle>
          <a:p xmlns:a="http://schemas.openxmlformats.org/drawingml/2006/main">
            <a:pPr algn="ctr">
              <a:defRPr sz="2100" b="1" i="0">
                <a:solidFill>
                  <a:srgbClr val="087E83"/>
                </a:solidFill>
                <a:latin typeface="Aptos"/>
                <a:ea typeface="Aptos"/>
                <a:cs typeface="Aptos"/>
              </a:defRPr>
            </a:pPr>
            <a:r>
              <a:rPr sz="2100" b="1" i="0">
                <a:solidFill>
                  <a:srgbClr val="087E83"/>
                </a:solidFill>
                <a:latin typeface="Aptos"/>
                <a:ea typeface="Aptos"/>
                <a:cs typeface="Aptos"/>
              </a:rPr>
              <a:t>→</a:t>
            </a:r>
          </a:p>
        </p:txBody>
      </p:sp>
      <p:sp>
        <p:nvSpPr>
          <p:cNvPr id="44" name="">
            <a:extLst xmlns:a="http://schemas.openxmlformats.org/drawingml/2006/main">
              <a:ext uri="{FF2B5EF4-FFF2-40B4-BE49-F238E27FC236}">
                <a16:creationId xmlns:a16="http://schemas.microsoft.com/office/drawing/2014/main" id="{CA25DEA4-07BE-463B-9C71-DE597FC9DD5A}"/>
              </a:ext>
            </a:extLst>
          </p:cNvPr>
          <p:cNvSpPr>
            <a:spLocks xmlns:a="http://schemas.openxmlformats.org/drawingml/2006/main" noGrp="1"/>
          </p:cNvSpPr>
          <p:nvPr/>
        </p:nvSpPr>
        <p:spPr>
          <a:xfrm xmlns:a="http://schemas.openxmlformats.org/drawingml/2006/main">
            <a:off x="8391525" y="4429125"/>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32"/>
          </a:bodyPr>
          <a:lstStyle xmlns:a="http://schemas.openxmlformats.org/drawingml/2006/main">
            <a:defPPr algn="ctr">
              <a:defRPr sz="1050" b="1" i="0">
                <a:solidFill>
                  <a:srgbClr val="102B39"/>
                </a:solidFill>
                <a:latin typeface="Aptos"/>
                <a:ea typeface="Aptos"/>
                <a:cs typeface="Aptos"/>
              </a:defRPr>
            </a:defPPr>
          </a:lstStyle>
          <a:p xmlns:a="http://schemas.openxmlformats.org/drawingml/2006/main">
            <a:pPr algn="ctr">
              <a:defRPr sz="1050" b="1" i="0">
                <a:solidFill>
                  <a:srgbClr val="102B39"/>
                </a:solidFill>
                <a:latin typeface="Aptos"/>
                <a:ea typeface="Aptos"/>
                <a:cs typeface="Aptos"/>
              </a:defRPr>
            </a:pPr>
            <a:r>
              <a:rPr sz="1050" b="1" i="0">
                <a:solidFill>
                  <a:srgbClr val="102B39"/>
                </a:solidFill>
                <a:latin typeface="Aptos"/>
                <a:ea typeface="Aptos"/>
                <a:cs typeface="Aptos"/>
              </a:rPr>
              <a:t>Existing intake screens remain independent backup</a:t>
            </a:r>
          </a:p>
        </p:txBody>
      </p:sp>
      <p:sp>
        <p:nvSpPr>
          <p:cNvPr id="45" name="">
            <a:extLst xmlns:a="http://schemas.openxmlformats.org/drawingml/2006/main">
              <a:ext uri="{FF2B5EF4-FFF2-40B4-BE49-F238E27FC236}">
                <a16:creationId xmlns:a16="http://schemas.microsoft.com/office/drawing/2014/main" id="{646475F8-EC30-4813-A293-6D35DD1E1910}"/>
              </a:ext>
            </a:extLst>
          </p:cNvPr>
          <p:cNvSpPr>
            <a:spLocks xmlns:a="http://schemas.openxmlformats.org/drawingml/2006/main" noGrp="1"/>
          </p:cNvSpPr>
          <p:nvPr/>
        </p:nvSpPr>
        <p:spPr>
          <a:xfrm xmlns:a="http://schemas.openxmlformats.org/drawingml/2006/main">
            <a:off x="9658350" y="21240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087E83"/>
                </a:solidFill>
                <a:latin typeface="Aptos"/>
                <a:ea typeface="Aptos"/>
                <a:cs typeface="Aptos"/>
              </a:defRPr>
            </a:defPPr>
          </a:lstStyle>
          <a:p xmlns:a="http://schemas.openxmlformats.org/drawingml/2006/main">
            <a:pPr algn="r">
              <a:defRPr sz="975" b="1" i="0">
                <a:solidFill>
                  <a:srgbClr val="087E83"/>
                </a:solidFill>
                <a:latin typeface="Aptos"/>
                <a:ea typeface="Aptos"/>
                <a:cs typeface="Aptos"/>
              </a:defRPr>
            </a:pPr>
            <a:r>
              <a:rPr sz="975" b="1" i="0">
                <a:solidFill>
                  <a:srgbClr val="087E83"/>
                </a:solidFill>
                <a:latin typeface="Aptos"/>
                <a:ea typeface="Aptos"/>
                <a:cs typeface="Aptos"/>
              </a:rPr>
              <a:t>Current →</a:t>
            </a:r>
          </a:p>
        </p:txBody>
      </p:sp>
      <p:sp>
        <p:nvSpPr>
          <p:cNvPr id="46" name="">
            <a:extLst xmlns:a="http://schemas.openxmlformats.org/drawingml/2006/main">
              <a:ext uri="{FF2B5EF4-FFF2-40B4-BE49-F238E27FC236}">
                <a16:creationId xmlns:a16="http://schemas.microsoft.com/office/drawing/2014/main" id="{A43DC329-C5B3-4216-BD9C-B89625D7ADE5}"/>
              </a:ext>
            </a:extLst>
          </p:cNvPr>
          <p:cNvSpPr>
            <a:spLocks xmlns:a="http://schemas.openxmlformats.org/drawingml/2006/main" noGrp="1"/>
          </p:cNvSpPr>
          <p:nvPr/>
        </p:nvSpPr>
        <p:spPr>
          <a:xfrm xmlns:a="http://schemas.openxmlformats.org/drawingml/2006/main">
            <a:off x="838200" y="5581650"/>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829296"/>
                </a:solidFill>
                <a:latin typeface="Aptos"/>
                <a:ea typeface="Aptos"/>
                <a:cs typeface="Aptos"/>
              </a:defRPr>
            </a:defPPr>
          </a:lstStyle>
          <a:p xmlns:a="http://schemas.openxmlformats.org/drawingml/2006/main">
            <a:pPr algn="l">
              <a:defRPr sz="975" b="0" i="0">
                <a:solidFill>
                  <a:srgbClr val="829296"/>
                </a:solidFill>
                <a:latin typeface="Aptos"/>
                <a:ea typeface="Aptos"/>
                <a:cs typeface="Aptos"/>
              </a:defRPr>
            </a:pPr>
            <a:r>
              <a:rPr sz="975" b="0" i="0">
                <a:solidFill>
                  <a:srgbClr val="829296"/>
                </a:solidFill>
                <a:latin typeface="Aptos"/>
                <a:ea typeface="Aptos"/>
                <a:cs typeface="Aptos"/>
              </a:rPr>
              <a:t>The model assumes 12 m water depth; actual bathymetry and side/bottom escape paths are unknown.</a:t>
            </a:r>
          </a:p>
        </p:txBody>
      </p:sp>
      <p:sp>
        <p:nvSpPr>
          <p:cNvPr id="47" name="">
            <a:extLst xmlns:a="http://schemas.openxmlformats.org/drawingml/2006/main">
              <a:ext uri="{FF2B5EF4-FFF2-40B4-BE49-F238E27FC236}">
                <a16:creationId xmlns:a16="http://schemas.microsoft.com/office/drawing/2014/main" id="{C7165E60-FF6A-445B-A61E-897D2A8111D3}"/>
              </a:ext>
            </a:extLst>
          </p:cNvPr>
          <p:cNvSpPr>
            <a:spLocks xmlns:a="http://schemas.openxmlformats.org/drawingml/2006/main" noGrp="1"/>
          </p:cNvSpPr>
          <p:nvPr/>
        </p:nvSpPr>
        <p:spPr>
          <a:xfrm xmlns:a="http://schemas.openxmlformats.org/drawingml/2006/main">
            <a:off x="552450" y="6457950"/>
            <a:ext cx="1108710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4E1D756-585B-430B-96C1-20E4389E23DA}"/>
              </a:ext>
            </a:extLst>
          </p:cNvPr>
          <p:cNvSpPr>
            <a:spLocks xmlns:a="http://schemas.openxmlformats.org/drawingml/2006/main" noGrp="1"/>
          </p:cNvSpPr>
          <p:nvPr/>
        </p:nvSpPr>
        <p:spPr>
          <a:xfrm xmlns:a="http://schemas.openxmlformats.org/drawingml/2006/main">
            <a:off x="552450" y="655320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66B72"/>
                </a:solidFill>
                <a:latin typeface="Aptos"/>
                <a:ea typeface="Aptos"/>
                <a:cs typeface="Aptos"/>
              </a:defRPr>
            </a:defPPr>
          </a:lstStyle>
          <a:p xmlns:a="http://schemas.openxmlformats.org/drawingml/2006/main">
            <a:pPr algn="l">
              <a:defRPr sz="900" b="1" i="0">
                <a:solidFill>
                  <a:srgbClr val="566B72"/>
                </a:solidFill>
                <a:latin typeface="Aptos"/>
                <a:ea typeface="Aptos"/>
                <a:cs typeface="Aptos"/>
              </a:defRPr>
            </a:pPr>
            <a:r>
              <a:rPr sz="900" b="1" i="0">
                <a:solidFill>
                  <a:srgbClr val="566B72"/>
                </a:solidFill>
                <a:latin typeface="Aptos"/>
                <a:ea typeface="Aptos"/>
                <a:cs typeface="Aptos"/>
              </a:rPr>
              <a:t>MARLIN   /   ATP 2026 • ENEC CHALLENGE</a:t>
            </a:r>
          </a:p>
        </p:txBody>
      </p:sp>
      <p:sp>
        <p:nvSpPr>
          <p:cNvPr id="49" name="">
            <a:extLst xmlns:a="http://schemas.openxmlformats.org/drawingml/2006/main">
              <a:ext uri="{FF2B5EF4-FFF2-40B4-BE49-F238E27FC236}">
                <a16:creationId xmlns:a16="http://schemas.microsoft.com/office/drawing/2014/main" id="{E5BC4262-41BE-4193-BB0A-89C3A0577DAD}"/>
              </a:ext>
            </a:extLst>
          </p:cNvPr>
          <p:cNvSpPr>
            <a:spLocks xmlns:a="http://schemas.openxmlformats.org/drawingml/2006/main" noGrp="1"/>
          </p:cNvSpPr>
          <p:nvPr/>
        </p:nvSpPr>
        <p:spPr>
          <a:xfrm xmlns:a="http://schemas.openxmlformats.org/drawingml/2006/main">
            <a:off x="11239500" y="65341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566B72"/>
                </a:solidFill>
                <a:latin typeface="Aptos"/>
                <a:ea typeface="Aptos"/>
                <a:cs typeface="Aptos"/>
              </a:defRPr>
            </a:defPPr>
          </a:lstStyle>
          <a:p xmlns:a="http://schemas.openxmlformats.org/drawingml/2006/main">
            <a:pPr algn="r">
              <a:defRPr sz="975" b="1" i="0">
                <a:solidFill>
                  <a:srgbClr val="566B72"/>
                </a:solidFill>
                <a:latin typeface="Aptos"/>
                <a:ea typeface="Aptos"/>
                <a:cs typeface="Aptos"/>
              </a:defRPr>
            </a:pPr>
            <a:r>
              <a:rPr sz="975" b="1" i="0">
                <a:solidFill>
                  <a:srgbClr val="566B72"/>
                </a:solidFill>
                <a:latin typeface="Aptos"/>
                <a:ea typeface="Aptos"/>
                <a:cs typeface="Aptos"/>
              </a:rPr>
              <a:t>04</a:t>
            </a:r>
          </a:p>
        </p:txBody>
      </p:sp>
    </p:spTree>
    <p:extLst>
      <p:ext uri="{BB962C8B-B14F-4D97-AF65-F5344CB8AC3E}">
        <p14:creationId xmlns:p14="http://schemas.microsoft.com/office/powerpoint/2010/main" val="848052854"/>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F398354-97E8-4A51-8DF6-45CBA420477F}"/>
              </a:ext>
            </a:extLst>
          </p:cNvPr>
          <p:cNvSpPr>
            <a:spLocks xmlns:a="http://schemas.openxmlformats.org/drawingml/2006/main" noGrp="1"/>
          </p:cNvSpPr>
          <p:nvPr/>
        </p:nvSpPr>
        <p:spPr>
          <a:xfrm xmlns:a="http://schemas.openxmlformats.org/drawingml/2006/main">
            <a:off x="552450" y="3619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04   /   OPERATING LOGIC</a:t>
            </a:r>
          </a:p>
        </p:txBody>
      </p:sp>
      <p:sp>
        <p:nvSpPr>
          <p:cNvPr id="2" name="">
            <a:extLst xmlns:a="http://schemas.openxmlformats.org/drawingml/2006/main">
              <a:ext uri="{FF2B5EF4-FFF2-40B4-BE49-F238E27FC236}">
                <a16:creationId xmlns:a16="http://schemas.microsoft.com/office/drawing/2014/main" id="{C866002A-6049-48FC-974D-CC4D1693EF7C}"/>
              </a:ext>
            </a:extLst>
          </p:cNvPr>
          <p:cNvSpPr>
            <a:spLocks xmlns:a="http://schemas.openxmlformats.org/drawingml/2006/main" noGrp="1"/>
          </p:cNvSpPr>
          <p:nvPr/>
        </p:nvSpPr>
        <p:spPr>
          <a:xfrm xmlns:a="http://schemas.openxmlformats.org/drawingml/2006/main">
            <a:off x="552450" y="72390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B39"/>
                </a:solidFill>
                <a:latin typeface="Georgia"/>
                <a:ea typeface="Georgia"/>
                <a:cs typeface="Georgia"/>
              </a:defRPr>
            </a:defPPr>
          </a:lstStyle>
          <a:p xmlns:a="http://schemas.openxmlformats.org/drawingml/2006/main">
            <a:pPr algn="l">
              <a:defRPr sz="2850" b="1" i="0">
                <a:solidFill>
                  <a:srgbClr val="102B39"/>
                </a:solidFill>
                <a:latin typeface="Georgia"/>
                <a:ea typeface="Georgia"/>
                <a:cs typeface="Georgia"/>
              </a:defRPr>
            </a:pPr>
            <a:r>
              <a:rPr sz="2850" b="1" i="0">
                <a:solidFill>
                  <a:srgbClr val="102B39"/>
                </a:solidFill>
                <a:latin typeface="Georgia"/>
                <a:ea typeface="Georgia"/>
                <a:cs typeface="Georgia"/>
              </a:rPr>
              <a:t>Automation inside hard limits</a:t>
            </a:r>
          </a:p>
        </p:txBody>
      </p:sp>
      <p:sp>
        <p:nvSpPr>
          <p:cNvPr id="3" name="">
            <a:extLst xmlns:a="http://schemas.openxmlformats.org/drawingml/2006/main">
              <a:ext uri="{FF2B5EF4-FFF2-40B4-BE49-F238E27FC236}">
                <a16:creationId xmlns:a16="http://schemas.microsoft.com/office/drawing/2014/main" id="{B228D024-4824-4A7A-9D5A-B7A206DD2A8F}"/>
              </a:ext>
            </a:extLst>
          </p:cNvPr>
          <p:cNvSpPr>
            <a:spLocks xmlns:a="http://schemas.openxmlformats.org/drawingml/2006/main" noGrp="1"/>
          </p:cNvSpPr>
          <p:nvPr/>
        </p:nvSpPr>
        <p:spPr>
          <a:xfrm xmlns:a="http://schemas.openxmlformats.org/drawingml/2006/main">
            <a:off x="571500" y="13049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66B72"/>
                </a:solidFill>
                <a:latin typeface="Aptos"/>
                <a:ea typeface="Aptos"/>
                <a:cs typeface="Aptos"/>
              </a:defRPr>
            </a:defPPr>
          </a:lstStyle>
          <a:p xmlns:a="http://schemas.openxmlformats.org/drawingml/2006/main">
            <a:pPr algn="l">
              <a:defRPr sz="1425" b="0" i="0">
                <a:solidFill>
                  <a:srgbClr val="566B72"/>
                </a:solidFill>
                <a:latin typeface="Aptos"/>
                <a:ea typeface="Aptos"/>
                <a:cs typeface="Aptos"/>
              </a:defRPr>
            </a:pPr>
            <a:r>
              <a:rPr sz="1425" b="0" i="0">
                <a:solidFill>
                  <a:srgbClr val="566B72"/>
                </a:solidFill>
                <a:latin typeface="Aptos"/>
                <a:ea typeface="Aptos"/>
                <a:cs typeface="Aptos"/>
              </a:rPr>
              <a:t>Start on an existing alert. Use local sensing to adjust the response, with operator oversight and independent fail-safe states.</a:t>
            </a:r>
          </a:p>
        </p:txBody>
      </p:sp>
      <p:sp>
        <p:nvSpPr>
          <p:cNvPr id="4" name="">
            <a:extLst xmlns:a="http://schemas.openxmlformats.org/drawingml/2006/main">
              <a:ext uri="{FF2B5EF4-FFF2-40B4-BE49-F238E27FC236}">
                <a16:creationId xmlns:a16="http://schemas.microsoft.com/office/drawing/2014/main" id="{BCDF7F2E-1C97-4945-AC0F-7FD7B084B5ED}"/>
              </a:ext>
            </a:extLst>
          </p:cNvPr>
          <p:cNvSpPr>
            <a:spLocks xmlns:a="http://schemas.openxmlformats.org/drawingml/2006/main" noGrp="1"/>
          </p:cNvSpPr>
          <p:nvPr/>
        </p:nvSpPr>
        <p:spPr>
          <a:xfrm xmlns:a="http://schemas.openxmlformats.org/drawingml/2006/main">
            <a:off x="619125" y="2238375"/>
            <a:ext cx="2381250" cy="57150"/>
          </a:xfrm>
          <a:prstGeom xmlns:a="http://schemas.openxmlformats.org/drawingml/2006/main" prst="rect">
            <a:avLst/>
          </a:prstGeom>
          <a:solidFill xmlns:a="http://schemas.openxmlformats.org/drawingml/2006/main">
            <a:srgbClr val="D4A74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F3CB09-9CD9-4A52-B9C2-B0A2DAC4D58F}"/>
              </a:ext>
            </a:extLst>
          </p:cNvPr>
          <p:cNvSpPr>
            <a:spLocks xmlns:a="http://schemas.openxmlformats.org/drawingml/2006/main" noGrp="1"/>
          </p:cNvSpPr>
          <p:nvPr/>
        </p:nvSpPr>
        <p:spPr>
          <a:xfrm xmlns:a="http://schemas.openxmlformats.org/drawingml/2006/main">
            <a:off x="619125" y="24479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87E83"/>
                </a:solidFill>
                <a:latin typeface="Aptos"/>
                <a:ea typeface="Aptos"/>
                <a:cs typeface="Aptos"/>
              </a:defRPr>
            </a:defPPr>
          </a:lstStyle>
          <a:p xmlns:a="http://schemas.openxmlformats.org/drawingml/2006/main">
            <a:pPr algn="l">
              <a:defRPr sz="975" b="1" i="0">
                <a:solidFill>
                  <a:srgbClr val="087E83"/>
                </a:solidFill>
                <a:latin typeface="Aptos"/>
                <a:ea typeface="Aptos"/>
                <a:cs typeface="Aptos"/>
              </a:defRPr>
            </a:pPr>
            <a:r>
              <a:rPr sz="975" b="1" i="0">
                <a:solidFill>
                  <a:srgbClr val="087E83"/>
                </a:solidFill>
                <a:latin typeface="Aptos"/>
                <a:ea typeface="Aptos"/>
                <a:cs typeface="Aptos"/>
              </a:rPr>
              <a:t>01  /  ALERT</a:t>
            </a:r>
          </a:p>
        </p:txBody>
      </p:sp>
      <p:sp>
        <p:nvSpPr>
          <p:cNvPr id="6" name="">
            <a:extLst xmlns:a="http://schemas.openxmlformats.org/drawingml/2006/main">
              <a:ext uri="{FF2B5EF4-FFF2-40B4-BE49-F238E27FC236}">
                <a16:creationId xmlns:a16="http://schemas.microsoft.com/office/drawing/2014/main" id="{FF4737B8-8B70-40B0-B32E-F7F5ED1ACF6F}"/>
              </a:ext>
            </a:extLst>
          </p:cNvPr>
          <p:cNvSpPr>
            <a:spLocks xmlns:a="http://schemas.openxmlformats.org/drawingml/2006/main" noGrp="1"/>
          </p:cNvSpPr>
          <p:nvPr/>
        </p:nvSpPr>
        <p:spPr>
          <a:xfrm xmlns:a="http://schemas.openxmlformats.org/drawingml/2006/main">
            <a:off x="619125" y="2790825"/>
            <a:ext cx="2381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02B39"/>
                </a:solidFill>
                <a:latin typeface="Georgia"/>
                <a:ea typeface="Georgia"/>
                <a:cs typeface="Georgia"/>
              </a:defRPr>
            </a:defPPr>
          </a:lstStyle>
          <a:p xmlns:a="http://schemas.openxmlformats.org/drawingml/2006/main">
            <a:pPr algn="l">
              <a:defRPr sz="1650" b="1" i="0">
                <a:solidFill>
                  <a:srgbClr val="102B39"/>
                </a:solidFill>
                <a:latin typeface="Georgia"/>
                <a:ea typeface="Georgia"/>
                <a:cs typeface="Georgia"/>
              </a:defRPr>
            </a:pPr>
            <a:r>
              <a:rPr sz="1650" b="1" i="0">
                <a:solidFill>
                  <a:srgbClr val="102B39"/>
                </a:solidFill>
                <a:latin typeface="Georgia"/>
                <a:ea typeface="Georgia"/>
                <a:cs typeface="Georgia"/>
              </a:rPr>
              <a:t>ENEC bloom warning</a:t>
            </a:r>
          </a:p>
        </p:txBody>
      </p:sp>
      <p:sp>
        <p:nvSpPr>
          <p:cNvPr id="7" name="">
            <a:extLst xmlns:a="http://schemas.openxmlformats.org/drawingml/2006/main">
              <a:ext uri="{FF2B5EF4-FFF2-40B4-BE49-F238E27FC236}">
                <a16:creationId xmlns:a16="http://schemas.microsoft.com/office/drawing/2014/main" id="{B9BB9239-7E44-490C-8358-305FA6597780}"/>
              </a:ext>
            </a:extLst>
          </p:cNvPr>
          <p:cNvSpPr>
            <a:spLocks xmlns:a="http://schemas.openxmlformats.org/drawingml/2006/main" noGrp="1"/>
          </p:cNvSpPr>
          <p:nvPr/>
        </p:nvSpPr>
        <p:spPr>
          <a:xfrm xmlns:a="http://schemas.openxmlformats.org/drawingml/2006/main">
            <a:off x="619125" y="3457575"/>
            <a:ext cx="2324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66B72"/>
                </a:solidFill>
                <a:latin typeface="Aptos"/>
                <a:ea typeface="Aptos"/>
                <a:cs typeface="Aptos"/>
              </a:defRPr>
            </a:defPPr>
          </a:lstStyle>
          <a:p xmlns:a="http://schemas.openxmlformats.org/drawingml/2006/main">
            <a:pPr algn="l">
              <a:defRPr sz="1200" b="0" i="0">
                <a:solidFill>
                  <a:srgbClr val="566B72"/>
                </a:solidFill>
                <a:latin typeface="Aptos"/>
                <a:ea typeface="Aptos"/>
                <a:cs typeface="Aptos"/>
              </a:defRPr>
            </a:pPr>
            <a:r>
              <a:rPr sz="1200" b="0" i="0">
                <a:solidFill>
                  <a:srgbClr val="566B72"/>
                </a:solidFill>
                <a:latin typeface="Aptos"/>
                <a:ea typeface="Aptos"/>
                <a:cs typeface="Aptos"/>
              </a:rPr>
              <a:t>Response window opens</a:t>
            </a:r>
          </a:p>
        </p:txBody>
      </p:sp>
      <p:sp>
        <p:nvSpPr>
          <p:cNvPr id="8" name="">
            <a:extLst xmlns:a="http://schemas.openxmlformats.org/drawingml/2006/main">
              <a:ext uri="{FF2B5EF4-FFF2-40B4-BE49-F238E27FC236}">
                <a16:creationId xmlns:a16="http://schemas.microsoft.com/office/drawing/2014/main" id="{2BFCD62F-79BB-48F9-B5F3-729CF6F59971}"/>
              </a:ext>
            </a:extLst>
          </p:cNvPr>
          <p:cNvSpPr>
            <a:spLocks xmlns:a="http://schemas.openxmlformats.org/drawingml/2006/main" noGrp="1"/>
          </p:cNvSpPr>
          <p:nvPr/>
        </p:nvSpPr>
        <p:spPr>
          <a:xfrm xmlns:a="http://schemas.openxmlformats.org/drawingml/2006/main">
            <a:off x="3038475" y="287655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950" b="1" i="0">
                <a:solidFill>
                  <a:srgbClr val="58C7BE"/>
                </a:solidFill>
                <a:latin typeface="Aptos"/>
                <a:ea typeface="Aptos"/>
                <a:cs typeface="Aptos"/>
              </a:defRPr>
            </a:defPPr>
          </a:lstStyle>
          <a:p xmlns:a="http://schemas.openxmlformats.org/drawingml/2006/main">
            <a:pPr algn="ctr">
              <a:defRPr sz="1950" b="1" i="0">
                <a:solidFill>
                  <a:srgbClr val="58C7BE"/>
                </a:solidFill>
                <a:latin typeface="Aptos"/>
                <a:ea typeface="Aptos"/>
                <a:cs typeface="Aptos"/>
              </a:defRPr>
            </a:pPr>
            <a:r>
              <a:rPr sz="1950" b="1" i="0">
                <a:solidFill>
                  <a:srgbClr val="58C7BE"/>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07BA4B60-3099-418B-BD9A-06CBEAEF95C3}"/>
              </a:ext>
            </a:extLst>
          </p:cNvPr>
          <p:cNvSpPr>
            <a:spLocks xmlns:a="http://schemas.openxmlformats.org/drawingml/2006/main" noGrp="1"/>
          </p:cNvSpPr>
          <p:nvPr/>
        </p:nvSpPr>
        <p:spPr>
          <a:xfrm xmlns:a="http://schemas.openxmlformats.org/drawingml/2006/main">
            <a:off x="3390900" y="2238375"/>
            <a:ext cx="2381250" cy="57150"/>
          </a:xfrm>
          <a:prstGeom xmlns:a="http://schemas.openxmlformats.org/drawingml/2006/main" prst="rect">
            <a:avLst/>
          </a:prstGeom>
          <a:solidFill xmlns:a="http://schemas.openxmlformats.org/drawingml/2006/main">
            <a:srgbClr val="087E8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C6373CC-A165-4F7A-83D7-A305BE548C4D}"/>
              </a:ext>
            </a:extLst>
          </p:cNvPr>
          <p:cNvSpPr>
            <a:spLocks xmlns:a="http://schemas.openxmlformats.org/drawingml/2006/main" noGrp="1"/>
          </p:cNvSpPr>
          <p:nvPr/>
        </p:nvSpPr>
        <p:spPr>
          <a:xfrm xmlns:a="http://schemas.openxmlformats.org/drawingml/2006/main">
            <a:off x="3390900" y="24479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87E83"/>
                </a:solidFill>
                <a:latin typeface="Aptos"/>
                <a:ea typeface="Aptos"/>
                <a:cs typeface="Aptos"/>
              </a:defRPr>
            </a:defPPr>
          </a:lstStyle>
          <a:p xmlns:a="http://schemas.openxmlformats.org/drawingml/2006/main">
            <a:pPr algn="l">
              <a:defRPr sz="975" b="1" i="0">
                <a:solidFill>
                  <a:srgbClr val="087E83"/>
                </a:solidFill>
                <a:latin typeface="Aptos"/>
                <a:ea typeface="Aptos"/>
                <a:cs typeface="Aptos"/>
              </a:defRPr>
            </a:pPr>
            <a:r>
              <a:rPr sz="975" b="1" i="0">
                <a:solidFill>
                  <a:srgbClr val="087E83"/>
                </a:solidFill>
                <a:latin typeface="Aptos"/>
                <a:ea typeface="Aptos"/>
                <a:cs typeface="Aptos"/>
              </a:rPr>
              <a:t>02  /  SENSE</a:t>
            </a:r>
          </a:p>
        </p:txBody>
      </p:sp>
      <p:sp>
        <p:nvSpPr>
          <p:cNvPr id="11" name="">
            <a:extLst xmlns:a="http://schemas.openxmlformats.org/drawingml/2006/main">
              <a:ext uri="{FF2B5EF4-FFF2-40B4-BE49-F238E27FC236}">
                <a16:creationId xmlns:a16="http://schemas.microsoft.com/office/drawing/2014/main" id="{8E68711D-D534-48C1-BFF0-8C34E7275A66}"/>
              </a:ext>
            </a:extLst>
          </p:cNvPr>
          <p:cNvSpPr>
            <a:spLocks xmlns:a="http://schemas.openxmlformats.org/drawingml/2006/main" noGrp="1"/>
          </p:cNvSpPr>
          <p:nvPr/>
        </p:nvSpPr>
        <p:spPr>
          <a:xfrm xmlns:a="http://schemas.openxmlformats.org/drawingml/2006/main">
            <a:off x="3390900" y="2790825"/>
            <a:ext cx="2381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02B39"/>
                </a:solidFill>
                <a:latin typeface="Georgia"/>
                <a:ea typeface="Georgia"/>
                <a:cs typeface="Georgia"/>
              </a:defRPr>
            </a:defPPr>
          </a:lstStyle>
          <a:p xmlns:a="http://schemas.openxmlformats.org/drawingml/2006/main">
            <a:pPr algn="l">
              <a:defRPr sz="1650" b="1" i="0">
                <a:solidFill>
                  <a:srgbClr val="102B39"/>
                </a:solidFill>
                <a:latin typeface="Georgia"/>
                <a:ea typeface="Georgia"/>
                <a:cs typeface="Georgia"/>
              </a:defRPr>
            </a:pPr>
            <a:r>
              <a:rPr sz="1650" b="1" i="0">
                <a:solidFill>
                  <a:srgbClr val="102B39"/>
                </a:solidFill>
                <a:latin typeface="Georgia"/>
                <a:ea typeface="Georgia"/>
                <a:cs typeface="Georgia"/>
              </a:rPr>
              <a:t>Flux + flow + load</a:t>
            </a:r>
          </a:p>
        </p:txBody>
      </p:sp>
      <p:sp>
        <p:nvSpPr>
          <p:cNvPr id="12" name="">
            <a:extLst xmlns:a="http://schemas.openxmlformats.org/drawingml/2006/main">
              <a:ext uri="{FF2B5EF4-FFF2-40B4-BE49-F238E27FC236}">
                <a16:creationId xmlns:a16="http://schemas.microsoft.com/office/drawing/2014/main" id="{40173BDC-E185-457E-A817-6ED84F7CECD0}"/>
              </a:ext>
            </a:extLst>
          </p:cNvPr>
          <p:cNvSpPr>
            <a:spLocks xmlns:a="http://schemas.openxmlformats.org/drawingml/2006/main" noGrp="1"/>
          </p:cNvSpPr>
          <p:nvPr/>
        </p:nvSpPr>
        <p:spPr>
          <a:xfrm xmlns:a="http://schemas.openxmlformats.org/drawingml/2006/main">
            <a:off x="3390900" y="3457575"/>
            <a:ext cx="2324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66B72"/>
                </a:solidFill>
                <a:latin typeface="Aptos"/>
                <a:ea typeface="Aptos"/>
                <a:cs typeface="Aptos"/>
              </a:defRPr>
            </a:defPPr>
          </a:lstStyle>
          <a:p xmlns:a="http://schemas.openxmlformats.org/drawingml/2006/main">
            <a:pPr algn="l">
              <a:defRPr sz="1200" b="0" i="0">
                <a:solidFill>
                  <a:srgbClr val="566B72"/>
                </a:solidFill>
                <a:latin typeface="Aptos"/>
                <a:ea typeface="Aptos"/>
                <a:cs typeface="Aptos"/>
              </a:defRPr>
            </a:pPr>
            <a:r>
              <a:rPr sz="1200" b="0" i="0">
                <a:solidFill>
                  <a:srgbClr val="566B72"/>
                </a:solidFill>
                <a:latin typeface="Aptos"/>
                <a:ea typeface="Aptos"/>
                <a:cs typeface="Aptos"/>
              </a:rPr>
              <a:t>Local instruments confirm conditions</a:t>
            </a:r>
          </a:p>
        </p:txBody>
      </p:sp>
      <p:sp>
        <p:nvSpPr>
          <p:cNvPr id="13" name="">
            <a:extLst xmlns:a="http://schemas.openxmlformats.org/drawingml/2006/main">
              <a:ext uri="{FF2B5EF4-FFF2-40B4-BE49-F238E27FC236}">
                <a16:creationId xmlns:a16="http://schemas.microsoft.com/office/drawing/2014/main" id="{08F1BB31-89D7-433E-BB0D-66FEF9F8F089}"/>
              </a:ext>
            </a:extLst>
          </p:cNvPr>
          <p:cNvSpPr>
            <a:spLocks xmlns:a="http://schemas.openxmlformats.org/drawingml/2006/main" noGrp="1"/>
          </p:cNvSpPr>
          <p:nvPr/>
        </p:nvSpPr>
        <p:spPr>
          <a:xfrm xmlns:a="http://schemas.openxmlformats.org/drawingml/2006/main">
            <a:off x="5810250" y="287655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950" b="1" i="0">
                <a:solidFill>
                  <a:srgbClr val="58C7BE"/>
                </a:solidFill>
                <a:latin typeface="Aptos"/>
                <a:ea typeface="Aptos"/>
                <a:cs typeface="Aptos"/>
              </a:defRPr>
            </a:defPPr>
          </a:lstStyle>
          <a:p xmlns:a="http://schemas.openxmlformats.org/drawingml/2006/main">
            <a:pPr algn="ctr">
              <a:defRPr sz="1950" b="1" i="0">
                <a:solidFill>
                  <a:srgbClr val="58C7BE"/>
                </a:solidFill>
                <a:latin typeface="Aptos"/>
                <a:ea typeface="Aptos"/>
                <a:cs typeface="Aptos"/>
              </a:defRPr>
            </a:pPr>
            <a:r>
              <a:rPr sz="1950" b="1" i="0">
                <a:solidFill>
                  <a:srgbClr val="58C7BE"/>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B19EB718-DE0A-42A2-8A1D-88270641E769}"/>
              </a:ext>
            </a:extLst>
          </p:cNvPr>
          <p:cNvSpPr>
            <a:spLocks xmlns:a="http://schemas.openxmlformats.org/drawingml/2006/main" noGrp="1"/>
          </p:cNvSpPr>
          <p:nvPr/>
        </p:nvSpPr>
        <p:spPr>
          <a:xfrm xmlns:a="http://schemas.openxmlformats.org/drawingml/2006/main">
            <a:off x="6162675" y="2238375"/>
            <a:ext cx="2381250" cy="57150"/>
          </a:xfrm>
          <a:prstGeom xmlns:a="http://schemas.openxmlformats.org/drawingml/2006/main" prst="rect">
            <a:avLst/>
          </a:prstGeom>
          <a:solidFill xmlns:a="http://schemas.openxmlformats.org/drawingml/2006/main">
            <a:srgbClr val="EA705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1CC6FD5-C5A8-44D2-8721-A032D58ECCF0}"/>
              </a:ext>
            </a:extLst>
          </p:cNvPr>
          <p:cNvSpPr>
            <a:spLocks xmlns:a="http://schemas.openxmlformats.org/drawingml/2006/main" noGrp="1"/>
          </p:cNvSpPr>
          <p:nvPr/>
        </p:nvSpPr>
        <p:spPr>
          <a:xfrm xmlns:a="http://schemas.openxmlformats.org/drawingml/2006/main">
            <a:off x="6162675" y="24479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87E83"/>
                </a:solidFill>
                <a:latin typeface="Aptos"/>
                <a:ea typeface="Aptos"/>
                <a:cs typeface="Aptos"/>
              </a:defRPr>
            </a:defPPr>
          </a:lstStyle>
          <a:p xmlns:a="http://schemas.openxmlformats.org/drawingml/2006/main">
            <a:pPr algn="l">
              <a:defRPr sz="975" b="1" i="0">
                <a:solidFill>
                  <a:srgbClr val="087E83"/>
                </a:solidFill>
                <a:latin typeface="Aptos"/>
                <a:ea typeface="Aptos"/>
                <a:cs typeface="Aptos"/>
              </a:defRPr>
            </a:pPr>
            <a:r>
              <a:rPr sz="975" b="1" i="0">
                <a:solidFill>
                  <a:srgbClr val="087E83"/>
                </a:solidFill>
                <a:latin typeface="Aptos"/>
                <a:ea typeface="Aptos"/>
                <a:cs typeface="Aptos"/>
              </a:rPr>
              <a:t>03  /  ACT</a:t>
            </a:r>
          </a:p>
        </p:txBody>
      </p:sp>
      <p:sp>
        <p:nvSpPr>
          <p:cNvPr id="16" name="">
            <a:extLst xmlns:a="http://schemas.openxmlformats.org/drawingml/2006/main">
              <a:ext uri="{FF2B5EF4-FFF2-40B4-BE49-F238E27FC236}">
                <a16:creationId xmlns:a16="http://schemas.microsoft.com/office/drawing/2014/main" id="{46395721-C2C3-4521-B347-08AE7CDE10B6}"/>
              </a:ext>
            </a:extLst>
          </p:cNvPr>
          <p:cNvSpPr>
            <a:spLocks xmlns:a="http://schemas.openxmlformats.org/drawingml/2006/main" noGrp="1"/>
          </p:cNvSpPr>
          <p:nvPr/>
        </p:nvSpPr>
        <p:spPr>
          <a:xfrm xmlns:a="http://schemas.openxmlformats.org/drawingml/2006/main">
            <a:off x="6162675" y="2790825"/>
            <a:ext cx="2381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02B39"/>
                </a:solidFill>
                <a:latin typeface="Georgia"/>
                <a:ea typeface="Georgia"/>
                <a:cs typeface="Georgia"/>
              </a:defRPr>
            </a:defPPr>
          </a:lstStyle>
          <a:p xmlns:a="http://schemas.openxmlformats.org/drawingml/2006/main">
            <a:pPr algn="l">
              <a:defRPr sz="1650" b="1" i="0">
                <a:solidFill>
                  <a:srgbClr val="102B39"/>
                </a:solidFill>
                <a:latin typeface="Georgia"/>
                <a:ea typeface="Georgia"/>
                <a:cs typeface="Georgia"/>
              </a:defRPr>
            </a:pPr>
            <a:r>
              <a:rPr sz="1650" b="1" i="0">
                <a:solidFill>
                  <a:srgbClr val="102B39"/>
                </a:solidFill>
                <a:latin typeface="Georgia"/>
                <a:ea typeface="Georgia"/>
                <a:cs typeface="Georgia"/>
              </a:rPr>
              <a:t>Outer → second guide</a:t>
            </a:r>
          </a:p>
        </p:txBody>
      </p:sp>
      <p:sp>
        <p:nvSpPr>
          <p:cNvPr id="17" name="">
            <a:extLst xmlns:a="http://schemas.openxmlformats.org/drawingml/2006/main">
              <a:ext uri="{FF2B5EF4-FFF2-40B4-BE49-F238E27FC236}">
                <a16:creationId xmlns:a16="http://schemas.microsoft.com/office/drawing/2014/main" id="{38AF9D15-0AEC-47D3-AAEE-799310CF1055}"/>
              </a:ext>
            </a:extLst>
          </p:cNvPr>
          <p:cNvSpPr>
            <a:spLocks xmlns:a="http://schemas.openxmlformats.org/drawingml/2006/main" noGrp="1"/>
          </p:cNvSpPr>
          <p:nvPr/>
        </p:nvSpPr>
        <p:spPr>
          <a:xfrm xmlns:a="http://schemas.openxmlformats.org/drawingml/2006/main">
            <a:off x="6162675" y="3457575"/>
            <a:ext cx="2324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66B72"/>
                </a:solidFill>
                <a:latin typeface="Aptos"/>
                <a:ea typeface="Aptos"/>
                <a:cs typeface="Aptos"/>
              </a:defRPr>
            </a:defPPr>
          </a:lstStyle>
          <a:p xmlns:a="http://schemas.openxmlformats.org/drawingml/2006/main">
            <a:pPr algn="l">
              <a:defRPr sz="1200" b="0" i="0">
                <a:solidFill>
                  <a:srgbClr val="566B72"/>
                </a:solidFill>
                <a:latin typeface="Aptos"/>
                <a:ea typeface="Aptos"/>
                <a:cs typeface="Aptos"/>
              </a:defRPr>
            </a:pPr>
            <a:r>
              <a:rPr sz="1200" b="0" i="0">
                <a:solidFill>
                  <a:srgbClr val="566B72"/>
                </a:solidFill>
                <a:latin typeface="Aptos"/>
                <a:ea typeface="Aptos"/>
                <a:cs typeface="Aptos"/>
              </a:rPr>
              <a:t>Convey and lift within verified limits</a:t>
            </a:r>
          </a:p>
        </p:txBody>
      </p:sp>
      <p:sp>
        <p:nvSpPr>
          <p:cNvPr id="18" name="">
            <a:extLst xmlns:a="http://schemas.openxmlformats.org/drawingml/2006/main">
              <a:ext uri="{FF2B5EF4-FFF2-40B4-BE49-F238E27FC236}">
                <a16:creationId xmlns:a16="http://schemas.microsoft.com/office/drawing/2014/main" id="{5C653F66-F580-41DD-932A-3839D705FC8F}"/>
              </a:ext>
            </a:extLst>
          </p:cNvPr>
          <p:cNvSpPr>
            <a:spLocks xmlns:a="http://schemas.openxmlformats.org/drawingml/2006/main" noGrp="1"/>
          </p:cNvSpPr>
          <p:nvPr/>
        </p:nvSpPr>
        <p:spPr>
          <a:xfrm xmlns:a="http://schemas.openxmlformats.org/drawingml/2006/main">
            <a:off x="8582025" y="287655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950" b="1" i="0">
                <a:solidFill>
                  <a:srgbClr val="58C7BE"/>
                </a:solidFill>
                <a:latin typeface="Aptos"/>
                <a:ea typeface="Aptos"/>
                <a:cs typeface="Aptos"/>
              </a:defRPr>
            </a:defPPr>
          </a:lstStyle>
          <a:p xmlns:a="http://schemas.openxmlformats.org/drawingml/2006/main">
            <a:pPr algn="ctr">
              <a:defRPr sz="1950" b="1" i="0">
                <a:solidFill>
                  <a:srgbClr val="58C7BE"/>
                </a:solidFill>
                <a:latin typeface="Aptos"/>
                <a:ea typeface="Aptos"/>
                <a:cs typeface="Aptos"/>
              </a:defRPr>
            </a:pPr>
            <a:r>
              <a:rPr sz="1950" b="1" i="0">
                <a:solidFill>
                  <a:srgbClr val="58C7BE"/>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52ED5308-565F-4EDA-A581-D51FFB89802D}"/>
              </a:ext>
            </a:extLst>
          </p:cNvPr>
          <p:cNvSpPr>
            <a:spLocks xmlns:a="http://schemas.openxmlformats.org/drawingml/2006/main" noGrp="1"/>
          </p:cNvSpPr>
          <p:nvPr/>
        </p:nvSpPr>
        <p:spPr>
          <a:xfrm xmlns:a="http://schemas.openxmlformats.org/drawingml/2006/main">
            <a:off x="8934450" y="2238375"/>
            <a:ext cx="2381250" cy="57150"/>
          </a:xfrm>
          <a:prstGeom xmlns:a="http://schemas.openxmlformats.org/drawingml/2006/main" prst="rect">
            <a:avLst/>
          </a:prstGeom>
          <a:solidFill xmlns:a="http://schemas.openxmlformats.org/drawingml/2006/main">
            <a:srgbClr val="08233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9099AAC-F217-4CD2-A9FD-C8A72896721A}"/>
              </a:ext>
            </a:extLst>
          </p:cNvPr>
          <p:cNvSpPr>
            <a:spLocks xmlns:a="http://schemas.openxmlformats.org/drawingml/2006/main" noGrp="1"/>
          </p:cNvSpPr>
          <p:nvPr/>
        </p:nvSpPr>
        <p:spPr>
          <a:xfrm xmlns:a="http://schemas.openxmlformats.org/drawingml/2006/main">
            <a:off x="8934450" y="24479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87E83"/>
                </a:solidFill>
                <a:latin typeface="Aptos"/>
                <a:ea typeface="Aptos"/>
                <a:cs typeface="Aptos"/>
              </a:defRPr>
            </a:defPPr>
          </a:lstStyle>
          <a:p xmlns:a="http://schemas.openxmlformats.org/drawingml/2006/main">
            <a:pPr algn="l">
              <a:defRPr sz="975" b="1" i="0">
                <a:solidFill>
                  <a:srgbClr val="087E83"/>
                </a:solidFill>
                <a:latin typeface="Aptos"/>
                <a:ea typeface="Aptos"/>
                <a:cs typeface="Aptos"/>
              </a:defRPr>
            </a:pPr>
            <a:r>
              <a:rPr sz="975" b="1" i="0">
                <a:solidFill>
                  <a:srgbClr val="087E83"/>
                </a:solidFill>
                <a:latin typeface="Aptos"/>
                <a:ea typeface="Aptos"/>
                <a:cs typeface="Aptos"/>
              </a:rPr>
              <a:t>04  /  VERIFY</a:t>
            </a:r>
          </a:p>
        </p:txBody>
      </p:sp>
      <p:sp>
        <p:nvSpPr>
          <p:cNvPr id="21" name="">
            <a:extLst xmlns:a="http://schemas.openxmlformats.org/drawingml/2006/main">
              <a:ext uri="{FF2B5EF4-FFF2-40B4-BE49-F238E27FC236}">
                <a16:creationId xmlns:a16="http://schemas.microsoft.com/office/drawing/2014/main" id="{F4323993-116A-47E2-A2A8-FE1C12557785}"/>
              </a:ext>
            </a:extLst>
          </p:cNvPr>
          <p:cNvSpPr>
            <a:spLocks xmlns:a="http://schemas.openxmlformats.org/drawingml/2006/main" noGrp="1"/>
          </p:cNvSpPr>
          <p:nvPr/>
        </p:nvSpPr>
        <p:spPr>
          <a:xfrm xmlns:a="http://schemas.openxmlformats.org/drawingml/2006/main">
            <a:off x="8934450" y="2790825"/>
            <a:ext cx="23812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102B39"/>
                </a:solidFill>
                <a:latin typeface="Georgia"/>
                <a:ea typeface="Georgia"/>
                <a:cs typeface="Georgia"/>
              </a:defRPr>
            </a:defPPr>
          </a:lstStyle>
          <a:p xmlns:a="http://schemas.openxmlformats.org/drawingml/2006/main">
            <a:pPr algn="l">
              <a:defRPr sz="1650" b="1" i="0">
                <a:solidFill>
                  <a:srgbClr val="102B39"/>
                </a:solidFill>
                <a:latin typeface="Georgia"/>
                <a:ea typeface="Georgia"/>
                <a:cs typeface="Georgia"/>
              </a:defRPr>
            </a:pPr>
            <a:r>
              <a:rPr sz="1650" b="1" i="0">
                <a:solidFill>
                  <a:srgbClr val="102B39"/>
                </a:solidFill>
                <a:latin typeface="Georgia"/>
                <a:ea typeface="Georgia"/>
                <a:cs typeface="Georgia"/>
              </a:rPr>
              <a:t>Receiver + escape count</a:t>
            </a:r>
          </a:p>
        </p:txBody>
      </p:sp>
      <p:sp>
        <p:nvSpPr>
          <p:cNvPr id="22" name="">
            <a:extLst xmlns:a="http://schemas.openxmlformats.org/drawingml/2006/main">
              <a:ext uri="{FF2B5EF4-FFF2-40B4-BE49-F238E27FC236}">
                <a16:creationId xmlns:a16="http://schemas.microsoft.com/office/drawing/2014/main" id="{639CB3A8-B7EA-47C8-8714-5E59107108DB}"/>
              </a:ext>
            </a:extLst>
          </p:cNvPr>
          <p:cNvSpPr>
            <a:spLocks xmlns:a="http://schemas.openxmlformats.org/drawingml/2006/main" noGrp="1"/>
          </p:cNvSpPr>
          <p:nvPr/>
        </p:nvSpPr>
        <p:spPr>
          <a:xfrm xmlns:a="http://schemas.openxmlformats.org/drawingml/2006/main">
            <a:off x="8934450" y="3457575"/>
            <a:ext cx="2324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66B72"/>
                </a:solidFill>
                <a:latin typeface="Aptos"/>
                <a:ea typeface="Aptos"/>
                <a:cs typeface="Aptos"/>
              </a:defRPr>
            </a:defPPr>
          </a:lstStyle>
          <a:p xmlns:a="http://schemas.openxmlformats.org/drawingml/2006/main">
            <a:pPr algn="l">
              <a:defRPr sz="1200" b="0" i="0">
                <a:solidFill>
                  <a:srgbClr val="566B72"/>
                </a:solidFill>
                <a:latin typeface="Aptos"/>
                <a:ea typeface="Aptos"/>
                <a:cs typeface="Aptos"/>
              </a:defRPr>
            </a:pPr>
            <a:r>
              <a:rPr sz="1200" b="0" i="0">
                <a:solidFill>
                  <a:srgbClr val="566B72"/>
                </a:solidFill>
                <a:latin typeface="Aptos"/>
                <a:ea typeface="Aptos"/>
                <a:cs typeface="Aptos"/>
              </a:rPr>
              <a:t>Report delivered, held, and missed mass</a:t>
            </a:r>
          </a:p>
        </p:txBody>
      </p:sp>
      <p:sp>
        <p:nvSpPr>
          <p:cNvPr id="23" name="">
            <a:extLst xmlns:a="http://schemas.openxmlformats.org/drawingml/2006/main">
              <a:ext uri="{FF2B5EF4-FFF2-40B4-BE49-F238E27FC236}">
                <a16:creationId xmlns:a16="http://schemas.microsoft.com/office/drawing/2014/main" id="{8964800E-319A-44CF-BB24-11D633BCA32A}"/>
              </a:ext>
            </a:extLst>
          </p:cNvPr>
          <p:cNvSpPr>
            <a:spLocks xmlns:a="http://schemas.openxmlformats.org/drawingml/2006/main" noGrp="1"/>
          </p:cNvSpPr>
          <p:nvPr/>
        </p:nvSpPr>
        <p:spPr>
          <a:xfrm xmlns:a="http://schemas.openxmlformats.org/drawingml/2006/main">
            <a:off x="619125" y="4229100"/>
            <a:ext cx="1095375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277E677-9255-4B5F-9FE6-3D2D176C8B06}"/>
              </a:ext>
            </a:extLst>
          </p:cNvPr>
          <p:cNvSpPr>
            <a:spLocks xmlns:a="http://schemas.openxmlformats.org/drawingml/2006/main" noGrp="1"/>
          </p:cNvSpPr>
          <p:nvPr/>
        </p:nvSpPr>
        <p:spPr>
          <a:xfrm xmlns:a="http://schemas.openxmlformats.org/drawingml/2006/main">
            <a:off x="628650" y="44291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EA705E"/>
                </a:solidFill>
                <a:latin typeface="Aptos"/>
                <a:ea typeface="Aptos"/>
                <a:cs typeface="Aptos"/>
              </a:defRPr>
            </a:defPPr>
          </a:lstStyle>
          <a:p xmlns:a="http://schemas.openxmlformats.org/drawingml/2006/main">
            <a:pPr algn="l">
              <a:defRPr sz="975" b="1" i="0">
                <a:solidFill>
                  <a:srgbClr val="EA705E"/>
                </a:solidFill>
                <a:latin typeface="Aptos"/>
                <a:ea typeface="Aptos"/>
                <a:cs typeface="Aptos"/>
              </a:defRPr>
            </a:pPr>
            <a:r>
              <a:rPr sz="975" b="1" i="0">
                <a:solidFill>
                  <a:srgbClr val="EA705E"/>
                </a:solidFill>
                <a:latin typeface="Aptos"/>
                <a:ea typeface="Aptos"/>
                <a:cs typeface="Aptos"/>
              </a:rPr>
              <a:t>CONTROL STACK</a:t>
            </a:r>
          </a:p>
        </p:txBody>
      </p:sp>
      <p:sp>
        <p:nvSpPr>
          <p:cNvPr id="25" name="">
            <a:extLst xmlns:a="http://schemas.openxmlformats.org/drawingml/2006/main">
              <a:ext uri="{FF2B5EF4-FFF2-40B4-BE49-F238E27FC236}">
                <a16:creationId xmlns:a16="http://schemas.microsoft.com/office/drawing/2014/main" id="{D5BF520D-4C1A-4400-ABE5-DB7EA5EDA5E2}"/>
              </a:ext>
            </a:extLst>
          </p:cNvPr>
          <p:cNvSpPr>
            <a:spLocks xmlns:a="http://schemas.openxmlformats.org/drawingml/2006/main" noGrp="1"/>
          </p:cNvSpPr>
          <p:nvPr/>
        </p:nvSpPr>
        <p:spPr>
          <a:xfrm xmlns:a="http://schemas.openxmlformats.org/drawingml/2006/main">
            <a:off x="628650" y="476250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02B39"/>
                </a:solidFill>
                <a:latin typeface="Georgia"/>
                <a:ea typeface="Georgia"/>
                <a:cs typeface="Georgia"/>
              </a:defRPr>
            </a:defPPr>
          </a:lstStyle>
          <a:p xmlns:a="http://schemas.openxmlformats.org/drawingml/2006/main">
            <a:pPr algn="l">
              <a:defRPr sz="1500" b="1" i="0">
                <a:solidFill>
                  <a:srgbClr val="102B39"/>
                </a:solidFill>
                <a:latin typeface="Georgia"/>
                <a:ea typeface="Georgia"/>
                <a:cs typeface="Georgia"/>
              </a:defRPr>
            </a:pPr>
            <a:r>
              <a:rPr sz="1500" b="1" i="0">
                <a:solidFill>
                  <a:srgbClr val="102B39"/>
                </a:solidFill>
                <a:latin typeface="Georgia"/>
                <a:ea typeface="Georgia"/>
                <a:cs typeface="Georgia"/>
              </a:rPr>
              <a:t>AI / ML (future, advisory)</a:t>
            </a:r>
          </a:p>
        </p:txBody>
      </p:sp>
      <p:sp>
        <p:nvSpPr>
          <p:cNvPr id="26" name="">
            <a:extLst xmlns:a="http://schemas.openxmlformats.org/drawingml/2006/main">
              <a:ext uri="{FF2B5EF4-FFF2-40B4-BE49-F238E27FC236}">
                <a16:creationId xmlns:a16="http://schemas.microsoft.com/office/drawing/2014/main" id="{43FB9992-FDA1-41A2-B73C-A1F672686078}"/>
              </a:ext>
            </a:extLst>
          </p:cNvPr>
          <p:cNvSpPr>
            <a:spLocks xmlns:a="http://schemas.openxmlformats.org/drawingml/2006/main" noGrp="1"/>
          </p:cNvSpPr>
          <p:nvPr/>
        </p:nvSpPr>
        <p:spPr>
          <a:xfrm xmlns:a="http://schemas.openxmlformats.org/drawingml/2006/main">
            <a:off x="628650" y="5095875"/>
            <a:ext cx="314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66B72"/>
                </a:solidFill>
                <a:latin typeface="Aptos"/>
                <a:ea typeface="Aptos"/>
                <a:cs typeface="Aptos"/>
              </a:defRPr>
            </a:defPPr>
          </a:lstStyle>
          <a:p xmlns:a="http://schemas.openxmlformats.org/drawingml/2006/main">
            <a:pPr algn="l">
              <a:defRPr sz="1200" b="0" i="0">
                <a:solidFill>
                  <a:srgbClr val="566B72"/>
                </a:solidFill>
                <a:latin typeface="Aptos"/>
                <a:ea typeface="Aptos"/>
                <a:cs typeface="Aptos"/>
              </a:defRPr>
            </a:pPr>
            <a:r>
              <a:rPr sz="1200" b="0" i="0">
                <a:solidFill>
                  <a:srgbClr val="566B72"/>
                </a:solidFill>
                <a:latin typeface="Aptos"/>
                <a:ea typeface="Aptos"/>
                <a:cs typeface="Aptos"/>
              </a:rPr>
              <a:t>Predict bloom flux and recommend activation or setpoints after site data exist. No trained ML/CV model is in the current simulation.</a:t>
            </a:r>
          </a:p>
        </p:txBody>
      </p:sp>
      <p:sp>
        <p:nvSpPr>
          <p:cNvPr id="27" name="">
            <a:extLst xmlns:a="http://schemas.openxmlformats.org/drawingml/2006/main">
              <a:ext uri="{FF2B5EF4-FFF2-40B4-BE49-F238E27FC236}">
                <a16:creationId xmlns:a16="http://schemas.microsoft.com/office/drawing/2014/main" id="{FD298B96-E44A-4CE7-97D5-24B7375F378D}"/>
              </a:ext>
            </a:extLst>
          </p:cNvPr>
          <p:cNvSpPr>
            <a:spLocks xmlns:a="http://schemas.openxmlformats.org/drawingml/2006/main" noGrp="1"/>
          </p:cNvSpPr>
          <p:nvPr/>
        </p:nvSpPr>
        <p:spPr>
          <a:xfrm xmlns:a="http://schemas.openxmlformats.org/drawingml/2006/main">
            <a:off x="3962400" y="4600575"/>
            <a:ext cx="19050" cy="1219200"/>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07DC631-F3A9-4AE0-A354-61381427776D}"/>
              </a:ext>
            </a:extLst>
          </p:cNvPr>
          <p:cNvSpPr>
            <a:spLocks xmlns:a="http://schemas.openxmlformats.org/drawingml/2006/main" noGrp="1"/>
          </p:cNvSpPr>
          <p:nvPr/>
        </p:nvSpPr>
        <p:spPr>
          <a:xfrm xmlns:a="http://schemas.openxmlformats.org/drawingml/2006/main">
            <a:off x="4286250" y="4762500"/>
            <a:ext cx="2571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02B39"/>
                </a:solidFill>
                <a:latin typeface="Georgia"/>
                <a:ea typeface="Georgia"/>
                <a:cs typeface="Georgia"/>
              </a:defRPr>
            </a:defPPr>
          </a:lstStyle>
          <a:p xmlns:a="http://schemas.openxmlformats.org/drawingml/2006/main">
            <a:pPr algn="l">
              <a:defRPr sz="1500" b="1" i="0">
                <a:solidFill>
                  <a:srgbClr val="102B39"/>
                </a:solidFill>
                <a:latin typeface="Georgia"/>
                <a:ea typeface="Georgia"/>
                <a:cs typeface="Georgia"/>
              </a:defRPr>
            </a:pPr>
            <a:r>
              <a:rPr sz="1500" b="1" i="0">
                <a:solidFill>
                  <a:srgbClr val="102B39"/>
                </a:solidFill>
                <a:latin typeface="Georgia"/>
                <a:ea typeface="Georgia"/>
                <a:cs typeface="Georgia"/>
              </a:rPr>
              <a:t>Local PLC + interlocks</a:t>
            </a:r>
          </a:p>
        </p:txBody>
      </p:sp>
      <p:sp>
        <p:nvSpPr>
          <p:cNvPr id="29" name="">
            <a:extLst xmlns:a="http://schemas.openxmlformats.org/drawingml/2006/main">
              <a:ext uri="{FF2B5EF4-FFF2-40B4-BE49-F238E27FC236}">
                <a16:creationId xmlns:a16="http://schemas.microsoft.com/office/drawing/2014/main" id="{4E487DD0-B653-46CB-8C41-287C1C9F4D01}"/>
              </a:ext>
            </a:extLst>
          </p:cNvPr>
          <p:cNvSpPr>
            <a:spLocks xmlns:a="http://schemas.openxmlformats.org/drawingml/2006/main" noGrp="1"/>
          </p:cNvSpPr>
          <p:nvPr/>
        </p:nvSpPr>
        <p:spPr>
          <a:xfrm xmlns:a="http://schemas.openxmlformats.org/drawingml/2006/main">
            <a:off x="4286250" y="5095875"/>
            <a:ext cx="314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66B72"/>
                </a:solidFill>
                <a:latin typeface="Aptos"/>
                <a:ea typeface="Aptos"/>
                <a:cs typeface="Aptos"/>
              </a:defRPr>
            </a:defPPr>
          </a:lstStyle>
          <a:p xmlns:a="http://schemas.openxmlformats.org/drawingml/2006/main">
            <a:pPr algn="l">
              <a:defRPr sz="1200" b="0" i="0">
                <a:solidFill>
                  <a:srgbClr val="566B72"/>
                </a:solidFill>
                <a:latin typeface="Aptos"/>
                <a:ea typeface="Aptos"/>
                <a:cs typeface="Aptos"/>
              </a:defRPr>
            </a:pPr>
            <a:r>
              <a:rPr sz="1200" b="0" i="0">
                <a:solidFill>
                  <a:srgbClr val="566B72"/>
                </a:solidFill>
                <a:latin typeface="Aptos"/>
                <a:ea typeface="Aptos"/>
                <a:cs typeface="Aptos"/>
              </a:rPr>
              <a:t>Enforce depth, speed, pressure, load, and stop limits. Local operation remains available if communications fail.</a:t>
            </a:r>
          </a:p>
        </p:txBody>
      </p:sp>
      <p:sp>
        <p:nvSpPr>
          <p:cNvPr id="30" name="">
            <a:extLst xmlns:a="http://schemas.openxmlformats.org/drawingml/2006/main">
              <a:ext uri="{FF2B5EF4-FFF2-40B4-BE49-F238E27FC236}">
                <a16:creationId xmlns:a16="http://schemas.microsoft.com/office/drawing/2014/main" id="{D6DA9399-2F6C-4122-BF21-888C49760479}"/>
              </a:ext>
            </a:extLst>
          </p:cNvPr>
          <p:cNvSpPr>
            <a:spLocks xmlns:a="http://schemas.openxmlformats.org/drawingml/2006/main" noGrp="1"/>
          </p:cNvSpPr>
          <p:nvPr/>
        </p:nvSpPr>
        <p:spPr>
          <a:xfrm xmlns:a="http://schemas.openxmlformats.org/drawingml/2006/main">
            <a:off x="7639050" y="4600575"/>
            <a:ext cx="19050" cy="1219200"/>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11C38F5-0D81-4DC1-9F90-74671BFD545D}"/>
              </a:ext>
            </a:extLst>
          </p:cNvPr>
          <p:cNvSpPr>
            <a:spLocks xmlns:a="http://schemas.openxmlformats.org/drawingml/2006/main" noGrp="1"/>
          </p:cNvSpPr>
          <p:nvPr/>
        </p:nvSpPr>
        <p:spPr>
          <a:xfrm xmlns:a="http://schemas.openxmlformats.org/drawingml/2006/main">
            <a:off x="7962900" y="4762500"/>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02B39"/>
                </a:solidFill>
                <a:latin typeface="Georgia"/>
                <a:ea typeface="Georgia"/>
                <a:cs typeface="Georgia"/>
              </a:defRPr>
            </a:defPPr>
          </a:lstStyle>
          <a:p xmlns:a="http://schemas.openxmlformats.org/drawingml/2006/main">
            <a:pPr algn="l">
              <a:defRPr sz="1500" b="1" i="0">
                <a:solidFill>
                  <a:srgbClr val="102B39"/>
                </a:solidFill>
                <a:latin typeface="Georgia"/>
                <a:ea typeface="Georgia"/>
                <a:cs typeface="Georgia"/>
              </a:defRPr>
            </a:pPr>
            <a:r>
              <a:rPr sz="1500" b="1" i="0">
                <a:solidFill>
                  <a:srgbClr val="102B39"/>
                </a:solidFill>
                <a:latin typeface="Georgia"/>
                <a:ea typeface="Georgia"/>
                <a:cs typeface="Georgia"/>
              </a:rPr>
              <a:t>Operator authorization</a:t>
            </a:r>
          </a:p>
        </p:txBody>
      </p:sp>
      <p:sp>
        <p:nvSpPr>
          <p:cNvPr id="32" name="">
            <a:extLst xmlns:a="http://schemas.openxmlformats.org/drawingml/2006/main">
              <a:ext uri="{FF2B5EF4-FFF2-40B4-BE49-F238E27FC236}">
                <a16:creationId xmlns:a16="http://schemas.microsoft.com/office/drawing/2014/main" id="{66785E3D-27AB-4ADC-A071-186395B4321B}"/>
              </a:ext>
            </a:extLst>
          </p:cNvPr>
          <p:cNvSpPr>
            <a:spLocks xmlns:a="http://schemas.openxmlformats.org/drawingml/2006/main" noGrp="1"/>
          </p:cNvSpPr>
          <p:nvPr/>
        </p:nvSpPr>
        <p:spPr>
          <a:xfrm xmlns:a="http://schemas.openxmlformats.org/drawingml/2006/main">
            <a:off x="7962900" y="5095875"/>
            <a:ext cx="3238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66B72"/>
                </a:solidFill>
                <a:latin typeface="Aptos"/>
                <a:ea typeface="Aptos"/>
                <a:cs typeface="Aptos"/>
              </a:defRPr>
            </a:defPPr>
          </a:lstStyle>
          <a:p xmlns:a="http://schemas.openxmlformats.org/drawingml/2006/main">
            <a:pPr algn="l">
              <a:defRPr sz="1200" b="0" i="0">
                <a:solidFill>
                  <a:srgbClr val="566B72"/>
                </a:solidFill>
                <a:latin typeface="Aptos"/>
                <a:ea typeface="Aptos"/>
                <a:cs typeface="Aptos"/>
              </a:defRPr>
            </a:pPr>
            <a:r>
              <a:rPr sz="1200" b="0" i="0">
                <a:solidFill>
                  <a:srgbClr val="566B72"/>
                </a:solidFill>
                <a:latin typeface="Aptos"/>
                <a:ea typeface="Aptos"/>
                <a:cs typeface="Aptos"/>
              </a:rPr>
              <a:t>Supervised first deployment. Animal identification, handling, and release decisions follow an approved protocol.</a:t>
            </a:r>
          </a:p>
        </p:txBody>
      </p:sp>
      <p:sp>
        <p:nvSpPr>
          <p:cNvPr id="33" name="">
            <a:extLst xmlns:a="http://schemas.openxmlformats.org/drawingml/2006/main">
              <a:ext uri="{FF2B5EF4-FFF2-40B4-BE49-F238E27FC236}">
                <a16:creationId xmlns:a16="http://schemas.microsoft.com/office/drawing/2014/main" id="{71F81CAD-4B4F-4C04-8761-34FF142F5AA0}"/>
              </a:ext>
            </a:extLst>
          </p:cNvPr>
          <p:cNvSpPr>
            <a:spLocks xmlns:a="http://schemas.openxmlformats.org/drawingml/2006/main" noGrp="1"/>
          </p:cNvSpPr>
          <p:nvPr/>
        </p:nvSpPr>
        <p:spPr>
          <a:xfrm xmlns:a="http://schemas.openxmlformats.org/drawingml/2006/main">
            <a:off x="552450" y="6457950"/>
            <a:ext cx="1108710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EA7C648-76B4-4444-B9AD-B1A522CBF398}"/>
              </a:ext>
            </a:extLst>
          </p:cNvPr>
          <p:cNvSpPr>
            <a:spLocks xmlns:a="http://schemas.openxmlformats.org/drawingml/2006/main" noGrp="1"/>
          </p:cNvSpPr>
          <p:nvPr/>
        </p:nvSpPr>
        <p:spPr>
          <a:xfrm xmlns:a="http://schemas.openxmlformats.org/drawingml/2006/main">
            <a:off x="552450" y="655320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66B72"/>
                </a:solidFill>
                <a:latin typeface="Aptos"/>
                <a:ea typeface="Aptos"/>
                <a:cs typeface="Aptos"/>
              </a:defRPr>
            </a:defPPr>
          </a:lstStyle>
          <a:p xmlns:a="http://schemas.openxmlformats.org/drawingml/2006/main">
            <a:pPr algn="l">
              <a:defRPr sz="900" b="1" i="0">
                <a:solidFill>
                  <a:srgbClr val="566B72"/>
                </a:solidFill>
                <a:latin typeface="Aptos"/>
                <a:ea typeface="Aptos"/>
                <a:cs typeface="Aptos"/>
              </a:defRPr>
            </a:pPr>
            <a:r>
              <a:rPr sz="900" b="1" i="0">
                <a:solidFill>
                  <a:srgbClr val="566B72"/>
                </a:solidFill>
                <a:latin typeface="Aptos"/>
                <a:ea typeface="Aptos"/>
                <a:cs typeface="Aptos"/>
              </a:rPr>
              <a:t>MARLIN   /   ATP 2026 • ENEC CHALLENGE</a:t>
            </a:r>
          </a:p>
        </p:txBody>
      </p:sp>
      <p:sp>
        <p:nvSpPr>
          <p:cNvPr id="35" name="">
            <a:extLst xmlns:a="http://schemas.openxmlformats.org/drawingml/2006/main">
              <a:ext uri="{FF2B5EF4-FFF2-40B4-BE49-F238E27FC236}">
                <a16:creationId xmlns:a16="http://schemas.microsoft.com/office/drawing/2014/main" id="{B5BF2E27-1FE8-47C3-8157-2B6DD49FB941}"/>
              </a:ext>
            </a:extLst>
          </p:cNvPr>
          <p:cNvSpPr>
            <a:spLocks xmlns:a="http://schemas.openxmlformats.org/drawingml/2006/main" noGrp="1"/>
          </p:cNvSpPr>
          <p:nvPr/>
        </p:nvSpPr>
        <p:spPr>
          <a:xfrm xmlns:a="http://schemas.openxmlformats.org/drawingml/2006/main">
            <a:off x="11239500" y="65341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566B72"/>
                </a:solidFill>
                <a:latin typeface="Aptos"/>
                <a:ea typeface="Aptos"/>
                <a:cs typeface="Aptos"/>
              </a:defRPr>
            </a:defPPr>
          </a:lstStyle>
          <a:p xmlns:a="http://schemas.openxmlformats.org/drawingml/2006/main">
            <a:pPr algn="r">
              <a:defRPr sz="975" b="1" i="0">
                <a:solidFill>
                  <a:srgbClr val="566B72"/>
                </a:solidFill>
                <a:latin typeface="Aptos"/>
                <a:ea typeface="Aptos"/>
                <a:cs typeface="Aptos"/>
              </a:defRPr>
            </a:pPr>
            <a:r>
              <a:rPr sz="975" b="1" i="0">
                <a:solidFill>
                  <a:srgbClr val="566B72"/>
                </a:solidFill>
                <a:latin typeface="Aptos"/>
                <a:ea typeface="Aptos"/>
                <a:cs typeface="Aptos"/>
              </a:rPr>
              <a:t>05</a:t>
            </a:r>
          </a:p>
        </p:txBody>
      </p:sp>
    </p:spTree>
    <p:extLst>
      <p:ext uri="{BB962C8B-B14F-4D97-AF65-F5344CB8AC3E}">
        <p14:creationId xmlns:p14="http://schemas.microsoft.com/office/powerpoint/2010/main" val="779456533"/>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325B3E7-346C-4A49-80BD-C5E687442AEE}"/>
              </a:ext>
            </a:extLst>
          </p:cNvPr>
          <p:cNvSpPr>
            <a:spLocks xmlns:a="http://schemas.openxmlformats.org/drawingml/2006/main" noGrp="1"/>
          </p:cNvSpPr>
          <p:nvPr/>
        </p:nvSpPr>
        <p:spPr>
          <a:xfrm xmlns:a="http://schemas.openxmlformats.org/drawingml/2006/main">
            <a:off x="552450" y="3619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05   /   MODEL SCREENING</a:t>
            </a:r>
          </a:p>
        </p:txBody>
      </p:sp>
      <p:sp>
        <p:nvSpPr>
          <p:cNvPr id="2" name="">
            <a:extLst xmlns:a="http://schemas.openxmlformats.org/drawingml/2006/main">
              <a:ext uri="{FF2B5EF4-FFF2-40B4-BE49-F238E27FC236}">
                <a16:creationId xmlns:a16="http://schemas.microsoft.com/office/drawing/2014/main" id="{BC44FD82-50E5-4699-ABE8-52AEF39561E5}"/>
              </a:ext>
            </a:extLst>
          </p:cNvPr>
          <p:cNvSpPr>
            <a:spLocks xmlns:a="http://schemas.openxmlformats.org/drawingml/2006/main" noGrp="1"/>
          </p:cNvSpPr>
          <p:nvPr/>
        </p:nvSpPr>
        <p:spPr>
          <a:xfrm xmlns:a="http://schemas.openxmlformats.org/drawingml/2006/main">
            <a:off x="552450" y="72390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B39"/>
                </a:solidFill>
                <a:latin typeface="Georgia"/>
                <a:ea typeface="Georgia"/>
                <a:cs typeface="Georgia"/>
              </a:defRPr>
            </a:defPPr>
          </a:lstStyle>
          <a:p xmlns:a="http://schemas.openxmlformats.org/drawingml/2006/main">
            <a:pPr algn="l">
              <a:defRPr sz="2850" b="1" i="0">
                <a:solidFill>
                  <a:srgbClr val="102B39"/>
                </a:solidFill>
                <a:latin typeface="Georgia"/>
                <a:ea typeface="Georgia"/>
                <a:cs typeface="Georgia"/>
              </a:defRPr>
            </a:pPr>
            <a:r>
              <a:rPr sz="2850" b="1" i="0">
                <a:solidFill>
                  <a:srgbClr val="102B39"/>
                </a:solidFill>
                <a:latin typeface="Georgia"/>
                <a:ea typeface="Georgia"/>
                <a:cs typeface="Georgia"/>
              </a:rPr>
              <a:t>Strong reference case; clear stress-case misses</a:t>
            </a:r>
          </a:p>
        </p:txBody>
      </p:sp>
      <p:sp>
        <p:nvSpPr>
          <p:cNvPr id="3" name="">
            <a:extLst xmlns:a="http://schemas.openxmlformats.org/drawingml/2006/main">
              <a:ext uri="{FF2B5EF4-FFF2-40B4-BE49-F238E27FC236}">
                <a16:creationId xmlns:a16="http://schemas.microsoft.com/office/drawing/2014/main" id="{FC1438D8-CCF8-4255-8A22-B475865E2CB5}"/>
              </a:ext>
            </a:extLst>
          </p:cNvPr>
          <p:cNvSpPr>
            <a:spLocks xmlns:a="http://schemas.openxmlformats.org/drawingml/2006/main" noGrp="1"/>
          </p:cNvSpPr>
          <p:nvPr/>
        </p:nvSpPr>
        <p:spPr>
          <a:xfrm xmlns:a="http://schemas.openxmlformats.org/drawingml/2006/main">
            <a:off x="571500" y="13049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66B72"/>
                </a:solidFill>
                <a:latin typeface="Aptos"/>
                <a:ea typeface="Aptos"/>
                <a:cs typeface="Aptos"/>
              </a:defRPr>
            </a:defPPr>
          </a:lstStyle>
          <a:p xmlns:a="http://schemas.openxmlformats.org/drawingml/2006/main">
            <a:pPr algn="l">
              <a:defRPr sz="1425" b="0" i="0">
                <a:solidFill>
                  <a:srgbClr val="566B72"/>
                </a:solidFill>
                <a:latin typeface="Aptos"/>
                <a:ea typeface="Aptos"/>
                <a:cs typeface="Aptos"/>
              </a:defRPr>
            </a:pPr>
            <a:r>
              <a:rPr sz="1425" b="0" i="0">
                <a:solidFill>
                  <a:srgbClr val="566B72"/>
                </a:solidFill>
                <a:latin typeface="Aptos"/>
                <a:ea typeface="Aptos"/>
                <a:cs typeface="Aptos"/>
              </a:rPr>
              <a:t>Bars show share delivered to the model’s hypothetical receiver—not biological survival or plant performance.</a:t>
            </a:r>
          </a:p>
        </p:txBody>
      </p:sp>
      <p:sp>
        <p:nvSpPr>
          <p:cNvPr id="4" name="">
            <a:extLst xmlns:a="http://schemas.openxmlformats.org/drawingml/2006/main">
              <a:ext uri="{FF2B5EF4-FFF2-40B4-BE49-F238E27FC236}">
                <a16:creationId xmlns:a16="http://schemas.microsoft.com/office/drawing/2014/main" id="{45A42DC7-81D0-4537-92D5-33FD8FAFE55B}"/>
              </a:ext>
            </a:extLst>
          </p:cNvPr>
          <p:cNvSpPr>
            <a:spLocks xmlns:a="http://schemas.openxmlformats.org/drawingml/2006/main" noGrp="1"/>
          </p:cNvSpPr>
          <p:nvPr/>
        </p:nvSpPr>
        <p:spPr>
          <a:xfrm xmlns:a="http://schemas.openxmlformats.org/drawingml/2006/main">
            <a:off x="3571875" y="1952625"/>
            <a:ext cx="447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87E83"/>
                </a:solidFill>
                <a:latin typeface="Aptos"/>
                <a:ea typeface="Aptos"/>
                <a:cs typeface="Aptos"/>
              </a:defRPr>
            </a:defPPr>
          </a:lstStyle>
          <a:p xmlns:a="http://schemas.openxmlformats.org/drawingml/2006/main">
            <a:pPr algn="l">
              <a:defRPr sz="975" b="1" i="0">
                <a:solidFill>
                  <a:srgbClr val="087E83"/>
                </a:solidFill>
                <a:latin typeface="Aptos"/>
                <a:ea typeface="Aptos"/>
                <a:cs typeface="Aptos"/>
              </a:defRPr>
            </a:pPr>
            <a:r>
              <a:rPr sz="975" b="1" i="0">
                <a:solidFill>
                  <a:srgbClr val="087E83"/>
                </a:solidFill>
                <a:latin typeface="Aptos"/>
                <a:ea typeface="Aptos"/>
                <a:cs typeface="Aptos"/>
              </a:rPr>
              <a:t>DELIVERED TO HYPOTHETICAL RECEIVING (%)</a:t>
            </a:r>
          </a:p>
        </p:txBody>
      </p:sp>
      <p:sp>
        <p:nvSpPr>
          <p:cNvPr id="5" name="">
            <a:extLst xmlns:a="http://schemas.openxmlformats.org/drawingml/2006/main">
              <a:ext uri="{FF2B5EF4-FFF2-40B4-BE49-F238E27FC236}">
                <a16:creationId xmlns:a16="http://schemas.microsoft.com/office/drawing/2014/main" id="{E44B272C-E771-4148-B03A-FC0877D66C82}"/>
              </a:ext>
            </a:extLst>
          </p:cNvPr>
          <p:cNvSpPr>
            <a:spLocks xmlns:a="http://schemas.openxmlformats.org/drawingml/2006/main" noGrp="1"/>
          </p:cNvSpPr>
          <p:nvPr/>
        </p:nvSpPr>
        <p:spPr>
          <a:xfrm xmlns:a="http://schemas.openxmlformats.org/drawingml/2006/main">
            <a:off x="3571875" y="2266950"/>
            <a:ext cx="4429125" cy="19050"/>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6F50397-1BDE-4CAB-99B9-D60718B47D39}"/>
              </a:ext>
            </a:extLst>
          </p:cNvPr>
          <p:cNvSpPr>
            <a:spLocks xmlns:a="http://schemas.openxmlformats.org/drawingml/2006/main" noGrp="1"/>
          </p:cNvSpPr>
          <p:nvPr/>
        </p:nvSpPr>
        <p:spPr>
          <a:xfrm xmlns:a="http://schemas.openxmlformats.org/drawingml/2006/main">
            <a:off x="3571875" y="2209800"/>
            <a:ext cx="9525" cy="2114550"/>
          </a:xfrm>
          <a:prstGeom xmlns:a="http://schemas.openxmlformats.org/drawingml/2006/main" prst="rect">
            <a:avLst/>
          </a:prstGeom>
          <a:solidFill xmlns:a="http://schemas.openxmlformats.org/drawingml/2006/main">
            <a:srgbClr val="DAE1D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020507E-7911-4CCC-92B9-BDE528ED1E12}"/>
              </a:ext>
            </a:extLst>
          </p:cNvPr>
          <p:cNvSpPr>
            <a:spLocks xmlns:a="http://schemas.openxmlformats.org/drawingml/2006/main" noGrp="1"/>
          </p:cNvSpPr>
          <p:nvPr/>
        </p:nvSpPr>
        <p:spPr>
          <a:xfrm xmlns:a="http://schemas.openxmlformats.org/drawingml/2006/main">
            <a:off x="3419475" y="4381500"/>
            <a:ext cx="323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829296"/>
                </a:solidFill>
                <a:latin typeface="Aptos"/>
                <a:ea typeface="Aptos"/>
                <a:cs typeface="Aptos"/>
              </a:defRPr>
            </a:defPPr>
          </a:lstStyle>
          <a:p xmlns:a="http://schemas.openxmlformats.org/drawingml/2006/main">
            <a:pPr algn="ctr">
              <a:defRPr sz="825" b="0" i="0">
                <a:solidFill>
                  <a:srgbClr val="829296"/>
                </a:solidFill>
                <a:latin typeface="Aptos"/>
                <a:ea typeface="Aptos"/>
                <a:cs typeface="Aptos"/>
              </a:defRPr>
            </a:pPr>
            <a:r>
              <a:rPr sz="825" b="0" i="0">
                <a:solidFill>
                  <a:srgbClr val="829296"/>
                </a:solidFill>
                <a:latin typeface="Aptos"/>
                <a:ea typeface="Aptos"/>
                <a:cs typeface="Aptos"/>
              </a:rPr>
              <a:t>0</a:t>
            </a:r>
          </a:p>
        </p:txBody>
      </p:sp>
      <p:sp>
        <p:nvSpPr>
          <p:cNvPr id="8" name="">
            <a:extLst xmlns:a="http://schemas.openxmlformats.org/drawingml/2006/main">
              <a:ext uri="{FF2B5EF4-FFF2-40B4-BE49-F238E27FC236}">
                <a16:creationId xmlns:a16="http://schemas.microsoft.com/office/drawing/2014/main" id="{BAEEF9EC-20C8-4678-910B-7387EEEAAA4F}"/>
              </a:ext>
            </a:extLst>
          </p:cNvPr>
          <p:cNvSpPr>
            <a:spLocks xmlns:a="http://schemas.openxmlformats.org/drawingml/2006/main" noGrp="1"/>
          </p:cNvSpPr>
          <p:nvPr/>
        </p:nvSpPr>
        <p:spPr>
          <a:xfrm xmlns:a="http://schemas.openxmlformats.org/drawingml/2006/main">
            <a:off x="4679156" y="2209800"/>
            <a:ext cx="9525" cy="2114550"/>
          </a:xfrm>
          <a:prstGeom xmlns:a="http://schemas.openxmlformats.org/drawingml/2006/main" prst="rect">
            <a:avLst/>
          </a:prstGeom>
          <a:solidFill xmlns:a="http://schemas.openxmlformats.org/drawingml/2006/main">
            <a:srgbClr val="DAE1D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9CCB6F5-7587-43F7-A7D1-DBA502CAC177}"/>
              </a:ext>
            </a:extLst>
          </p:cNvPr>
          <p:cNvSpPr>
            <a:spLocks xmlns:a="http://schemas.openxmlformats.org/drawingml/2006/main" noGrp="1"/>
          </p:cNvSpPr>
          <p:nvPr/>
        </p:nvSpPr>
        <p:spPr>
          <a:xfrm xmlns:a="http://schemas.openxmlformats.org/drawingml/2006/main">
            <a:off x="4526756" y="4381500"/>
            <a:ext cx="323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829296"/>
                </a:solidFill>
                <a:latin typeface="Aptos"/>
                <a:ea typeface="Aptos"/>
                <a:cs typeface="Aptos"/>
              </a:defRPr>
            </a:defPPr>
          </a:lstStyle>
          <a:p xmlns:a="http://schemas.openxmlformats.org/drawingml/2006/main">
            <a:pPr algn="ctr">
              <a:defRPr sz="825" b="0" i="0">
                <a:solidFill>
                  <a:srgbClr val="829296"/>
                </a:solidFill>
                <a:latin typeface="Aptos"/>
                <a:ea typeface="Aptos"/>
                <a:cs typeface="Aptos"/>
              </a:defRPr>
            </a:pPr>
            <a:r>
              <a:rPr sz="825" b="0" i="0">
                <a:solidFill>
                  <a:srgbClr val="829296"/>
                </a:solidFill>
                <a:latin typeface="Aptos"/>
                <a:ea typeface="Aptos"/>
                <a:cs typeface="Aptos"/>
              </a:rPr>
              <a:t>25</a:t>
            </a:r>
          </a:p>
        </p:txBody>
      </p:sp>
      <p:sp>
        <p:nvSpPr>
          <p:cNvPr id="10" name="">
            <a:extLst xmlns:a="http://schemas.openxmlformats.org/drawingml/2006/main">
              <a:ext uri="{FF2B5EF4-FFF2-40B4-BE49-F238E27FC236}">
                <a16:creationId xmlns:a16="http://schemas.microsoft.com/office/drawing/2014/main" id="{2C14A4BD-E156-42BE-A49E-431AC339AA14}"/>
              </a:ext>
            </a:extLst>
          </p:cNvPr>
          <p:cNvSpPr>
            <a:spLocks xmlns:a="http://schemas.openxmlformats.org/drawingml/2006/main" noGrp="1"/>
          </p:cNvSpPr>
          <p:nvPr/>
        </p:nvSpPr>
        <p:spPr>
          <a:xfrm xmlns:a="http://schemas.openxmlformats.org/drawingml/2006/main">
            <a:off x="5786438" y="2209800"/>
            <a:ext cx="9525" cy="2114550"/>
          </a:xfrm>
          <a:prstGeom xmlns:a="http://schemas.openxmlformats.org/drawingml/2006/main" prst="rect">
            <a:avLst/>
          </a:prstGeom>
          <a:solidFill xmlns:a="http://schemas.openxmlformats.org/drawingml/2006/main">
            <a:srgbClr val="DAE1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5BE7CCB-C090-4E12-B2F9-3A6459B1C5BC}"/>
              </a:ext>
            </a:extLst>
          </p:cNvPr>
          <p:cNvSpPr>
            <a:spLocks xmlns:a="http://schemas.openxmlformats.org/drawingml/2006/main" noGrp="1"/>
          </p:cNvSpPr>
          <p:nvPr/>
        </p:nvSpPr>
        <p:spPr>
          <a:xfrm xmlns:a="http://schemas.openxmlformats.org/drawingml/2006/main">
            <a:off x="5634038" y="4381500"/>
            <a:ext cx="323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829296"/>
                </a:solidFill>
                <a:latin typeface="Aptos"/>
                <a:ea typeface="Aptos"/>
                <a:cs typeface="Aptos"/>
              </a:defRPr>
            </a:defPPr>
          </a:lstStyle>
          <a:p xmlns:a="http://schemas.openxmlformats.org/drawingml/2006/main">
            <a:pPr algn="ctr">
              <a:defRPr sz="825" b="0" i="0">
                <a:solidFill>
                  <a:srgbClr val="829296"/>
                </a:solidFill>
                <a:latin typeface="Aptos"/>
                <a:ea typeface="Aptos"/>
                <a:cs typeface="Aptos"/>
              </a:defRPr>
            </a:pPr>
            <a:r>
              <a:rPr sz="825" b="0" i="0">
                <a:solidFill>
                  <a:srgbClr val="829296"/>
                </a:solidFill>
                <a:latin typeface="Aptos"/>
                <a:ea typeface="Aptos"/>
                <a:cs typeface="Aptos"/>
              </a:rPr>
              <a:t>50</a:t>
            </a:r>
          </a:p>
        </p:txBody>
      </p:sp>
      <p:sp>
        <p:nvSpPr>
          <p:cNvPr id="12" name="">
            <a:extLst xmlns:a="http://schemas.openxmlformats.org/drawingml/2006/main">
              <a:ext uri="{FF2B5EF4-FFF2-40B4-BE49-F238E27FC236}">
                <a16:creationId xmlns:a16="http://schemas.microsoft.com/office/drawing/2014/main" id="{17BF2976-073C-4B56-805D-20DE02C88C83}"/>
              </a:ext>
            </a:extLst>
          </p:cNvPr>
          <p:cNvSpPr>
            <a:spLocks xmlns:a="http://schemas.openxmlformats.org/drawingml/2006/main" noGrp="1"/>
          </p:cNvSpPr>
          <p:nvPr/>
        </p:nvSpPr>
        <p:spPr>
          <a:xfrm xmlns:a="http://schemas.openxmlformats.org/drawingml/2006/main">
            <a:off x="6893719" y="2209800"/>
            <a:ext cx="9525" cy="2114550"/>
          </a:xfrm>
          <a:prstGeom xmlns:a="http://schemas.openxmlformats.org/drawingml/2006/main" prst="rect">
            <a:avLst/>
          </a:prstGeom>
          <a:solidFill xmlns:a="http://schemas.openxmlformats.org/drawingml/2006/main">
            <a:srgbClr val="DAE1D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5ABAD9A-E5AE-4C88-9527-3F3251BE6C22}"/>
              </a:ext>
            </a:extLst>
          </p:cNvPr>
          <p:cNvSpPr>
            <a:spLocks xmlns:a="http://schemas.openxmlformats.org/drawingml/2006/main" noGrp="1"/>
          </p:cNvSpPr>
          <p:nvPr/>
        </p:nvSpPr>
        <p:spPr>
          <a:xfrm xmlns:a="http://schemas.openxmlformats.org/drawingml/2006/main">
            <a:off x="6741319" y="4381500"/>
            <a:ext cx="323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829296"/>
                </a:solidFill>
                <a:latin typeface="Aptos"/>
                <a:ea typeface="Aptos"/>
                <a:cs typeface="Aptos"/>
              </a:defRPr>
            </a:defPPr>
          </a:lstStyle>
          <a:p xmlns:a="http://schemas.openxmlformats.org/drawingml/2006/main">
            <a:pPr algn="ctr">
              <a:defRPr sz="825" b="0" i="0">
                <a:solidFill>
                  <a:srgbClr val="829296"/>
                </a:solidFill>
                <a:latin typeface="Aptos"/>
                <a:ea typeface="Aptos"/>
                <a:cs typeface="Aptos"/>
              </a:defRPr>
            </a:pPr>
            <a:r>
              <a:rPr sz="825" b="0" i="0">
                <a:solidFill>
                  <a:srgbClr val="829296"/>
                </a:solidFill>
                <a:latin typeface="Aptos"/>
                <a:ea typeface="Aptos"/>
                <a:cs typeface="Aptos"/>
              </a:rPr>
              <a:t>75</a:t>
            </a:r>
          </a:p>
        </p:txBody>
      </p:sp>
      <p:sp>
        <p:nvSpPr>
          <p:cNvPr id="14" name="">
            <a:extLst xmlns:a="http://schemas.openxmlformats.org/drawingml/2006/main">
              <a:ext uri="{FF2B5EF4-FFF2-40B4-BE49-F238E27FC236}">
                <a16:creationId xmlns:a16="http://schemas.microsoft.com/office/drawing/2014/main" id="{3C2C9267-C913-47B6-9444-66E392CE2E24}"/>
              </a:ext>
            </a:extLst>
          </p:cNvPr>
          <p:cNvSpPr>
            <a:spLocks xmlns:a="http://schemas.openxmlformats.org/drawingml/2006/main" noGrp="1"/>
          </p:cNvSpPr>
          <p:nvPr/>
        </p:nvSpPr>
        <p:spPr>
          <a:xfrm xmlns:a="http://schemas.openxmlformats.org/drawingml/2006/main">
            <a:off x="8001000" y="2209800"/>
            <a:ext cx="9525" cy="2114550"/>
          </a:xfrm>
          <a:prstGeom xmlns:a="http://schemas.openxmlformats.org/drawingml/2006/main" prst="rect">
            <a:avLst/>
          </a:prstGeom>
          <a:solidFill xmlns:a="http://schemas.openxmlformats.org/drawingml/2006/main">
            <a:srgbClr val="DAE1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4A33F78-B49A-4B18-9EF9-D1BFBD26F5E1}"/>
              </a:ext>
            </a:extLst>
          </p:cNvPr>
          <p:cNvSpPr>
            <a:spLocks xmlns:a="http://schemas.openxmlformats.org/drawingml/2006/main" noGrp="1"/>
          </p:cNvSpPr>
          <p:nvPr/>
        </p:nvSpPr>
        <p:spPr>
          <a:xfrm xmlns:a="http://schemas.openxmlformats.org/drawingml/2006/main">
            <a:off x="7848600" y="4381500"/>
            <a:ext cx="323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0" i="0">
                <a:solidFill>
                  <a:srgbClr val="829296"/>
                </a:solidFill>
                <a:latin typeface="Aptos"/>
                <a:ea typeface="Aptos"/>
                <a:cs typeface="Aptos"/>
              </a:defRPr>
            </a:defPPr>
          </a:lstStyle>
          <a:p xmlns:a="http://schemas.openxmlformats.org/drawingml/2006/main">
            <a:pPr algn="ctr">
              <a:defRPr sz="825" b="0" i="0">
                <a:solidFill>
                  <a:srgbClr val="829296"/>
                </a:solidFill>
                <a:latin typeface="Aptos"/>
                <a:ea typeface="Aptos"/>
                <a:cs typeface="Aptos"/>
              </a:defRPr>
            </a:pPr>
            <a:r>
              <a:rPr sz="825" b="0" i="0">
                <a:solidFill>
                  <a:srgbClr val="829296"/>
                </a:solidFill>
                <a:latin typeface="Aptos"/>
                <a:ea typeface="Aptos"/>
                <a:cs typeface="Aptos"/>
              </a:rPr>
              <a:t>100</a:t>
            </a:r>
          </a:p>
        </p:txBody>
      </p:sp>
      <p:sp>
        <p:nvSpPr>
          <p:cNvPr id="16" name="">
            <a:extLst xmlns:a="http://schemas.openxmlformats.org/drawingml/2006/main">
              <a:ext uri="{FF2B5EF4-FFF2-40B4-BE49-F238E27FC236}">
                <a16:creationId xmlns:a16="http://schemas.microsoft.com/office/drawing/2014/main" id="{6036958D-2352-466D-AC97-30FE97D7E9D1}"/>
              </a:ext>
            </a:extLst>
          </p:cNvPr>
          <p:cNvSpPr>
            <a:spLocks xmlns:a="http://schemas.openxmlformats.org/drawingml/2006/main" noGrp="1"/>
          </p:cNvSpPr>
          <p:nvPr/>
        </p:nvSpPr>
        <p:spPr>
          <a:xfrm xmlns:a="http://schemas.openxmlformats.org/drawingml/2006/main">
            <a:off x="647700" y="2409825"/>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102B39"/>
                </a:solidFill>
                <a:latin typeface="Aptos"/>
                <a:ea typeface="Aptos"/>
                <a:cs typeface="Aptos"/>
              </a:defRPr>
            </a:defPPr>
          </a:lstStyle>
          <a:p xmlns:a="http://schemas.openxmlformats.org/drawingml/2006/main">
            <a:pPr algn="l">
              <a:defRPr sz="1200" b="1" i="0">
                <a:solidFill>
                  <a:srgbClr val="102B39"/>
                </a:solidFill>
                <a:latin typeface="Aptos"/>
                <a:ea typeface="Aptos"/>
                <a:cs typeface="Aptos"/>
              </a:defRPr>
            </a:pPr>
            <a:r>
              <a:rPr sz="1200" b="1" i="0">
                <a:solidFill>
                  <a:srgbClr val="102B39"/>
                </a:solidFill>
                <a:latin typeface="Aptos"/>
                <a:ea typeface="Aptos"/>
                <a:cs typeface="Aptos"/>
              </a:rPr>
              <a:t>Reference • bubbles off</a:t>
            </a:r>
          </a:p>
        </p:txBody>
      </p:sp>
      <p:sp>
        <p:nvSpPr>
          <p:cNvPr id="17" name="">
            <a:extLst xmlns:a="http://schemas.openxmlformats.org/drawingml/2006/main">
              <a:ext uri="{FF2B5EF4-FFF2-40B4-BE49-F238E27FC236}">
                <a16:creationId xmlns:a16="http://schemas.microsoft.com/office/drawing/2014/main" id="{8037517B-CD6B-46AC-B881-6B23200B0913}"/>
              </a:ext>
            </a:extLst>
          </p:cNvPr>
          <p:cNvSpPr>
            <a:spLocks xmlns:a="http://schemas.openxmlformats.org/drawingml/2006/main" noGrp="1"/>
          </p:cNvSpPr>
          <p:nvPr/>
        </p:nvSpPr>
        <p:spPr>
          <a:xfrm xmlns:a="http://schemas.openxmlformats.org/drawingml/2006/main">
            <a:off x="3571875" y="2505075"/>
            <a:ext cx="4318397" cy="180975"/>
          </a:xfrm>
          <a:prstGeom xmlns:a="http://schemas.openxmlformats.org/drawingml/2006/main" prst="rect">
            <a:avLst/>
          </a:prstGeom>
          <a:solidFill xmlns:a="http://schemas.openxmlformats.org/drawingml/2006/main">
            <a:srgbClr val="087E8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FB137A4-3DE1-43ED-A201-04AEEA14AA6E}"/>
              </a:ext>
            </a:extLst>
          </p:cNvPr>
          <p:cNvSpPr>
            <a:spLocks xmlns:a="http://schemas.openxmlformats.org/drawingml/2006/main" noGrp="1"/>
          </p:cNvSpPr>
          <p:nvPr/>
        </p:nvSpPr>
        <p:spPr>
          <a:xfrm xmlns:a="http://schemas.openxmlformats.org/drawingml/2006/main">
            <a:off x="7890272" y="2505075"/>
            <a:ext cx="110728" cy="180975"/>
          </a:xfrm>
          <a:prstGeom xmlns:a="http://schemas.openxmlformats.org/drawingml/2006/main" prst="rect">
            <a:avLst/>
          </a:prstGeom>
          <a:solidFill xmlns:a="http://schemas.openxmlformats.org/drawingml/2006/main">
            <a:srgbClr val="061B2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7653EA2-21FE-452C-A2BF-58E063E5F28E}"/>
              </a:ext>
            </a:extLst>
          </p:cNvPr>
          <p:cNvSpPr>
            <a:spLocks xmlns:a="http://schemas.openxmlformats.org/drawingml/2006/main" noGrp="1"/>
          </p:cNvSpPr>
          <p:nvPr/>
        </p:nvSpPr>
        <p:spPr>
          <a:xfrm xmlns:a="http://schemas.openxmlformats.org/drawingml/2006/main">
            <a:off x="7296150" y="24765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102B39"/>
                </a:solidFill>
                <a:latin typeface="Aptos"/>
                <a:ea typeface="Aptos"/>
                <a:cs typeface="Aptos"/>
              </a:defRPr>
            </a:defPPr>
          </a:lstStyle>
          <a:p xmlns:a="http://schemas.openxmlformats.org/drawingml/2006/main">
            <a:pPr algn="l">
              <a:defRPr sz="1050" b="1" i="0">
                <a:solidFill>
                  <a:srgbClr val="102B39"/>
                </a:solidFill>
                <a:latin typeface="Aptos"/>
                <a:ea typeface="Aptos"/>
                <a:cs typeface="Aptos"/>
              </a:defRPr>
            </a:pPr>
            <a:r>
              <a:rPr sz="1050" b="1" i="0">
                <a:solidFill>
                  <a:srgbClr val="102B39"/>
                </a:solidFill>
                <a:latin typeface="Aptos"/>
                <a:ea typeface="Aptos"/>
                <a:cs typeface="Aptos"/>
              </a:rPr>
              <a:t>97.5%</a:t>
            </a:r>
          </a:p>
        </p:txBody>
      </p:sp>
      <p:sp>
        <p:nvSpPr>
          <p:cNvPr id="20" name="">
            <a:extLst xmlns:a="http://schemas.openxmlformats.org/drawingml/2006/main">
              <a:ext uri="{FF2B5EF4-FFF2-40B4-BE49-F238E27FC236}">
                <a16:creationId xmlns:a16="http://schemas.microsoft.com/office/drawing/2014/main" id="{601FC080-3CB3-477B-ADD1-7709EDBE49F5}"/>
              </a:ext>
            </a:extLst>
          </p:cNvPr>
          <p:cNvSpPr>
            <a:spLocks xmlns:a="http://schemas.openxmlformats.org/drawingml/2006/main" noGrp="1"/>
          </p:cNvSpPr>
          <p:nvPr/>
        </p:nvSpPr>
        <p:spPr>
          <a:xfrm xmlns:a="http://schemas.openxmlformats.org/drawingml/2006/main">
            <a:off x="8172450" y="247650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2.5% uncaptured</a:t>
            </a:r>
          </a:p>
        </p:txBody>
      </p:sp>
      <p:sp>
        <p:nvSpPr>
          <p:cNvPr id="21" name="">
            <a:extLst xmlns:a="http://schemas.openxmlformats.org/drawingml/2006/main">
              <a:ext uri="{FF2B5EF4-FFF2-40B4-BE49-F238E27FC236}">
                <a16:creationId xmlns:a16="http://schemas.microsoft.com/office/drawing/2014/main" id="{5CF07AB8-4690-45B4-9D7C-FE7B58618BC7}"/>
              </a:ext>
            </a:extLst>
          </p:cNvPr>
          <p:cNvSpPr>
            <a:spLocks xmlns:a="http://schemas.openxmlformats.org/drawingml/2006/main" noGrp="1"/>
          </p:cNvSpPr>
          <p:nvPr/>
        </p:nvSpPr>
        <p:spPr>
          <a:xfrm xmlns:a="http://schemas.openxmlformats.org/drawingml/2006/main">
            <a:off x="647700" y="2886075"/>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02B39"/>
                </a:solidFill>
                <a:latin typeface="Aptos"/>
                <a:ea typeface="Aptos"/>
                <a:cs typeface="Aptos"/>
              </a:defRPr>
            </a:defPPr>
          </a:lstStyle>
          <a:p xmlns:a="http://schemas.openxmlformats.org/drawingml/2006/main">
            <a:pPr algn="l">
              <a:defRPr sz="1200" b="0" i="0">
                <a:solidFill>
                  <a:srgbClr val="102B39"/>
                </a:solidFill>
                <a:latin typeface="Aptos"/>
                <a:ea typeface="Aptos"/>
                <a:cs typeface="Aptos"/>
              </a:defRPr>
            </a:pPr>
            <a:r>
              <a:rPr sz="1200" b="0" i="0">
                <a:solidFill>
                  <a:srgbClr val="102B39"/>
                </a:solidFill>
                <a:latin typeface="Aptos"/>
                <a:ea typeface="Aptos"/>
                <a:cs typeface="Aptos"/>
              </a:rPr>
              <a:t>Storm • 2 m waves / 14 m/s wind</a:t>
            </a:r>
          </a:p>
        </p:txBody>
      </p:sp>
      <p:sp>
        <p:nvSpPr>
          <p:cNvPr id="22" name="">
            <a:extLst xmlns:a="http://schemas.openxmlformats.org/drawingml/2006/main">
              <a:ext uri="{FF2B5EF4-FFF2-40B4-BE49-F238E27FC236}">
                <a16:creationId xmlns:a16="http://schemas.microsoft.com/office/drawing/2014/main" id="{F7BF9212-E462-4869-AC41-7E15A7B5F6E0}"/>
              </a:ext>
            </a:extLst>
          </p:cNvPr>
          <p:cNvSpPr>
            <a:spLocks xmlns:a="http://schemas.openxmlformats.org/drawingml/2006/main" noGrp="1"/>
          </p:cNvSpPr>
          <p:nvPr/>
        </p:nvSpPr>
        <p:spPr>
          <a:xfrm xmlns:a="http://schemas.openxmlformats.org/drawingml/2006/main">
            <a:off x="3571875" y="2981325"/>
            <a:ext cx="3720465" cy="180975"/>
          </a:xfrm>
          <a:prstGeom xmlns:a="http://schemas.openxmlformats.org/drawingml/2006/main" prst="rect">
            <a:avLst/>
          </a:prstGeom>
          <a:solidFill xmlns:a="http://schemas.openxmlformats.org/drawingml/2006/main">
            <a:srgbClr val="EA705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4928760-3758-49BA-ACD2-96ED71ECB865}"/>
              </a:ext>
            </a:extLst>
          </p:cNvPr>
          <p:cNvSpPr>
            <a:spLocks xmlns:a="http://schemas.openxmlformats.org/drawingml/2006/main" noGrp="1"/>
          </p:cNvSpPr>
          <p:nvPr/>
        </p:nvSpPr>
        <p:spPr>
          <a:xfrm xmlns:a="http://schemas.openxmlformats.org/drawingml/2006/main">
            <a:off x="7292340" y="2981325"/>
            <a:ext cx="708660" cy="180975"/>
          </a:xfrm>
          <a:prstGeom xmlns:a="http://schemas.openxmlformats.org/drawingml/2006/main" prst="rect">
            <a:avLst/>
          </a:prstGeom>
          <a:solidFill xmlns:a="http://schemas.openxmlformats.org/drawingml/2006/main">
            <a:srgbClr val="061B2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3948AA7-E382-43F1-86CD-7606C3B85E5F}"/>
              </a:ext>
            </a:extLst>
          </p:cNvPr>
          <p:cNvSpPr>
            <a:spLocks xmlns:a="http://schemas.openxmlformats.org/drawingml/2006/main" noGrp="1"/>
          </p:cNvSpPr>
          <p:nvPr/>
        </p:nvSpPr>
        <p:spPr>
          <a:xfrm xmlns:a="http://schemas.openxmlformats.org/drawingml/2006/main">
            <a:off x="7296150" y="29527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102B39"/>
                </a:solidFill>
                <a:latin typeface="Aptos"/>
                <a:ea typeface="Aptos"/>
                <a:cs typeface="Aptos"/>
              </a:defRPr>
            </a:defPPr>
          </a:lstStyle>
          <a:p xmlns:a="http://schemas.openxmlformats.org/drawingml/2006/main">
            <a:pPr algn="l">
              <a:defRPr sz="1050" b="1" i="0">
                <a:solidFill>
                  <a:srgbClr val="102B39"/>
                </a:solidFill>
                <a:latin typeface="Aptos"/>
                <a:ea typeface="Aptos"/>
                <a:cs typeface="Aptos"/>
              </a:defRPr>
            </a:pPr>
            <a:r>
              <a:rPr sz="1050" b="1" i="0">
                <a:solidFill>
                  <a:srgbClr val="102B39"/>
                </a:solidFill>
                <a:latin typeface="Aptos"/>
                <a:ea typeface="Aptos"/>
                <a:cs typeface="Aptos"/>
              </a:rPr>
              <a:t>84%</a:t>
            </a:r>
          </a:p>
        </p:txBody>
      </p:sp>
      <p:sp>
        <p:nvSpPr>
          <p:cNvPr id="25" name="">
            <a:extLst xmlns:a="http://schemas.openxmlformats.org/drawingml/2006/main">
              <a:ext uri="{FF2B5EF4-FFF2-40B4-BE49-F238E27FC236}">
                <a16:creationId xmlns:a16="http://schemas.microsoft.com/office/drawing/2014/main" id="{3770C375-3C20-4D5D-912A-057C215C7864}"/>
              </a:ext>
            </a:extLst>
          </p:cNvPr>
          <p:cNvSpPr>
            <a:spLocks xmlns:a="http://schemas.openxmlformats.org/drawingml/2006/main" noGrp="1"/>
          </p:cNvSpPr>
          <p:nvPr/>
        </p:nvSpPr>
        <p:spPr>
          <a:xfrm xmlns:a="http://schemas.openxmlformats.org/drawingml/2006/main">
            <a:off x="8172450" y="29527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EA705E"/>
                </a:solidFill>
                <a:latin typeface="Aptos"/>
                <a:ea typeface="Aptos"/>
                <a:cs typeface="Aptos"/>
              </a:defRPr>
            </a:defPPr>
          </a:lstStyle>
          <a:p xmlns:a="http://schemas.openxmlformats.org/drawingml/2006/main">
            <a:pPr algn="l">
              <a:defRPr sz="1050" b="1" i="0">
                <a:solidFill>
                  <a:srgbClr val="EA705E"/>
                </a:solidFill>
                <a:latin typeface="Aptos"/>
                <a:ea typeface="Aptos"/>
                <a:cs typeface="Aptos"/>
              </a:defRPr>
            </a:pPr>
            <a:r>
              <a:rPr sz="1050" b="1" i="0">
                <a:solidFill>
                  <a:srgbClr val="EA705E"/>
                </a:solidFill>
                <a:latin typeface="Aptos"/>
                <a:ea typeface="Aptos"/>
                <a:cs typeface="Aptos"/>
              </a:rPr>
              <a:t>16% uncaptured</a:t>
            </a:r>
          </a:p>
        </p:txBody>
      </p:sp>
      <p:sp>
        <p:nvSpPr>
          <p:cNvPr id="26" name="">
            <a:extLst xmlns:a="http://schemas.openxmlformats.org/drawingml/2006/main">
              <a:ext uri="{FF2B5EF4-FFF2-40B4-BE49-F238E27FC236}">
                <a16:creationId xmlns:a16="http://schemas.microsoft.com/office/drawing/2014/main" id="{F98DFB2A-1A88-46AC-8ED6-4A033818EFD2}"/>
              </a:ext>
            </a:extLst>
          </p:cNvPr>
          <p:cNvSpPr>
            <a:spLocks xmlns:a="http://schemas.openxmlformats.org/drawingml/2006/main" noGrp="1"/>
          </p:cNvSpPr>
          <p:nvPr/>
        </p:nvSpPr>
        <p:spPr>
          <a:xfrm xmlns:a="http://schemas.openxmlformats.org/drawingml/2006/main">
            <a:off x="647700" y="3362325"/>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02B39"/>
                </a:solidFill>
                <a:latin typeface="Aptos"/>
                <a:ea typeface="Aptos"/>
                <a:cs typeface="Aptos"/>
              </a:defRPr>
            </a:defPPr>
          </a:lstStyle>
          <a:p xmlns:a="http://schemas.openxmlformats.org/drawingml/2006/main">
            <a:pPr algn="l">
              <a:defRPr sz="1200" b="0" i="0">
                <a:solidFill>
                  <a:srgbClr val="102B39"/>
                </a:solidFill>
                <a:latin typeface="Aptos"/>
                <a:ea typeface="Aptos"/>
                <a:cs typeface="Aptos"/>
              </a:defRPr>
            </a:pPr>
            <a:r>
              <a:rPr sz="1200" b="0" i="0">
                <a:solidFill>
                  <a:srgbClr val="102B39"/>
                </a:solidFill>
                <a:latin typeface="Aptos"/>
                <a:ea typeface="Aptos"/>
                <a:cs typeface="Aptos"/>
              </a:rPr>
              <a:t>Strong cross-current sensitivity</a:t>
            </a:r>
          </a:p>
        </p:txBody>
      </p:sp>
      <p:sp>
        <p:nvSpPr>
          <p:cNvPr id="27" name="">
            <a:extLst xmlns:a="http://schemas.openxmlformats.org/drawingml/2006/main">
              <a:ext uri="{FF2B5EF4-FFF2-40B4-BE49-F238E27FC236}">
                <a16:creationId xmlns:a16="http://schemas.microsoft.com/office/drawing/2014/main" id="{FCC548AA-F32E-495D-BD3E-38DC615E8C9E}"/>
              </a:ext>
            </a:extLst>
          </p:cNvPr>
          <p:cNvSpPr>
            <a:spLocks xmlns:a="http://schemas.openxmlformats.org/drawingml/2006/main" noGrp="1"/>
          </p:cNvSpPr>
          <p:nvPr/>
        </p:nvSpPr>
        <p:spPr>
          <a:xfrm xmlns:a="http://schemas.openxmlformats.org/drawingml/2006/main">
            <a:off x="3571875" y="3457575"/>
            <a:ext cx="4141232" cy="180975"/>
          </a:xfrm>
          <a:prstGeom xmlns:a="http://schemas.openxmlformats.org/drawingml/2006/main" prst="rect">
            <a:avLst/>
          </a:prstGeom>
          <a:solidFill xmlns:a="http://schemas.openxmlformats.org/drawingml/2006/main">
            <a:srgbClr val="D4A74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C5ACD7F-AF81-4F42-BF82-EAD0802341D0}"/>
              </a:ext>
            </a:extLst>
          </p:cNvPr>
          <p:cNvSpPr>
            <a:spLocks xmlns:a="http://schemas.openxmlformats.org/drawingml/2006/main" noGrp="1"/>
          </p:cNvSpPr>
          <p:nvPr/>
        </p:nvSpPr>
        <p:spPr>
          <a:xfrm xmlns:a="http://schemas.openxmlformats.org/drawingml/2006/main">
            <a:off x="7713107" y="3457575"/>
            <a:ext cx="287893" cy="180975"/>
          </a:xfrm>
          <a:prstGeom xmlns:a="http://schemas.openxmlformats.org/drawingml/2006/main" prst="rect">
            <a:avLst/>
          </a:prstGeom>
          <a:solidFill xmlns:a="http://schemas.openxmlformats.org/drawingml/2006/main">
            <a:srgbClr val="061B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12EC0F9-2B51-41F1-99D2-D687C004A76F}"/>
              </a:ext>
            </a:extLst>
          </p:cNvPr>
          <p:cNvSpPr>
            <a:spLocks xmlns:a="http://schemas.openxmlformats.org/drawingml/2006/main" noGrp="1"/>
          </p:cNvSpPr>
          <p:nvPr/>
        </p:nvSpPr>
        <p:spPr>
          <a:xfrm xmlns:a="http://schemas.openxmlformats.org/drawingml/2006/main">
            <a:off x="7296150" y="34290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102B39"/>
                </a:solidFill>
                <a:latin typeface="Aptos"/>
                <a:ea typeface="Aptos"/>
                <a:cs typeface="Aptos"/>
              </a:defRPr>
            </a:defPPr>
          </a:lstStyle>
          <a:p xmlns:a="http://schemas.openxmlformats.org/drawingml/2006/main">
            <a:pPr algn="l">
              <a:defRPr sz="1050" b="1" i="0">
                <a:solidFill>
                  <a:srgbClr val="102B39"/>
                </a:solidFill>
                <a:latin typeface="Aptos"/>
                <a:ea typeface="Aptos"/>
                <a:cs typeface="Aptos"/>
              </a:defRPr>
            </a:pPr>
            <a:r>
              <a:rPr sz="1050" b="1" i="0">
                <a:solidFill>
                  <a:srgbClr val="102B39"/>
                </a:solidFill>
                <a:latin typeface="Aptos"/>
                <a:ea typeface="Aptos"/>
                <a:cs typeface="Aptos"/>
              </a:rPr>
              <a:t>93.5%</a:t>
            </a:r>
          </a:p>
        </p:txBody>
      </p:sp>
      <p:sp>
        <p:nvSpPr>
          <p:cNvPr id="30" name="">
            <a:extLst xmlns:a="http://schemas.openxmlformats.org/drawingml/2006/main">
              <a:ext uri="{FF2B5EF4-FFF2-40B4-BE49-F238E27FC236}">
                <a16:creationId xmlns:a16="http://schemas.microsoft.com/office/drawing/2014/main" id="{E12FA68E-1436-4104-BD3B-411985CC00D9}"/>
              </a:ext>
            </a:extLst>
          </p:cNvPr>
          <p:cNvSpPr>
            <a:spLocks xmlns:a="http://schemas.openxmlformats.org/drawingml/2006/main" noGrp="1"/>
          </p:cNvSpPr>
          <p:nvPr/>
        </p:nvSpPr>
        <p:spPr>
          <a:xfrm xmlns:a="http://schemas.openxmlformats.org/drawingml/2006/main">
            <a:off x="8172450" y="342900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D4A74D"/>
                </a:solidFill>
                <a:latin typeface="Aptos"/>
                <a:ea typeface="Aptos"/>
                <a:cs typeface="Aptos"/>
              </a:defRPr>
            </a:defPPr>
          </a:lstStyle>
          <a:p xmlns:a="http://schemas.openxmlformats.org/drawingml/2006/main">
            <a:pPr algn="l">
              <a:defRPr sz="1050" b="1" i="0">
                <a:solidFill>
                  <a:srgbClr val="D4A74D"/>
                </a:solidFill>
                <a:latin typeface="Aptos"/>
                <a:ea typeface="Aptos"/>
                <a:cs typeface="Aptos"/>
              </a:defRPr>
            </a:pPr>
            <a:r>
              <a:rPr sz="1050" b="1" i="0">
                <a:solidFill>
                  <a:srgbClr val="D4A74D"/>
                </a:solidFill>
                <a:latin typeface="Aptos"/>
                <a:ea typeface="Aptos"/>
                <a:cs typeface="Aptos"/>
              </a:rPr>
              <a:t>6.5% uncaptured</a:t>
            </a:r>
          </a:p>
        </p:txBody>
      </p:sp>
      <p:sp>
        <p:nvSpPr>
          <p:cNvPr id="31" name="">
            <a:extLst xmlns:a="http://schemas.openxmlformats.org/drawingml/2006/main">
              <a:ext uri="{FF2B5EF4-FFF2-40B4-BE49-F238E27FC236}">
                <a16:creationId xmlns:a16="http://schemas.microsoft.com/office/drawing/2014/main" id="{245170DF-CA89-4D46-BD26-4A6BEE6BB46F}"/>
              </a:ext>
            </a:extLst>
          </p:cNvPr>
          <p:cNvSpPr>
            <a:spLocks xmlns:a="http://schemas.openxmlformats.org/drawingml/2006/main" noGrp="1"/>
          </p:cNvSpPr>
          <p:nvPr/>
        </p:nvSpPr>
        <p:spPr>
          <a:xfrm xmlns:a="http://schemas.openxmlformats.org/drawingml/2006/main">
            <a:off x="647700" y="3838575"/>
            <a:ext cx="2714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02B39"/>
                </a:solidFill>
                <a:latin typeface="Aptos"/>
                <a:ea typeface="Aptos"/>
                <a:cs typeface="Aptos"/>
              </a:defRPr>
            </a:defPPr>
          </a:lstStyle>
          <a:p xmlns:a="http://schemas.openxmlformats.org/drawingml/2006/main">
            <a:pPr algn="l">
              <a:defRPr sz="1200" b="0" i="0">
                <a:solidFill>
                  <a:srgbClr val="102B39"/>
                </a:solidFill>
                <a:latin typeface="Aptos"/>
                <a:ea typeface="Aptos"/>
                <a:cs typeface="Aptos"/>
              </a:defRPr>
            </a:pPr>
            <a:r>
              <a:rPr sz="1200" b="0" i="0">
                <a:solidFill>
                  <a:srgbClr val="102B39"/>
                </a:solidFill>
                <a:latin typeface="Aptos"/>
                <a:ea typeface="Aptos"/>
                <a:cs typeface="Aptos"/>
              </a:rPr>
              <a:t>3× bloom arrival • capacity overload</a:t>
            </a:r>
          </a:p>
        </p:txBody>
      </p:sp>
      <p:sp>
        <p:nvSpPr>
          <p:cNvPr id="32" name="">
            <a:extLst xmlns:a="http://schemas.openxmlformats.org/drawingml/2006/main">
              <a:ext uri="{FF2B5EF4-FFF2-40B4-BE49-F238E27FC236}">
                <a16:creationId xmlns:a16="http://schemas.microsoft.com/office/drawing/2014/main" id="{8B4BB8E9-1A5F-4559-8802-4780C6788159}"/>
              </a:ext>
            </a:extLst>
          </p:cNvPr>
          <p:cNvSpPr>
            <a:spLocks xmlns:a="http://schemas.openxmlformats.org/drawingml/2006/main" noGrp="1"/>
          </p:cNvSpPr>
          <p:nvPr/>
        </p:nvSpPr>
        <p:spPr>
          <a:xfrm xmlns:a="http://schemas.openxmlformats.org/drawingml/2006/main">
            <a:off x="3571875" y="3933825"/>
            <a:ext cx="1846945" cy="180975"/>
          </a:xfrm>
          <a:prstGeom xmlns:a="http://schemas.openxmlformats.org/drawingml/2006/main" prst="rect">
            <a:avLst/>
          </a:prstGeom>
          <a:solidFill xmlns:a="http://schemas.openxmlformats.org/drawingml/2006/main">
            <a:srgbClr val="EA705E"/>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5799028-BC1F-4FC3-A78F-6F2099CC896A}"/>
              </a:ext>
            </a:extLst>
          </p:cNvPr>
          <p:cNvSpPr>
            <a:spLocks xmlns:a="http://schemas.openxmlformats.org/drawingml/2006/main" noGrp="1"/>
          </p:cNvSpPr>
          <p:nvPr/>
        </p:nvSpPr>
        <p:spPr>
          <a:xfrm xmlns:a="http://schemas.openxmlformats.org/drawingml/2006/main">
            <a:off x="5418820" y="3933825"/>
            <a:ext cx="1386316" cy="180975"/>
          </a:xfrm>
          <a:prstGeom xmlns:a="http://schemas.openxmlformats.org/drawingml/2006/main" prst="rect">
            <a:avLst/>
          </a:prstGeom>
          <a:solidFill xmlns:a="http://schemas.openxmlformats.org/drawingml/2006/main">
            <a:srgbClr val="A5BBB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C4DE7BC-8BF4-4268-8D27-33617F66E686}"/>
              </a:ext>
            </a:extLst>
          </p:cNvPr>
          <p:cNvSpPr>
            <a:spLocks xmlns:a="http://schemas.openxmlformats.org/drawingml/2006/main" noGrp="1"/>
          </p:cNvSpPr>
          <p:nvPr/>
        </p:nvSpPr>
        <p:spPr>
          <a:xfrm xmlns:a="http://schemas.openxmlformats.org/drawingml/2006/main">
            <a:off x="6805136" y="3933825"/>
            <a:ext cx="1195864" cy="180975"/>
          </a:xfrm>
          <a:prstGeom xmlns:a="http://schemas.openxmlformats.org/drawingml/2006/main" prst="rect">
            <a:avLst/>
          </a:prstGeom>
          <a:solidFill xmlns:a="http://schemas.openxmlformats.org/drawingml/2006/main">
            <a:srgbClr val="061B2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AA24678-5366-47C4-8961-0F29EFA93644}"/>
              </a:ext>
            </a:extLst>
          </p:cNvPr>
          <p:cNvSpPr>
            <a:spLocks xmlns:a="http://schemas.openxmlformats.org/drawingml/2006/main" noGrp="1"/>
          </p:cNvSpPr>
          <p:nvPr/>
        </p:nvSpPr>
        <p:spPr>
          <a:xfrm xmlns:a="http://schemas.openxmlformats.org/drawingml/2006/main">
            <a:off x="5514070" y="39052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102B39"/>
                </a:solidFill>
                <a:latin typeface="Aptos"/>
                <a:ea typeface="Aptos"/>
                <a:cs typeface="Aptos"/>
              </a:defRPr>
            </a:defPPr>
          </a:lstStyle>
          <a:p xmlns:a="http://schemas.openxmlformats.org/drawingml/2006/main">
            <a:pPr algn="l">
              <a:defRPr sz="1050" b="1" i="0">
                <a:solidFill>
                  <a:srgbClr val="102B39"/>
                </a:solidFill>
                <a:latin typeface="Aptos"/>
                <a:ea typeface="Aptos"/>
                <a:cs typeface="Aptos"/>
              </a:defRPr>
            </a:pPr>
            <a:r>
              <a:rPr sz="1050" b="1" i="0">
                <a:solidFill>
                  <a:srgbClr val="102B39"/>
                </a:solidFill>
                <a:latin typeface="Aptos"/>
                <a:ea typeface="Aptos"/>
                <a:cs typeface="Aptos"/>
              </a:rPr>
              <a:t>41.7%</a:t>
            </a:r>
          </a:p>
        </p:txBody>
      </p:sp>
      <p:sp>
        <p:nvSpPr>
          <p:cNvPr id="36" name="">
            <a:extLst xmlns:a="http://schemas.openxmlformats.org/drawingml/2006/main">
              <a:ext uri="{FF2B5EF4-FFF2-40B4-BE49-F238E27FC236}">
                <a16:creationId xmlns:a16="http://schemas.microsoft.com/office/drawing/2014/main" id="{E8ACA21C-A0D8-43E7-9427-B3BDABF3599E}"/>
              </a:ext>
            </a:extLst>
          </p:cNvPr>
          <p:cNvSpPr>
            <a:spLocks xmlns:a="http://schemas.openxmlformats.org/drawingml/2006/main" noGrp="1"/>
          </p:cNvSpPr>
          <p:nvPr/>
        </p:nvSpPr>
        <p:spPr>
          <a:xfrm xmlns:a="http://schemas.openxmlformats.org/drawingml/2006/main">
            <a:off x="8172450" y="39052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EA705E"/>
                </a:solidFill>
                <a:latin typeface="Aptos"/>
                <a:ea typeface="Aptos"/>
                <a:cs typeface="Aptos"/>
              </a:defRPr>
            </a:defPPr>
          </a:lstStyle>
          <a:p xmlns:a="http://schemas.openxmlformats.org/drawingml/2006/main">
            <a:pPr algn="l">
              <a:defRPr sz="1050" b="1" i="0">
                <a:solidFill>
                  <a:srgbClr val="EA705E"/>
                </a:solidFill>
                <a:latin typeface="Aptos"/>
                <a:ea typeface="Aptos"/>
                <a:cs typeface="Aptos"/>
              </a:defRPr>
            </a:pPr>
            <a:r>
              <a:rPr sz="1050" b="1" i="0">
                <a:solidFill>
                  <a:srgbClr val="EA705E"/>
                </a:solidFill>
                <a:latin typeface="Aptos"/>
                <a:ea typeface="Aptos"/>
                <a:cs typeface="Aptos"/>
              </a:rPr>
              <a:t>27% missed · 31.3% held</a:t>
            </a:r>
          </a:p>
        </p:txBody>
      </p:sp>
      <p:sp>
        <p:nvSpPr>
          <p:cNvPr id="37" name="">
            <a:extLst xmlns:a="http://schemas.openxmlformats.org/drawingml/2006/main">
              <a:ext uri="{FF2B5EF4-FFF2-40B4-BE49-F238E27FC236}">
                <a16:creationId xmlns:a16="http://schemas.microsoft.com/office/drawing/2014/main" id="{7474AB3F-9D19-410F-8B26-A6C72BF2574D}"/>
              </a:ext>
            </a:extLst>
          </p:cNvPr>
          <p:cNvSpPr>
            <a:spLocks xmlns:a="http://schemas.openxmlformats.org/drawingml/2006/main" noGrp="1"/>
          </p:cNvSpPr>
          <p:nvPr/>
        </p:nvSpPr>
        <p:spPr>
          <a:xfrm xmlns:a="http://schemas.openxmlformats.org/drawingml/2006/main">
            <a:off x="647700" y="4876800"/>
            <a:ext cx="10858500" cy="790575"/>
          </a:xfrm>
          <a:prstGeom xmlns:a="http://schemas.openxmlformats.org/drawingml/2006/main" prst="rect">
            <a:avLst/>
          </a:prstGeom>
          <a:solidFill xmlns:a="http://schemas.openxmlformats.org/drawingml/2006/main">
            <a:srgbClr val="082332"/>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140BBE3A-521A-4CD6-8F9B-287C92231364}"/>
              </a:ext>
            </a:extLst>
          </p:cNvPr>
          <p:cNvSpPr>
            <a:spLocks xmlns:a="http://schemas.openxmlformats.org/drawingml/2006/main" noGrp="1"/>
          </p:cNvSpPr>
          <p:nvPr/>
        </p:nvSpPr>
        <p:spPr>
          <a:xfrm xmlns:a="http://schemas.openxmlformats.org/drawingml/2006/main">
            <a:off x="857250" y="5019675"/>
            <a:ext cx="1857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8C7BE"/>
                </a:solidFill>
                <a:latin typeface="Aptos"/>
                <a:ea typeface="Aptos"/>
                <a:cs typeface="Aptos"/>
              </a:defRPr>
            </a:defPPr>
          </a:lstStyle>
          <a:p xmlns:a="http://schemas.openxmlformats.org/drawingml/2006/main">
            <a:pPr algn="l">
              <a:defRPr sz="900" b="1" i="0">
                <a:solidFill>
                  <a:srgbClr val="58C7BE"/>
                </a:solidFill>
                <a:latin typeface="Aptos"/>
                <a:ea typeface="Aptos"/>
                <a:cs typeface="Aptos"/>
              </a:defRPr>
            </a:pPr>
            <a:r>
              <a:rPr sz="900" b="1" i="0">
                <a:solidFill>
                  <a:srgbClr val="58C7BE"/>
                </a:solidFill>
                <a:latin typeface="Aptos"/>
                <a:ea typeface="Aptos"/>
                <a:cs typeface="Aptos"/>
              </a:rPr>
              <a:t>WHAT THIS SUPPORTS</a:t>
            </a:r>
          </a:p>
        </p:txBody>
      </p:sp>
      <p:sp>
        <p:nvSpPr>
          <p:cNvPr id="39" name="">
            <a:extLst xmlns:a="http://schemas.openxmlformats.org/drawingml/2006/main">
              <a:ext uri="{FF2B5EF4-FFF2-40B4-BE49-F238E27FC236}">
                <a16:creationId xmlns:a16="http://schemas.microsoft.com/office/drawing/2014/main" id="{BB96D7D8-15F9-4C7A-8855-6381CF508CD3}"/>
              </a:ext>
            </a:extLst>
          </p:cNvPr>
          <p:cNvSpPr>
            <a:spLocks xmlns:a="http://schemas.openxmlformats.org/drawingml/2006/main" noGrp="1"/>
          </p:cNvSpPr>
          <p:nvPr/>
        </p:nvSpPr>
        <p:spPr>
          <a:xfrm xmlns:a="http://schemas.openxmlformats.org/drawingml/2006/main">
            <a:off x="857250" y="523875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137"/>
          </a:bodyPr>
          <a:lstStyle xmlns:a="http://schemas.openxmlformats.org/drawingml/2006/main">
            <a:defPPr algn="l">
              <a:defRPr sz="1275" b="1" i="0">
                <a:solidFill>
                  <a:srgbClr val="FFFFFF"/>
                </a:solidFill>
                <a:latin typeface="Aptos"/>
                <a:ea typeface="Aptos"/>
                <a:cs typeface="Aptos"/>
              </a:defRPr>
            </a:defPPr>
          </a:lstStyle>
          <a:p xmlns:a="http://schemas.openxmlformats.org/drawingml/2006/main">
            <a:pPr algn="l">
              <a:defRPr sz="1275" b="1" i="0">
                <a:solidFill>
                  <a:srgbClr val="FFFFFF"/>
                </a:solidFill>
                <a:latin typeface="Aptos"/>
                <a:ea typeface="Aptos"/>
                <a:cs typeface="Aptos"/>
              </a:defRPr>
            </a:pPr>
            <a:r>
              <a:rPr sz="1275" b="1" i="0">
                <a:solidFill>
                  <a:srgbClr val="FFFFFF"/>
                </a:solidFill>
                <a:latin typeface="Aptos"/>
                <a:ea typeface="Aptos"/>
                <a:cs typeface="Aptos"/>
              </a:rPr>
              <a:t>The architecture is worth physical testing. The 95% delivery goal appears only in the synthetic reference case; wind, overload, cross-flow, common-cause misses, and depth change can break it.</a:t>
            </a:r>
          </a:p>
        </p:txBody>
      </p:sp>
      <p:sp>
        <p:nvSpPr>
          <p:cNvPr id="40" name="">
            <a:extLst xmlns:a="http://schemas.openxmlformats.org/drawingml/2006/main">
              <a:ext uri="{FF2B5EF4-FFF2-40B4-BE49-F238E27FC236}">
                <a16:creationId xmlns:a16="http://schemas.microsoft.com/office/drawing/2014/main" id="{B1FD1E49-A0D1-46BA-BB37-5C1C4AE38809}"/>
              </a:ext>
            </a:extLst>
          </p:cNvPr>
          <p:cNvSpPr>
            <a:spLocks xmlns:a="http://schemas.openxmlformats.org/drawingml/2006/main" noGrp="1"/>
          </p:cNvSpPr>
          <p:nvPr/>
        </p:nvSpPr>
        <p:spPr>
          <a:xfrm xmlns:a="http://schemas.openxmlformats.org/drawingml/2006/main">
            <a:off x="647700" y="58197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829296"/>
                </a:solidFill>
                <a:latin typeface="Aptos"/>
                <a:ea typeface="Aptos"/>
                <a:cs typeface="Aptos"/>
              </a:defRPr>
            </a:defPPr>
          </a:lstStyle>
          <a:p xmlns:a="http://schemas.openxmlformats.org/drawingml/2006/main">
            <a:pPr algn="l">
              <a:defRPr sz="1050" b="0" i="0">
                <a:solidFill>
                  <a:srgbClr val="829296"/>
                </a:solidFill>
                <a:latin typeface="Aptos"/>
                <a:ea typeface="Aptos"/>
                <a:cs typeface="Aptos"/>
              </a:defRPr>
            </a:pPr>
            <a:r>
              <a:rPr sz="1050" b="0" i="0">
                <a:solidFill>
                  <a:srgbClr val="829296"/>
                </a:solidFill>
                <a:latin typeface="Aptos"/>
                <a:ea typeface="Aptos"/>
                <a:cs typeface="Aptos"/>
              </a:rPr>
              <a:t>27 numerical/invariant checks passed; zero mass-ledger error. These verify code consistency, not field physics.</a:t>
            </a:r>
          </a:p>
        </p:txBody>
      </p:sp>
      <p:sp>
        <p:nvSpPr>
          <p:cNvPr id="41" name="">
            <a:extLst xmlns:a="http://schemas.openxmlformats.org/drawingml/2006/main">
              <a:ext uri="{FF2B5EF4-FFF2-40B4-BE49-F238E27FC236}">
                <a16:creationId xmlns:a16="http://schemas.microsoft.com/office/drawing/2014/main" id="{B62FDB62-97CC-4877-BC32-FA5CB072E1E7}"/>
              </a:ext>
            </a:extLst>
          </p:cNvPr>
          <p:cNvSpPr>
            <a:spLocks xmlns:a="http://schemas.openxmlformats.org/drawingml/2006/main" noGrp="1"/>
          </p:cNvSpPr>
          <p:nvPr/>
        </p:nvSpPr>
        <p:spPr>
          <a:xfrm xmlns:a="http://schemas.openxmlformats.org/drawingml/2006/main">
            <a:off x="552450" y="6457950"/>
            <a:ext cx="1108710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DF05FDF-412D-447D-9C65-4F70BE2432A1}"/>
              </a:ext>
            </a:extLst>
          </p:cNvPr>
          <p:cNvSpPr>
            <a:spLocks xmlns:a="http://schemas.openxmlformats.org/drawingml/2006/main" noGrp="1"/>
          </p:cNvSpPr>
          <p:nvPr/>
        </p:nvSpPr>
        <p:spPr>
          <a:xfrm xmlns:a="http://schemas.openxmlformats.org/drawingml/2006/main">
            <a:off x="552450" y="655320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66B72"/>
                </a:solidFill>
                <a:latin typeface="Aptos"/>
                <a:ea typeface="Aptos"/>
                <a:cs typeface="Aptos"/>
              </a:defRPr>
            </a:defPPr>
          </a:lstStyle>
          <a:p xmlns:a="http://schemas.openxmlformats.org/drawingml/2006/main">
            <a:pPr algn="l">
              <a:defRPr sz="900" b="1" i="0">
                <a:solidFill>
                  <a:srgbClr val="566B72"/>
                </a:solidFill>
                <a:latin typeface="Aptos"/>
                <a:ea typeface="Aptos"/>
                <a:cs typeface="Aptos"/>
              </a:defRPr>
            </a:pPr>
            <a:r>
              <a:rPr sz="900" b="1" i="0">
                <a:solidFill>
                  <a:srgbClr val="566B72"/>
                </a:solidFill>
                <a:latin typeface="Aptos"/>
                <a:ea typeface="Aptos"/>
                <a:cs typeface="Aptos"/>
              </a:rPr>
              <a:t>MARLIN   /   ATP 2026 • ENEC CHALLENGE</a:t>
            </a:r>
          </a:p>
        </p:txBody>
      </p:sp>
      <p:sp>
        <p:nvSpPr>
          <p:cNvPr id="43" name="">
            <a:extLst xmlns:a="http://schemas.openxmlformats.org/drawingml/2006/main">
              <a:ext uri="{FF2B5EF4-FFF2-40B4-BE49-F238E27FC236}">
                <a16:creationId xmlns:a16="http://schemas.microsoft.com/office/drawing/2014/main" id="{886E56A4-A5A9-4125-A5F1-1F77C90C0537}"/>
              </a:ext>
            </a:extLst>
          </p:cNvPr>
          <p:cNvSpPr>
            <a:spLocks xmlns:a="http://schemas.openxmlformats.org/drawingml/2006/main" noGrp="1"/>
          </p:cNvSpPr>
          <p:nvPr/>
        </p:nvSpPr>
        <p:spPr>
          <a:xfrm xmlns:a="http://schemas.openxmlformats.org/drawingml/2006/main">
            <a:off x="11239500" y="65341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566B72"/>
                </a:solidFill>
                <a:latin typeface="Aptos"/>
                <a:ea typeface="Aptos"/>
                <a:cs typeface="Aptos"/>
              </a:defRPr>
            </a:defPPr>
          </a:lstStyle>
          <a:p xmlns:a="http://schemas.openxmlformats.org/drawingml/2006/main">
            <a:pPr algn="r">
              <a:defRPr sz="975" b="1" i="0">
                <a:solidFill>
                  <a:srgbClr val="566B72"/>
                </a:solidFill>
                <a:latin typeface="Aptos"/>
                <a:ea typeface="Aptos"/>
                <a:cs typeface="Aptos"/>
              </a:defRPr>
            </a:pPr>
            <a:r>
              <a:rPr sz="975" b="1" i="0">
                <a:solidFill>
                  <a:srgbClr val="566B72"/>
                </a:solidFill>
                <a:latin typeface="Aptos"/>
                <a:ea typeface="Aptos"/>
                <a:cs typeface="Aptos"/>
              </a:rPr>
              <a:t>06</a:t>
            </a:r>
          </a:p>
        </p:txBody>
      </p:sp>
    </p:spTree>
    <p:extLst>
      <p:ext uri="{BB962C8B-B14F-4D97-AF65-F5344CB8AC3E}">
        <p14:creationId xmlns:p14="http://schemas.microsoft.com/office/powerpoint/2010/main" val="1161891506"/>
      </p:ext>
    </p:extLst>
  </p:cSld>
</p:sld>
</file>

<file path=ppt/slides/slide7.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12E066F-8542-47CF-B44E-5C8C4A7052DA}"/>
              </a:ext>
            </a:extLst>
          </p:cNvPr>
          <p:cNvSpPr>
            <a:spLocks xmlns:a="http://schemas.openxmlformats.org/drawingml/2006/main" noGrp="1"/>
          </p:cNvSpPr>
          <p:nvPr/>
        </p:nvSpPr>
        <p:spPr>
          <a:xfrm xmlns:a="http://schemas.openxmlformats.org/drawingml/2006/main">
            <a:off x="552450" y="3619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06   /   ENVIRONMENTAL SAFEGUARDS</a:t>
            </a:r>
          </a:p>
        </p:txBody>
      </p:sp>
      <p:sp>
        <p:nvSpPr>
          <p:cNvPr id="2" name="">
            <a:extLst xmlns:a="http://schemas.openxmlformats.org/drawingml/2006/main">
              <a:ext uri="{FF2B5EF4-FFF2-40B4-BE49-F238E27FC236}">
                <a16:creationId xmlns:a16="http://schemas.microsoft.com/office/drawing/2014/main" id="{137B2E8B-7CF9-4C28-B6B6-04B2739DD958}"/>
              </a:ext>
            </a:extLst>
          </p:cNvPr>
          <p:cNvSpPr>
            <a:spLocks xmlns:a="http://schemas.openxmlformats.org/drawingml/2006/main" noGrp="1"/>
          </p:cNvSpPr>
          <p:nvPr/>
        </p:nvSpPr>
        <p:spPr>
          <a:xfrm xmlns:a="http://schemas.openxmlformats.org/drawingml/2006/main">
            <a:off x="552450" y="72390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B39"/>
                </a:solidFill>
                <a:latin typeface="Georgia"/>
                <a:ea typeface="Georgia"/>
                <a:cs typeface="Georgia"/>
              </a:defRPr>
            </a:defPPr>
          </a:lstStyle>
          <a:p xmlns:a="http://schemas.openxmlformats.org/drawingml/2006/main">
            <a:pPr algn="l">
              <a:defRPr sz="2850" b="1" i="0">
                <a:solidFill>
                  <a:srgbClr val="102B39"/>
                </a:solidFill>
                <a:latin typeface="Georgia"/>
                <a:ea typeface="Georgia"/>
                <a:cs typeface="Georgia"/>
              </a:defRPr>
            </a:pPr>
            <a:r>
              <a:rPr sz="2850" b="1" i="0">
                <a:solidFill>
                  <a:srgbClr val="102B39"/>
                </a:solidFill>
                <a:latin typeface="Georgia"/>
                <a:ea typeface="Georgia"/>
                <a:cs typeface="Georgia"/>
              </a:rPr>
              <a:t>Protect the animals—and the flow around them</a:t>
            </a:r>
          </a:p>
        </p:txBody>
      </p:sp>
      <p:sp>
        <p:nvSpPr>
          <p:cNvPr id="3" name="">
            <a:extLst xmlns:a="http://schemas.openxmlformats.org/drawingml/2006/main">
              <a:ext uri="{FF2B5EF4-FFF2-40B4-BE49-F238E27FC236}">
                <a16:creationId xmlns:a16="http://schemas.microsoft.com/office/drawing/2014/main" id="{898A50A6-309E-4474-9E82-02687D676BEA}"/>
              </a:ext>
            </a:extLst>
          </p:cNvPr>
          <p:cNvSpPr>
            <a:spLocks xmlns:a="http://schemas.openxmlformats.org/drawingml/2006/main" noGrp="1"/>
          </p:cNvSpPr>
          <p:nvPr/>
        </p:nvSpPr>
        <p:spPr>
          <a:xfrm xmlns:a="http://schemas.openxmlformats.org/drawingml/2006/main">
            <a:off x="571500" y="13049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66B72"/>
                </a:solidFill>
                <a:latin typeface="Aptos"/>
                <a:ea typeface="Aptos"/>
                <a:cs typeface="Aptos"/>
              </a:defRPr>
            </a:defPPr>
          </a:lstStyle>
          <a:p xmlns:a="http://schemas.openxmlformats.org/drawingml/2006/main">
            <a:pPr algn="l">
              <a:defRPr sz="1425" b="0" i="0">
                <a:solidFill>
                  <a:srgbClr val="566B72"/>
                </a:solidFill>
                <a:latin typeface="Aptos"/>
                <a:ea typeface="Aptos"/>
                <a:cs typeface="Aptos"/>
              </a:defRPr>
            </a:pPr>
            <a:r>
              <a:rPr sz="1425" b="0" i="0">
                <a:solidFill>
                  <a:srgbClr val="566B72"/>
                </a:solidFill>
                <a:latin typeface="Aptos"/>
                <a:ea typeface="Aptos"/>
                <a:cs typeface="Aptos"/>
              </a:rPr>
              <a:t>Treat ecological impact and hydraulic resistance as pass/fail gates, not as benefits assumed from a drawing.</a:t>
            </a:r>
          </a:p>
        </p:txBody>
      </p:sp>
      <p:sp>
        <p:nvSpPr>
          <p:cNvPr id="4" name="">
            <a:extLst xmlns:a="http://schemas.openxmlformats.org/drawingml/2006/main">
              <a:ext uri="{FF2B5EF4-FFF2-40B4-BE49-F238E27FC236}">
                <a16:creationId xmlns:a16="http://schemas.microsoft.com/office/drawing/2014/main" id="{2C2F053F-5BFB-4E38-AFD7-1996A6F28B89}"/>
              </a:ext>
            </a:extLst>
          </p:cNvPr>
          <p:cNvSpPr>
            <a:spLocks xmlns:a="http://schemas.openxmlformats.org/drawingml/2006/main" noGrp="1"/>
          </p:cNvSpPr>
          <p:nvPr/>
        </p:nvSpPr>
        <p:spPr>
          <a:xfrm xmlns:a="http://schemas.openxmlformats.org/drawingml/2006/main">
            <a:off x="628650" y="22574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EA705E"/>
                </a:solidFill>
                <a:latin typeface="Aptos"/>
                <a:ea typeface="Aptos"/>
                <a:cs typeface="Aptos"/>
              </a:defRPr>
            </a:defPPr>
          </a:lstStyle>
          <a:p xmlns:a="http://schemas.openxmlformats.org/drawingml/2006/main">
            <a:pPr algn="l">
              <a:defRPr sz="1650" b="1" i="0">
                <a:solidFill>
                  <a:srgbClr val="EA705E"/>
                </a:solidFill>
                <a:latin typeface="Aptos"/>
                <a:ea typeface="Aptos"/>
                <a:cs typeface="Aptos"/>
              </a:defRPr>
            </a:pPr>
            <a:r>
              <a:rPr sz="1650" b="1" i="0">
                <a:solidFill>
                  <a:srgbClr val="EA705E"/>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A5554014-70AC-465F-9B05-7C9D09604706}"/>
              </a:ext>
            </a:extLst>
          </p:cNvPr>
          <p:cNvSpPr>
            <a:spLocks xmlns:a="http://schemas.openxmlformats.org/drawingml/2006/main" noGrp="1"/>
          </p:cNvSpPr>
          <p:nvPr/>
        </p:nvSpPr>
        <p:spPr>
          <a:xfrm xmlns:a="http://schemas.openxmlformats.org/drawingml/2006/main">
            <a:off x="628650" y="2676525"/>
            <a:ext cx="2171700" cy="28575"/>
          </a:xfrm>
          <a:prstGeom xmlns:a="http://schemas.openxmlformats.org/drawingml/2006/main" prst="rect">
            <a:avLst/>
          </a:prstGeom>
          <a:solidFill xmlns:a="http://schemas.openxmlformats.org/drawingml/2006/main">
            <a:srgbClr val="087E8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5E008A7-4D0F-4AFB-B6A5-6DBC94CF3F5B}"/>
              </a:ext>
            </a:extLst>
          </p:cNvPr>
          <p:cNvSpPr>
            <a:spLocks xmlns:a="http://schemas.openxmlformats.org/drawingml/2006/main" noGrp="1"/>
          </p:cNvSpPr>
          <p:nvPr/>
        </p:nvSpPr>
        <p:spPr>
          <a:xfrm xmlns:a="http://schemas.openxmlformats.org/drawingml/2006/main">
            <a:off x="628650" y="2895600"/>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02B39"/>
                </a:solidFill>
                <a:latin typeface="Georgia"/>
                <a:ea typeface="Georgia"/>
                <a:cs typeface="Georgia"/>
              </a:defRPr>
            </a:defPPr>
          </a:lstStyle>
          <a:p xmlns:a="http://schemas.openxmlformats.org/drawingml/2006/main">
            <a:pPr algn="l">
              <a:defRPr sz="1725" b="1" i="0">
                <a:solidFill>
                  <a:srgbClr val="102B39"/>
                </a:solidFill>
                <a:latin typeface="Georgia"/>
                <a:ea typeface="Georgia"/>
                <a:cs typeface="Georgia"/>
              </a:defRPr>
            </a:pPr>
            <a:r>
              <a:rPr sz="1725" b="1" i="0">
                <a:solidFill>
                  <a:srgbClr val="102B39"/>
                </a:solidFill>
                <a:latin typeface="Georgia"/>
                <a:ea typeface="Georgia"/>
                <a:cs typeface="Georgia"/>
              </a:rPr>
              <a:t>Limit contact</a:t>
            </a:r>
          </a:p>
        </p:txBody>
      </p:sp>
      <p:sp>
        <p:nvSpPr>
          <p:cNvPr id="7" name="">
            <a:extLst xmlns:a="http://schemas.openxmlformats.org/drawingml/2006/main">
              <a:ext uri="{FF2B5EF4-FFF2-40B4-BE49-F238E27FC236}">
                <a16:creationId xmlns:a16="http://schemas.microsoft.com/office/drawing/2014/main" id="{B731761A-3518-479B-94C7-469652A4C6A7}"/>
              </a:ext>
            </a:extLst>
          </p:cNvPr>
          <p:cNvSpPr>
            <a:spLocks xmlns:a="http://schemas.openxmlformats.org/drawingml/2006/main" noGrp="1"/>
          </p:cNvSpPr>
          <p:nvPr/>
        </p:nvSpPr>
        <p:spPr>
          <a:xfrm xmlns:a="http://schemas.openxmlformats.org/drawingml/2006/main">
            <a:off x="628650" y="3619500"/>
            <a:ext cx="22479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66B72"/>
                </a:solidFill>
                <a:latin typeface="Aptos"/>
                <a:ea typeface="Aptos"/>
                <a:cs typeface="Aptos"/>
              </a:defRPr>
            </a:defPPr>
          </a:lstStyle>
          <a:p xmlns:a="http://schemas.openxmlformats.org/drawingml/2006/main">
            <a:pPr algn="l">
              <a:defRPr sz="1200" b="0" i="0">
                <a:solidFill>
                  <a:srgbClr val="566B72"/>
                </a:solidFill>
                <a:latin typeface="Aptos"/>
                <a:ea typeface="Aptos"/>
                <a:cs typeface="Aptos"/>
              </a:defRPr>
            </a:pPr>
            <a:r>
              <a:rPr sz="1200" b="0" i="0">
                <a:solidFill>
                  <a:srgbClr val="566B72"/>
                </a:solidFill>
                <a:latin typeface="Aptos"/>
                <a:ea typeface="Aptos"/>
                <a:cs typeface="Aptos"/>
              </a:rPr>
              <a:t>Prefer open, smooth guidance surfaces and slow wet conveyance. Mesh, skirt, mooring, and shear choices need tank evidence.</a:t>
            </a:r>
          </a:p>
        </p:txBody>
      </p:sp>
      <p:sp>
        <p:nvSpPr>
          <p:cNvPr id="8" name="">
            <a:extLst xmlns:a="http://schemas.openxmlformats.org/drawingml/2006/main">
              <a:ext uri="{FF2B5EF4-FFF2-40B4-BE49-F238E27FC236}">
                <a16:creationId xmlns:a16="http://schemas.microsoft.com/office/drawing/2014/main" id="{DF7A9510-40F9-4F58-85DE-83A71286D6AE}"/>
              </a:ext>
            </a:extLst>
          </p:cNvPr>
          <p:cNvSpPr>
            <a:spLocks xmlns:a="http://schemas.openxmlformats.org/drawingml/2006/main" noGrp="1"/>
          </p:cNvSpPr>
          <p:nvPr/>
        </p:nvSpPr>
        <p:spPr>
          <a:xfrm xmlns:a="http://schemas.openxmlformats.org/drawingml/2006/main">
            <a:off x="3371850" y="22574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EA705E"/>
                </a:solidFill>
                <a:latin typeface="Aptos"/>
                <a:ea typeface="Aptos"/>
                <a:cs typeface="Aptos"/>
              </a:defRPr>
            </a:defPPr>
          </a:lstStyle>
          <a:p xmlns:a="http://schemas.openxmlformats.org/drawingml/2006/main">
            <a:pPr algn="l">
              <a:defRPr sz="1650" b="1" i="0">
                <a:solidFill>
                  <a:srgbClr val="EA705E"/>
                </a:solidFill>
                <a:latin typeface="Aptos"/>
                <a:ea typeface="Aptos"/>
                <a:cs typeface="Aptos"/>
              </a:defRPr>
            </a:pPr>
            <a:r>
              <a:rPr sz="1650" b="1" i="0">
                <a:solidFill>
                  <a:srgbClr val="EA705E"/>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2DE9A98C-BD59-4F03-838D-238E42718833}"/>
              </a:ext>
            </a:extLst>
          </p:cNvPr>
          <p:cNvSpPr>
            <a:spLocks xmlns:a="http://schemas.openxmlformats.org/drawingml/2006/main" noGrp="1"/>
          </p:cNvSpPr>
          <p:nvPr/>
        </p:nvSpPr>
        <p:spPr>
          <a:xfrm xmlns:a="http://schemas.openxmlformats.org/drawingml/2006/main">
            <a:off x="3371850" y="2676525"/>
            <a:ext cx="2171700" cy="28575"/>
          </a:xfrm>
          <a:prstGeom xmlns:a="http://schemas.openxmlformats.org/drawingml/2006/main" prst="rect">
            <a:avLst/>
          </a:prstGeom>
          <a:solidFill xmlns:a="http://schemas.openxmlformats.org/drawingml/2006/main">
            <a:srgbClr val="087E8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381088-B37E-4B49-AD84-56532392D103}"/>
              </a:ext>
            </a:extLst>
          </p:cNvPr>
          <p:cNvSpPr>
            <a:spLocks xmlns:a="http://schemas.openxmlformats.org/drawingml/2006/main" noGrp="1"/>
          </p:cNvSpPr>
          <p:nvPr/>
        </p:nvSpPr>
        <p:spPr>
          <a:xfrm xmlns:a="http://schemas.openxmlformats.org/drawingml/2006/main">
            <a:off x="3371850" y="2895600"/>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02B39"/>
                </a:solidFill>
                <a:latin typeface="Georgia"/>
                <a:ea typeface="Georgia"/>
                <a:cs typeface="Georgia"/>
              </a:defRPr>
            </a:defPPr>
          </a:lstStyle>
          <a:p xmlns:a="http://schemas.openxmlformats.org/drawingml/2006/main">
            <a:pPr algn="l">
              <a:defRPr sz="1725" b="1" i="0">
                <a:solidFill>
                  <a:srgbClr val="102B39"/>
                </a:solidFill>
                <a:latin typeface="Georgia"/>
                <a:ea typeface="Georgia"/>
                <a:cs typeface="Georgia"/>
              </a:defRPr>
            </a:pPr>
            <a:r>
              <a:rPr sz="1725" b="1" i="0">
                <a:solidFill>
                  <a:srgbClr val="102B39"/>
                </a:solidFill>
                <a:latin typeface="Georgia"/>
                <a:ea typeface="Georgia"/>
                <a:cs typeface="Georgia"/>
              </a:rPr>
              <a:t>Separate bycatch</a:t>
            </a:r>
          </a:p>
        </p:txBody>
      </p:sp>
      <p:sp>
        <p:nvSpPr>
          <p:cNvPr id="11" name="">
            <a:extLst xmlns:a="http://schemas.openxmlformats.org/drawingml/2006/main">
              <a:ext uri="{FF2B5EF4-FFF2-40B4-BE49-F238E27FC236}">
                <a16:creationId xmlns:a16="http://schemas.microsoft.com/office/drawing/2014/main" id="{CC406DDD-6B51-4151-B105-74F3C87FF297}"/>
              </a:ext>
            </a:extLst>
          </p:cNvPr>
          <p:cNvSpPr>
            <a:spLocks xmlns:a="http://schemas.openxmlformats.org/drawingml/2006/main" noGrp="1"/>
          </p:cNvSpPr>
          <p:nvPr/>
        </p:nvSpPr>
        <p:spPr>
          <a:xfrm xmlns:a="http://schemas.openxmlformats.org/drawingml/2006/main">
            <a:off x="3371850" y="3619500"/>
            <a:ext cx="22479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66B72"/>
                </a:solidFill>
                <a:latin typeface="Aptos"/>
                <a:ea typeface="Aptos"/>
                <a:cs typeface="Aptos"/>
              </a:defRPr>
            </a:defPPr>
          </a:lstStyle>
          <a:p xmlns:a="http://schemas.openxmlformats.org/drawingml/2006/main">
            <a:pPr algn="l">
              <a:defRPr sz="1200" b="0" i="0">
                <a:solidFill>
                  <a:srgbClr val="566B72"/>
                </a:solidFill>
                <a:latin typeface="Aptos"/>
                <a:ea typeface="Aptos"/>
                <a:cs typeface="Aptos"/>
              </a:defRPr>
            </a:pPr>
            <a:r>
              <a:rPr sz="1200" b="0" i="0">
                <a:solidFill>
                  <a:srgbClr val="566B72"/>
                </a:solidFill>
                <a:latin typeface="Aptos"/>
                <a:ea typeface="Aptos"/>
                <a:cs typeface="Aptos"/>
              </a:rPr>
              <a:t>Detect non-target organisms before handling; pause, isolate, and follow an ecologist-approved release protocol.</a:t>
            </a:r>
          </a:p>
        </p:txBody>
      </p:sp>
      <p:sp>
        <p:nvSpPr>
          <p:cNvPr id="12" name="">
            <a:extLst xmlns:a="http://schemas.openxmlformats.org/drawingml/2006/main">
              <a:ext uri="{FF2B5EF4-FFF2-40B4-BE49-F238E27FC236}">
                <a16:creationId xmlns:a16="http://schemas.microsoft.com/office/drawing/2014/main" id="{70F65999-0F4C-4D0B-8F67-99FB4DB98DA6}"/>
              </a:ext>
            </a:extLst>
          </p:cNvPr>
          <p:cNvSpPr>
            <a:spLocks xmlns:a="http://schemas.openxmlformats.org/drawingml/2006/main" noGrp="1"/>
          </p:cNvSpPr>
          <p:nvPr/>
        </p:nvSpPr>
        <p:spPr>
          <a:xfrm xmlns:a="http://schemas.openxmlformats.org/drawingml/2006/main">
            <a:off x="6115050" y="22574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EA705E"/>
                </a:solidFill>
                <a:latin typeface="Aptos"/>
                <a:ea typeface="Aptos"/>
                <a:cs typeface="Aptos"/>
              </a:defRPr>
            </a:defPPr>
          </a:lstStyle>
          <a:p xmlns:a="http://schemas.openxmlformats.org/drawingml/2006/main">
            <a:pPr algn="l">
              <a:defRPr sz="1650" b="1" i="0">
                <a:solidFill>
                  <a:srgbClr val="EA705E"/>
                </a:solidFill>
                <a:latin typeface="Aptos"/>
                <a:ea typeface="Aptos"/>
                <a:cs typeface="Aptos"/>
              </a:defRPr>
            </a:pPr>
            <a:r>
              <a:rPr sz="1650" b="1" i="0">
                <a:solidFill>
                  <a:srgbClr val="EA705E"/>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8A9FD65F-DB20-40C8-92E6-BBB6B42D6A60}"/>
              </a:ext>
            </a:extLst>
          </p:cNvPr>
          <p:cNvSpPr>
            <a:spLocks xmlns:a="http://schemas.openxmlformats.org/drawingml/2006/main" noGrp="1"/>
          </p:cNvSpPr>
          <p:nvPr/>
        </p:nvSpPr>
        <p:spPr>
          <a:xfrm xmlns:a="http://schemas.openxmlformats.org/drawingml/2006/main">
            <a:off x="6115050" y="2676525"/>
            <a:ext cx="2171700" cy="28575"/>
          </a:xfrm>
          <a:prstGeom xmlns:a="http://schemas.openxmlformats.org/drawingml/2006/main" prst="rect">
            <a:avLst/>
          </a:prstGeom>
          <a:solidFill xmlns:a="http://schemas.openxmlformats.org/drawingml/2006/main">
            <a:srgbClr val="087E8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4B80011-809F-49EF-9A8B-E36CD8D18BCE}"/>
              </a:ext>
            </a:extLst>
          </p:cNvPr>
          <p:cNvSpPr>
            <a:spLocks xmlns:a="http://schemas.openxmlformats.org/drawingml/2006/main" noGrp="1"/>
          </p:cNvSpPr>
          <p:nvPr/>
        </p:nvSpPr>
        <p:spPr>
          <a:xfrm xmlns:a="http://schemas.openxmlformats.org/drawingml/2006/main">
            <a:off x="6115050" y="2895600"/>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02B39"/>
                </a:solidFill>
                <a:latin typeface="Georgia"/>
                <a:ea typeface="Georgia"/>
                <a:cs typeface="Georgia"/>
              </a:defRPr>
            </a:defPPr>
          </a:lstStyle>
          <a:p xmlns:a="http://schemas.openxmlformats.org/drawingml/2006/main">
            <a:pPr algn="l">
              <a:defRPr sz="1725" b="1" i="0">
                <a:solidFill>
                  <a:srgbClr val="102B39"/>
                </a:solidFill>
                <a:latin typeface="Georgia"/>
                <a:ea typeface="Georgia"/>
                <a:cs typeface="Georgia"/>
              </a:defRPr>
            </a:pPr>
            <a:r>
              <a:rPr sz="1725" b="1" i="0">
                <a:solidFill>
                  <a:srgbClr val="102B39"/>
                </a:solidFill>
                <a:latin typeface="Georgia"/>
                <a:ea typeface="Georgia"/>
                <a:cs typeface="Georgia"/>
              </a:rPr>
              <a:t>Protect water flow</a:t>
            </a:r>
          </a:p>
        </p:txBody>
      </p:sp>
      <p:sp>
        <p:nvSpPr>
          <p:cNvPr id="15" name="">
            <a:extLst xmlns:a="http://schemas.openxmlformats.org/drawingml/2006/main">
              <a:ext uri="{FF2B5EF4-FFF2-40B4-BE49-F238E27FC236}">
                <a16:creationId xmlns:a16="http://schemas.microsoft.com/office/drawing/2014/main" id="{21BEEA12-7FC8-4E2D-83FF-7591F5692043}"/>
              </a:ext>
            </a:extLst>
          </p:cNvPr>
          <p:cNvSpPr>
            <a:spLocks xmlns:a="http://schemas.openxmlformats.org/drawingml/2006/main" noGrp="1"/>
          </p:cNvSpPr>
          <p:nvPr/>
        </p:nvSpPr>
        <p:spPr>
          <a:xfrm xmlns:a="http://schemas.openxmlformats.org/drawingml/2006/main">
            <a:off x="6115050" y="3619500"/>
            <a:ext cx="22479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66B72"/>
                </a:solidFill>
                <a:latin typeface="Aptos"/>
                <a:ea typeface="Aptos"/>
                <a:cs typeface="Aptos"/>
              </a:defRPr>
            </a:defPPr>
          </a:lstStyle>
          <a:p xmlns:a="http://schemas.openxmlformats.org/drawingml/2006/main">
            <a:pPr algn="l">
              <a:defRPr sz="1200" b="0" i="0">
                <a:solidFill>
                  <a:srgbClr val="566B72"/>
                </a:solidFill>
                <a:latin typeface="Aptos"/>
                <a:ea typeface="Aptos"/>
                <a:cs typeface="Aptos"/>
              </a:defRPr>
            </a:pPr>
            <a:r>
              <a:rPr sz="1200" b="0" i="0">
                <a:solidFill>
                  <a:srgbClr val="566B72"/>
                </a:solidFill>
                <a:latin typeface="Aptos"/>
                <a:ea typeface="Aptos"/>
                <a:cs typeface="Aptos"/>
              </a:rPr>
              <a:t>Track differential pressure, flow change, line load, and clogging. Retract or bypass only within approved limits.</a:t>
            </a:r>
          </a:p>
        </p:txBody>
      </p:sp>
      <p:sp>
        <p:nvSpPr>
          <p:cNvPr id="16" name="">
            <a:extLst xmlns:a="http://schemas.openxmlformats.org/drawingml/2006/main">
              <a:ext uri="{FF2B5EF4-FFF2-40B4-BE49-F238E27FC236}">
                <a16:creationId xmlns:a16="http://schemas.microsoft.com/office/drawing/2014/main" id="{2CAF5FF2-00C2-4330-900C-CB5D06F10998}"/>
              </a:ext>
            </a:extLst>
          </p:cNvPr>
          <p:cNvSpPr>
            <a:spLocks xmlns:a="http://schemas.openxmlformats.org/drawingml/2006/main" noGrp="1"/>
          </p:cNvSpPr>
          <p:nvPr/>
        </p:nvSpPr>
        <p:spPr>
          <a:xfrm xmlns:a="http://schemas.openxmlformats.org/drawingml/2006/main">
            <a:off x="8858250" y="22574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EA705E"/>
                </a:solidFill>
                <a:latin typeface="Aptos"/>
                <a:ea typeface="Aptos"/>
                <a:cs typeface="Aptos"/>
              </a:defRPr>
            </a:defPPr>
          </a:lstStyle>
          <a:p xmlns:a="http://schemas.openxmlformats.org/drawingml/2006/main">
            <a:pPr algn="l">
              <a:defRPr sz="1650" b="1" i="0">
                <a:solidFill>
                  <a:srgbClr val="EA705E"/>
                </a:solidFill>
                <a:latin typeface="Aptos"/>
                <a:ea typeface="Aptos"/>
                <a:cs typeface="Aptos"/>
              </a:defRPr>
            </a:pPr>
            <a:r>
              <a:rPr sz="1650" b="1" i="0">
                <a:solidFill>
                  <a:srgbClr val="EA705E"/>
                </a:solidFill>
                <a:latin typeface="Aptos"/>
                <a:ea typeface="Aptos"/>
                <a:cs typeface="Aptos"/>
              </a:rPr>
              <a:t>04</a:t>
            </a:r>
          </a:p>
        </p:txBody>
      </p:sp>
      <p:sp>
        <p:nvSpPr>
          <p:cNvPr id="17" name="">
            <a:extLst xmlns:a="http://schemas.openxmlformats.org/drawingml/2006/main">
              <a:ext uri="{FF2B5EF4-FFF2-40B4-BE49-F238E27FC236}">
                <a16:creationId xmlns:a16="http://schemas.microsoft.com/office/drawing/2014/main" id="{FDFCACCD-A3CB-4CD3-9EFA-A486DF0B7F01}"/>
              </a:ext>
            </a:extLst>
          </p:cNvPr>
          <p:cNvSpPr>
            <a:spLocks xmlns:a="http://schemas.openxmlformats.org/drawingml/2006/main" noGrp="1"/>
          </p:cNvSpPr>
          <p:nvPr/>
        </p:nvSpPr>
        <p:spPr>
          <a:xfrm xmlns:a="http://schemas.openxmlformats.org/drawingml/2006/main">
            <a:off x="8858250" y="2676525"/>
            <a:ext cx="2171700" cy="28575"/>
          </a:xfrm>
          <a:prstGeom xmlns:a="http://schemas.openxmlformats.org/drawingml/2006/main" prst="rect">
            <a:avLst/>
          </a:prstGeom>
          <a:solidFill xmlns:a="http://schemas.openxmlformats.org/drawingml/2006/main">
            <a:srgbClr val="087E8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8F35C24-9260-456C-A218-E318823F903C}"/>
              </a:ext>
            </a:extLst>
          </p:cNvPr>
          <p:cNvSpPr>
            <a:spLocks xmlns:a="http://schemas.openxmlformats.org/drawingml/2006/main" noGrp="1"/>
          </p:cNvSpPr>
          <p:nvPr/>
        </p:nvSpPr>
        <p:spPr>
          <a:xfrm xmlns:a="http://schemas.openxmlformats.org/drawingml/2006/main">
            <a:off x="8858250" y="2895600"/>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02B39"/>
                </a:solidFill>
                <a:latin typeface="Georgia"/>
                <a:ea typeface="Georgia"/>
                <a:cs typeface="Georgia"/>
              </a:defRPr>
            </a:defPPr>
          </a:lstStyle>
          <a:p xmlns:a="http://schemas.openxmlformats.org/drawingml/2006/main">
            <a:pPr algn="l">
              <a:defRPr sz="1725" b="1" i="0">
                <a:solidFill>
                  <a:srgbClr val="102B39"/>
                </a:solidFill>
                <a:latin typeface="Georgia"/>
                <a:ea typeface="Georgia"/>
                <a:cs typeface="Georgia"/>
              </a:defRPr>
            </a:pPr>
            <a:r>
              <a:rPr sz="1725" b="1" i="0">
                <a:solidFill>
                  <a:srgbClr val="102B39"/>
                </a:solidFill>
                <a:latin typeface="Georgia"/>
                <a:ea typeface="Georgia"/>
                <a:cs typeface="Georgia"/>
              </a:rPr>
              <a:t>Close the ledger</a:t>
            </a:r>
          </a:p>
        </p:txBody>
      </p:sp>
      <p:sp>
        <p:nvSpPr>
          <p:cNvPr id="19" name="">
            <a:extLst xmlns:a="http://schemas.openxmlformats.org/drawingml/2006/main">
              <a:ext uri="{FF2B5EF4-FFF2-40B4-BE49-F238E27FC236}">
                <a16:creationId xmlns:a16="http://schemas.microsoft.com/office/drawing/2014/main" id="{C9948BF6-D6B3-45E2-80EE-41814F698E93}"/>
              </a:ext>
            </a:extLst>
          </p:cNvPr>
          <p:cNvSpPr>
            <a:spLocks xmlns:a="http://schemas.openxmlformats.org/drawingml/2006/main" noGrp="1"/>
          </p:cNvSpPr>
          <p:nvPr/>
        </p:nvSpPr>
        <p:spPr>
          <a:xfrm xmlns:a="http://schemas.openxmlformats.org/drawingml/2006/main">
            <a:off x="8858250" y="3619500"/>
            <a:ext cx="22479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566B72"/>
                </a:solidFill>
                <a:latin typeface="Aptos"/>
                <a:ea typeface="Aptos"/>
                <a:cs typeface="Aptos"/>
              </a:defRPr>
            </a:defPPr>
          </a:lstStyle>
          <a:p xmlns:a="http://schemas.openxmlformats.org/drawingml/2006/main">
            <a:pPr algn="l">
              <a:defRPr sz="1200" b="0" i="0">
                <a:solidFill>
                  <a:srgbClr val="566B72"/>
                </a:solidFill>
                <a:latin typeface="Aptos"/>
                <a:ea typeface="Aptos"/>
                <a:cs typeface="Aptos"/>
              </a:defRPr>
            </a:pPr>
            <a:r>
              <a:rPr sz="1200" b="0" i="0">
                <a:solidFill>
                  <a:srgbClr val="566B72"/>
                </a:solidFill>
                <a:latin typeface="Aptos"/>
                <a:ea typeface="Aptos"/>
                <a:cs typeface="Aptos"/>
              </a:rPr>
              <a:t>Record delivered, held, escaped, bycatch, and unknown mass. No release direction is assumed safe without local flow checks.</a:t>
            </a:r>
          </a:p>
        </p:txBody>
      </p:sp>
      <p:sp>
        <p:nvSpPr>
          <p:cNvPr id="20" name="">
            <a:extLst xmlns:a="http://schemas.openxmlformats.org/drawingml/2006/main">
              <a:ext uri="{FF2B5EF4-FFF2-40B4-BE49-F238E27FC236}">
                <a16:creationId xmlns:a16="http://schemas.microsoft.com/office/drawing/2014/main" id="{535CB80B-B112-4E14-9631-3BEC08026026}"/>
              </a:ext>
            </a:extLst>
          </p:cNvPr>
          <p:cNvSpPr>
            <a:spLocks xmlns:a="http://schemas.openxmlformats.org/drawingml/2006/main" noGrp="1"/>
          </p:cNvSpPr>
          <p:nvPr/>
        </p:nvSpPr>
        <p:spPr>
          <a:xfrm xmlns:a="http://schemas.openxmlformats.org/drawingml/2006/main">
            <a:off x="638175" y="5076825"/>
            <a:ext cx="10906125" cy="609600"/>
          </a:xfrm>
          <a:prstGeom xmlns:a="http://schemas.openxmlformats.org/drawingml/2006/main" prst="rect">
            <a:avLst/>
          </a:prstGeom>
          <a:solidFill xmlns:a="http://schemas.openxmlformats.org/drawingml/2006/main">
            <a:srgbClr val="D7ECE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4E09553-55C1-49A7-B551-6705F05EA433}"/>
              </a:ext>
            </a:extLst>
          </p:cNvPr>
          <p:cNvSpPr>
            <a:spLocks xmlns:a="http://schemas.openxmlformats.org/drawingml/2006/main" noGrp="1"/>
          </p:cNvSpPr>
          <p:nvPr/>
        </p:nvSpPr>
        <p:spPr>
          <a:xfrm xmlns:a="http://schemas.openxmlformats.org/drawingml/2006/main">
            <a:off x="819150" y="5219700"/>
            <a:ext cx="1000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087E83"/>
                </a:solidFill>
                <a:latin typeface="Aptos"/>
                <a:ea typeface="Aptos"/>
                <a:cs typeface="Aptos"/>
              </a:defRPr>
            </a:defPPr>
          </a:lstStyle>
          <a:p xmlns:a="http://schemas.openxmlformats.org/drawingml/2006/main">
            <a:pPr algn="l">
              <a:defRPr sz="900" b="1" i="0">
                <a:solidFill>
                  <a:srgbClr val="087E83"/>
                </a:solidFill>
                <a:latin typeface="Aptos"/>
                <a:ea typeface="Aptos"/>
                <a:cs typeface="Aptos"/>
              </a:defRPr>
            </a:pPr>
            <a:r>
              <a:rPr sz="900" b="1" i="0">
                <a:solidFill>
                  <a:srgbClr val="087E83"/>
                </a:solidFill>
                <a:latin typeface="Aptos"/>
                <a:ea typeface="Aptos"/>
                <a:cs typeface="Aptos"/>
              </a:rPr>
              <a:t>STOP RULE</a:t>
            </a:r>
          </a:p>
        </p:txBody>
      </p:sp>
      <p:sp>
        <p:nvSpPr>
          <p:cNvPr id="22" name="">
            <a:extLst xmlns:a="http://schemas.openxmlformats.org/drawingml/2006/main">
              <a:ext uri="{FF2B5EF4-FFF2-40B4-BE49-F238E27FC236}">
                <a16:creationId xmlns:a16="http://schemas.microsoft.com/office/drawing/2014/main" id="{03EC3518-0BFD-46ED-A73D-934BB5A95ECC}"/>
              </a:ext>
            </a:extLst>
          </p:cNvPr>
          <p:cNvSpPr>
            <a:spLocks xmlns:a="http://schemas.openxmlformats.org/drawingml/2006/main" noGrp="1"/>
          </p:cNvSpPr>
          <p:nvPr/>
        </p:nvSpPr>
        <p:spPr>
          <a:xfrm xmlns:a="http://schemas.openxmlformats.org/drawingml/2006/main">
            <a:off x="819150" y="5429250"/>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02B39"/>
                </a:solidFill>
                <a:latin typeface="Aptos"/>
                <a:ea typeface="Aptos"/>
                <a:cs typeface="Aptos"/>
              </a:defRPr>
            </a:defPPr>
          </a:lstStyle>
          <a:p xmlns:a="http://schemas.openxmlformats.org/drawingml/2006/main">
            <a:pPr algn="l">
              <a:defRPr sz="1275" b="1" i="0">
                <a:solidFill>
                  <a:srgbClr val="102B39"/>
                </a:solidFill>
                <a:latin typeface="Aptos"/>
                <a:ea typeface="Aptos"/>
                <a:cs typeface="Aptos"/>
              </a:defRPr>
            </a:pPr>
            <a:r>
              <a:rPr sz="1275" b="1" i="0">
                <a:solidFill>
                  <a:srgbClr val="102B39"/>
                </a:solidFill>
                <a:latin typeface="Aptos"/>
                <a:ea typeface="Aptos"/>
                <a:cs typeface="Aptos"/>
              </a:rPr>
              <a:t>Unknown bycatch • rising load/pressure • failed sensor • unsafe sea state  →  isolate the section and alert the operator.</a:t>
            </a:r>
          </a:p>
        </p:txBody>
      </p:sp>
      <p:sp>
        <p:nvSpPr>
          <p:cNvPr id="23" name="">
            <a:extLst xmlns:a="http://schemas.openxmlformats.org/drawingml/2006/main">
              <a:ext uri="{FF2B5EF4-FFF2-40B4-BE49-F238E27FC236}">
                <a16:creationId xmlns:a16="http://schemas.microsoft.com/office/drawing/2014/main" id="{AFD0A2BD-3886-42EC-8D33-A711DC9C1DAA}"/>
              </a:ext>
            </a:extLst>
          </p:cNvPr>
          <p:cNvSpPr>
            <a:spLocks xmlns:a="http://schemas.openxmlformats.org/drawingml/2006/main" noGrp="1"/>
          </p:cNvSpPr>
          <p:nvPr/>
        </p:nvSpPr>
        <p:spPr>
          <a:xfrm xmlns:a="http://schemas.openxmlformats.org/drawingml/2006/main">
            <a:off x="552450" y="6457950"/>
            <a:ext cx="1108710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EE86AB0-A139-4BA6-9FAB-4AB625754342}"/>
              </a:ext>
            </a:extLst>
          </p:cNvPr>
          <p:cNvSpPr>
            <a:spLocks xmlns:a="http://schemas.openxmlformats.org/drawingml/2006/main" noGrp="1"/>
          </p:cNvSpPr>
          <p:nvPr/>
        </p:nvSpPr>
        <p:spPr>
          <a:xfrm xmlns:a="http://schemas.openxmlformats.org/drawingml/2006/main">
            <a:off x="552450" y="655320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66B72"/>
                </a:solidFill>
                <a:latin typeface="Aptos"/>
                <a:ea typeface="Aptos"/>
                <a:cs typeface="Aptos"/>
              </a:defRPr>
            </a:defPPr>
          </a:lstStyle>
          <a:p xmlns:a="http://schemas.openxmlformats.org/drawingml/2006/main">
            <a:pPr algn="l">
              <a:defRPr sz="900" b="1" i="0">
                <a:solidFill>
                  <a:srgbClr val="566B72"/>
                </a:solidFill>
                <a:latin typeface="Aptos"/>
                <a:ea typeface="Aptos"/>
                <a:cs typeface="Aptos"/>
              </a:defRPr>
            </a:pPr>
            <a:r>
              <a:rPr sz="900" b="1" i="0">
                <a:solidFill>
                  <a:srgbClr val="566B72"/>
                </a:solidFill>
                <a:latin typeface="Aptos"/>
                <a:ea typeface="Aptos"/>
                <a:cs typeface="Aptos"/>
              </a:rPr>
              <a:t>MARLIN   /   ATP 2026 • ENEC CHALLENGE</a:t>
            </a:r>
          </a:p>
        </p:txBody>
      </p:sp>
      <p:sp>
        <p:nvSpPr>
          <p:cNvPr id="25" name="">
            <a:extLst xmlns:a="http://schemas.openxmlformats.org/drawingml/2006/main">
              <a:ext uri="{FF2B5EF4-FFF2-40B4-BE49-F238E27FC236}">
                <a16:creationId xmlns:a16="http://schemas.microsoft.com/office/drawing/2014/main" id="{020F38F1-AF9B-45FE-8817-2954C9DCDC1D}"/>
              </a:ext>
            </a:extLst>
          </p:cNvPr>
          <p:cNvSpPr>
            <a:spLocks xmlns:a="http://schemas.openxmlformats.org/drawingml/2006/main" noGrp="1"/>
          </p:cNvSpPr>
          <p:nvPr/>
        </p:nvSpPr>
        <p:spPr>
          <a:xfrm xmlns:a="http://schemas.openxmlformats.org/drawingml/2006/main">
            <a:off x="11239500" y="65341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566B72"/>
                </a:solidFill>
                <a:latin typeface="Aptos"/>
                <a:ea typeface="Aptos"/>
                <a:cs typeface="Aptos"/>
              </a:defRPr>
            </a:defPPr>
          </a:lstStyle>
          <a:p xmlns:a="http://schemas.openxmlformats.org/drawingml/2006/main">
            <a:pPr algn="r">
              <a:defRPr sz="975" b="1" i="0">
                <a:solidFill>
                  <a:srgbClr val="566B72"/>
                </a:solidFill>
                <a:latin typeface="Aptos"/>
                <a:ea typeface="Aptos"/>
                <a:cs typeface="Aptos"/>
              </a:defRPr>
            </a:pPr>
            <a:r>
              <a:rPr sz="975" b="1" i="0">
                <a:solidFill>
                  <a:srgbClr val="566B72"/>
                </a:solidFill>
                <a:latin typeface="Aptos"/>
                <a:ea typeface="Aptos"/>
                <a:cs typeface="Aptos"/>
              </a:rPr>
              <a:t>07</a:t>
            </a:r>
          </a:p>
        </p:txBody>
      </p:sp>
    </p:spTree>
    <p:extLst>
      <p:ext uri="{BB962C8B-B14F-4D97-AF65-F5344CB8AC3E}">
        <p14:creationId xmlns:p14="http://schemas.microsoft.com/office/powerpoint/2010/main" val="1848877321"/>
      </p:ext>
    </p:extLst>
  </p:cSld>
</p:sld>
</file>

<file path=ppt/slides/slide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01B00A5-82C5-4C13-BEF4-7776367AC12F}"/>
              </a:ext>
            </a:extLst>
          </p:cNvPr>
          <p:cNvSpPr>
            <a:spLocks xmlns:a="http://schemas.openxmlformats.org/drawingml/2006/main" noGrp="1"/>
          </p:cNvSpPr>
          <p:nvPr/>
        </p:nvSpPr>
        <p:spPr>
          <a:xfrm xmlns:a="http://schemas.openxmlformats.org/drawingml/2006/main">
            <a:off x="552450" y="3619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07   /   FEASIBILITY &amp; COST</a:t>
            </a:r>
          </a:p>
        </p:txBody>
      </p:sp>
      <p:sp>
        <p:nvSpPr>
          <p:cNvPr id="2" name="">
            <a:extLst xmlns:a="http://schemas.openxmlformats.org/drawingml/2006/main">
              <a:ext uri="{FF2B5EF4-FFF2-40B4-BE49-F238E27FC236}">
                <a16:creationId xmlns:a16="http://schemas.microsoft.com/office/drawing/2014/main" id="{181B87A0-1F8F-4D1E-8A7E-0308872ACC7A}"/>
              </a:ext>
            </a:extLst>
          </p:cNvPr>
          <p:cNvSpPr>
            <a:spLocks xmlns:a="http://schemas.openxmlformats.org/drawingml/2006/main" noGrp="1"/>
          </p:cNvSpPr>
          <p:nvPr/>
        </p:nvSpPr>
        <p:spPr>
          <a:xfrm xmlns:a="http://schemas.openxmlformats.org/drawingml/2006/main">
            <a:off x="552450" y="72390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B39"/>
                </a:solidFill>
                <a:latin typeface="Georgia"/>
                <a:ea typeface="Georgia"/>
                <a:cs typeface="Georgia"/>
              </a:defRPr>
            </a:defPPr>
          </a:lstStyle>
          <a:p xmlns:a="http://schemas.openxmlformats.org/drawingml/2006/main">
            <a:pPr algn="l">
              <a:defRPr sz="2850" b="1" i="0">
                <a:solidFill>
                  <a:srgbClr val="102B39"/>
                </a:solidFill>
                <a:latin typeface="Georgia"/>
                <a:ea typeface="Georgia"/>
                <a:cs typeface="Georgia"/>
              </a:defRPr>
            </a:pPr>
            <a:r>
              <a:rPr sz="2850" b="1" i="0">
                <a:solidFill>
                  <a:srgbClr val="102B39"/>
                </a:solidFill>
                <a:latin typeface="Georgia"/>
                <a:ea typeface="Georgia"/>
                <a:cs typeface="Georgia"/>
              </a:rPr>
              <a:t>Spend energy only where it buys a measured benefit</a:t>
            </a:r>
          </a:p>
        </p:txBody>
      </p:sp>
      <p:sp>
        <p:nvSpPr>
          <p:cNvPr id="3" name="">
            <a:extLst xmlns:a="http://schemas.openxmlformats.org/drawingml/2006/main">
              <a:ext uri="{FF2B5EF4-FFF2-40B4-BE49-F238E27FC236}">
                <a16:creationId xmlns:a16="http://schemas.microsoft.com/office/drawing/2014/main" id="{12CBC52B-574F-4D87-85E7-432F28873713}"/>
              </a:ext>
            </a:extLst>
          </p:cNvPr>
          <p:cNvSpPr>
            <a:spLocks xmlns:a="http://schemas.openxmlformats.org/drawingml/2006/main" noGrp="1"/>
          </p:cNvSpPr>
          <p:nvPr/>
        </p:nvSpPr>
        <p:spPr>
          <a:xfrm xmlns:a="http://schemas.openxmlformats.org/drawingml/2006/main">
            <a:off x="571500" y="13049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66B72"/>
                </a:solidFill>
                <a:latin typeface="Aptos"/>
                <a:ea typeface="Aptos"/>
                <a:cs typeface="Aptos"/>
              </a:defRPr>
            </a:defPPr>
          </a:lstStyle>
          <a:p xmlns:a="http://schemas.openxmlformats.org/drawingml/2006/main">
            <a:pPr algn="l">
              <a:defRPr sz="1425" b="0" i="0">
                <a:solidFill>
                  <a:srgbClr val="566B72"/>
                </a:solidFill>
                <a:latin typeface="Aptos"/>
                <a:ea typeface="Aptos"/>
                <a:cs typeface="Aptos"/>
              </a:defRPr>
            </a:pPr>
            <a:r>
              <a:rPr sz="1425" b="0" i="0">
                <a:solidFill>
                  <a:srgbClr val="566B72"/>
                </a:solidFill>
                <a:latin typeface="Aptos"/>
                <a:ea typeface="Aptos"/>
                <a:cs typeface="Aptos"/>
              </a:rPr>
              <a:t>The cost case is a design strategy now; site-specific capital and operating costs still need supplier quotes.</a:t>
            </a:r>
          </a:p>
        </p:txBody>
      </p:sp>
      <p:sp>
        <p:nvSpPr>
          <p:cNvPr id="4" name="">
            <a:extLst xmlns:a="http://schemas.openxmlformats.org/drawingml/2006/main">
              <a:ext uri="{FF2B5EF4-FFF2-40B4-BE49-F238E27FC236}">
                <a16:creationId xmlns:a16="http://schemas.microsoft.com/office/drawing/2014/main" id="{6B64B132-0EF0-4884-9B4A-79629C8AF451}"/>
              </a:ext>
            </a:extLst>
          </p:cNvPr>
          <p:cNvSpPr>
            <a:spLocks xmlns:a="http://schemas.openxmlformats.org/drawingml/2006/main" noGrp="1"/>
          </p:cNvSpPr>
          <p:nvPr/>
        </p:nvSpPr>
        <p:spPr>
          <a:xfrm xmlns:a="http://schemas.openxmlformats.org/drawingml/2006/main">
            <a:off x="647700" y="2133600"/>
            <a:ext cx="38100" cy="657225"/>
          </a:xfrm>
          <a:prstGeom xmlns:a="http://schemas.openxmlformats.org/drawingml/2006/main" prst="rect">
            <a:avLst/>
          </a:prstGeom>
          <a:solidFill xmlns:a="http://schemas.openxmlformats.org/drawingml/2006/main">
            <a:srgbClr val="087E8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9BC2C5-ACD9-46F8-B0CC-EC0786B07208}"/>
              </a:ext>
            </a:extLst>
          </p:cNvPr>
          <p:cNvSpPr>
            <a:spLocks xmlns:a="http://schemas.openxmlformats.org/drawingml/2006/main" noGrp="1"/>
          </p:cNvSpPr>
          <p:nvPr/>
        </p:nvSpPr>
        <p:spPr>
          <a:xfrm xmlns:a="http://schemas.openxmlformats.org/drawingml/2006/main">
            <a:off x="838200" y="2143125"/>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87E83"/>
                </a:solidFill>
                <a:latin typeface="Aptos"/>
                <a:ea typeface="Aptos"/>
                <a:cs typeface="Aptos"/>
              </a:defRPr>
            </a:defPPr>
          </a:lstStyle>
          <a:p xmlns:a="http://schemas.openxmlformats.org/drawingml/2006/main">
            <a:pPr algn="l">
              <a:defRPr sz="975" b="1" i="0">
                <a:solidFill>
                  <a:srgbClr val="087E83"/>
                </a:solidFill>
                <a:latin typeface="Aptos"/>
                <a:ea typeface="Aptos"/>
                <a:cs typeface="Aptos"/>
              </a:defRPr>
            </a:pPr>
            <a:r>
              <a:rPr sz="975" b="1" i="0">
                <a:solidFill>
                  <a:srgbClr val="087E83"/>
                </a:solidFill>
                <a:latin typeface="Aptos"/>
                <a:ea typeface="Aptos"/>
                <a:cs typeface="Aptos"/>
              </a:rPr>
              <a:t>PASSIVE FIRST</a:t>
            </a:r>
          </a:p>
        </p:txBody>
      </p:sp>
      <p:sp>
        <p:nvSpPr>
          <p:cNvPr id="6" name="">
            <a:extLst xmlns:a="http://schemas.openxmlformats.org/drawingml/2006/main">
              <a:ext uri="{FF2B5EF4-FFF2-40B4-BE49-F238E27FC236}">
                <a16:creationId xmlns:a16="http://schemas.microsoft.com/office/drawing/2014/main" id="{E71849D8-7DE1-4F03-9B7B-CA4E0367FA38}"/>
              </a:ext>
            </a:extLst>
          </p:cNvPr>
          <p:cNvSpPr>
            <a:spLocks xmlns:a="http://schemas.openxmlformats.org/drawingml/2006/main" noGrp="1"/>
          </p:cNvSpPr>
          <p:nvPr/>
        </p:nvSpPr>
        <p:spPr>
          <a:xfrm xmlns:a="http://schemas.openxmlformats.org/drawingml/2006/main">
            <a:off x="838200" y="239077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02B39"/>
                </a:solidFill>
                <a:latin typeface="Aptos"/>
                <a:ea typeface="Aptos"/>
                <a:cs typeface="Aptos"/>
              </a:defRPr>
            </a:defPPr>
          </a:lstStyle>
          <a:p xmlns:a="http://schemas.openxmlformats.org/drawingml/2006/main">
            <a:pPr algn="l">
              <a:defRPr sz="1200" b="0" i="0">
                <a:solidFill>
                  <a:srgbClr val="102B39"/>
                </a:solidFill>
                <a:latin typeface="Aptos"/>
                <a:ea typeface="Aptos"/>
                <a:cs typeface="Aptos"/>
              </a:defRPr>
            </a:pPr>
            <a:r>
              <a:rPr sz="1200" b="0" i="0">
                <a:solidFill>
                  <a:srgbClr val="102B39"/>
                </a:solidFill>
                <a:latin typeface="Aptos"/>
                <a:ea typeface="Aptos"/>
                <a:cs typeface="Aptos"/>
              </a:rPr>
              <a:t>Guide bands do the continuous interception; powered collection operates when a bloom response is active.</a:t>
            </a:r>
          </a:p>
        </p:txBody>
      </p:sp>
      <p:sp>
        <p:nvSpPr>
          <p:cNvPr id="7" name="">
            <a:extLst xmlns:a="http://schemas.openxmlformats.org/drawingml/2006/main">
              <a:ext uri="{FF2B5EF4-FFF2-40B4-BE49-F238E27FC236}">
                <a16:creationId xmlns:a16="http://schemas.microsoft.com/office/drawing/2014/main" id="{B8B2B474-4AA6-4660-9B88-8313874583CB}"/>
              </a:ext>
            </a:extLst>
          </p:cNvPr>
          <p:cNvSpPr>
            <a:spLocks xmlns:a="http://schemas.openxmlformats.org/drawingml/2006/main" noGrp="1"/>
          </p:cNvSpPr>
          <p:nvPr/>
        </p:nvSpPr>
        <p:spPr>
          <a:xfrm xmlns:a="http://schemas.openxmlformats.org/drawingml/2006/main">
            <a:off x="647700" y="3124200"/>
            <a:ext cx="38100" cy="657225"/>
          </a:xfrm>
          <a:prstGeom xmlns:a="http://schemas.openxmlformats.org/drawingml/2006/main" prst="rect">
            <a:avLst/>
          </a:prstGeom>
          <a:solidFill xmlns:a="http://schemas.openxmlformats.org/drawingml/2006/main">
            <a:srgbClr val="087E8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0CAA5CA-727F-446F-9DB9-9E7B35FFFECF}"/>
              </a:ext>
            </a:extLst>
          </p:cNvPr>
          <p:cNvSpPr>
            <a:spLocks xmlns:a="http://schemas.openxmlformats.org/drawingml/2006/main" noGrp="1"/>
          </p:cNvSpPr>
          <p:nvPr/>
        </p:nvSpPr>
        <p:spPr>
          <a:xfrm xmlns:a="http://schemas.openxmlformats.org/drawingml/2006/main">
            <a:off x="838200" y="3133725"/>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87E83"/>
                </a:solidFill>
                <a:latin typeface="Aptos"/>
                <a:ea typeface="Aptos"/>
                <a:cs typeface="Aptos"/>
              </a:defRPr>
            </a:defPPr>
          </a:lstStyle>
          <a:p xmlns:a="http://schemas.openxmlformats.org/drawingml/2006/main">
            <a:pPr algn="l">
              <a:defRPr sz="975" b="1" i="0">
                <a:solidFill>
                  <a:srgbClr val="087E83"/>
                </a:solidFill>
                <a:latin typeface="Aptos"/>
                <a:ea typeface="Aptos"/>
                <a:cs typeface="Aptos"/>
              </a:defRPr>
            </a:pPr>
            <a:r>
              <a:rPr sz="975" b="1" i="0">
                <a:solidFill>
                  <a:srgbClr val="087E83"/>
                </a:solidFill>
                <a:latin typeface="Aptos"/>
                <a:ea typeface="Aptos"/>
                <a:cs typeface="Aptos"/>
              </a:rPr>
              <a:t>MODULAR</a:t>
            </a:r>
          </a:p>
        </p:txBody>
      </p:sp>
      <p:sp>
        <p:nvSpPr>
          <p:cNvPr id="9" name="">
            <a:extLst xmlns:a="http://schemas.openxmlformats.org/drawingml/2006/main">
              <a:ext uri="{FF2B5EF4-FFF2-40B4-BE49-F238E27FC236}">
                <a16:creationId xmlns:a16="http://schemas.microsoft.com/office/drawing/2014/main" id="{F5CF6269-6281-4109-B4DC-82565503EDA0}"/>
              </a:ext>
            </a:extLst>
          </p:cNvPr>
          <p:cNvSpPr>
            <a:spLocks xmlns:a="http://schemas.openxmlformats.org/drawingml/2006/main" noGrp="1"/>
          </p:cNvSpPr>
          <p:nvPr/>
        </p:nvSpPr>
        <p:spPr>
          <a:xfrm xmlns:a="http://schemas.openxmlformats.org/drawingml/2006/main">
            <a:off x="838200" y="338137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02B39"/>
                </a:solidFill>
                <a:latin typeface="Aptos"/>
                <a:ea typeface="Aptos"/>
                <a:cs typeface="Aptos"/>
              </a:defRPr>
            </a:defPPr>
          </a:lstStyle>
          <a:p xmlns:a="http://schemas.openxmlformats.org/drawingml/2006/main">
            <a:pPr algn="l">
              <a:defRPr sz="1200" b="0" i="0">
                <a:solidFill>
                  <a:srgbClr val="102B39"/>
                </a:solidFill>
                <a:latin typeface="Aptos"/>
                <a:ea typeface="Aptos"/>
                <a:cs typeface="Aptos"/>
              </a:defRPr>
            </a:pPr>
            <a:r>
              <a:rPr sz="1200" b="0" i="0">
                <a:solidFill>
                  <a:srgbClr val="102B39"/>
                </a:solidFill>
                <a:latin typeface="Aptos"/>
                <a:ea typeface="Aptos"/>
                <a:cs typeface="Aptos"/>
              </a:rPr>
              <a:t>Segmented guides and independent collectors make inspection and repair local rather than system-wide.</a:t>
            </a:r>
          </a:p>
        </p:txBody>
      </p:sp>
      <p:sp>
        <p:nvSpPr>
          <p:cNvPr id="10" name="">
            <a:extLst xmlns:a="http://schemas.openxmlformats.org/drawingml/2006/main">
              <a:ext uri="{FF2B5EF4-FFF2-40B4-BE49-F238E27FC236}">
                <a16:creationId xmlns:a16="http://schemas.microsoft.com/office/drawing/2014/main" id="{24486A0A-BB44-4FB6-B679-2548531A5BAB}"/>
              </a:ext>
            </a:extLst>
          </p:cNvPr>
          <p:cNvSpPr>
            <a:spLocks xmlns:a="http://schemas.openxmlformats.org/drawingml/2006/main" noGrp="1"/>
          </p:cNvSpPr>
          <p:nvPr/>
        </p:nvSpPr>
        <p:spPr>
          <a:xfrm xmlns:a="http://schemas.openxmlformats.org/drawingml/2006/main">
            <a:off x="647700" y="4114800"/>
            <a:ext cx="38100" cy="657225"/>
          </a:xfrm>
          <a:prstGeom xmlns:a="http://schemas.openxmlformats.org/drawingml/2006/main" prst="rect">
            <a:avLst/>
          </a:prstGeom>
          <a:solidFill xmlns:a="http://schemas.openxmlformats.org/drawingml/2006/main">
            <a:srgbClr val="087E8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4AE7DE0-E2DA-4699-AA06-F6B1AF81A43D}"/>
              </a:ext>
            </a:extLst>
          </p:cNvPr>
          <p:cNvSpPr>
            <a:spLocks xmlns:a="http://schemas.openxmlformats.org/drawingml/2006/main" noGrp="1"/>
          </p:cNvSpPr>
          <p:nvPr/>
        </p:nvSpPr>
        <p:spPr>
          <a:xfrm xmlns:a="http://schemas.openxmlformats.org/drawingml/2006/main">
            <a:off x="838200" y="4124325"/>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87E83"/>
                </a:solidFill>
                <a:latin typeface="Aptos"/>
                <a:ea typeface="Aptos"/>
                <a:cs typeface="Aptos"/>
              </a:defRPr>
            </a:defPPr>
          </a:lstStyle>
          <a:p xmlns:a="http://schemas.openxmlformats.org/drawingml/2006/main">
            <a:pPr algn="l">
              <a:defRPr sz="975" b="1" i="0">
                <a:solidFill>
                  <a:srgbClr val="087E83"/>
                </a:solidFill>
                <a:latin typeface="Aptos"/>
                <a:ea typeface="Aptos"/>
                <a:cs typeface="Aptos"/>
              </a:defRPr>
            </a:pPr>
            <a:r>
              <a:rPr sz="975" b="1" i="0">
                <a:solidFill>
                  <a:srgbClr val="087E83"/>
                </a:solidFill>
                <a:latin typeface="Aptos"/>
                <a:ea typeface="Aptos"/>
                <a:cs typeface="Aptos"/>
              </a:rPr>
              <a:t>NO ROBOT TAX IN THE MVP</a:t>
            </a:r>
          </a:p>
        </p:txBody>
      </p:sp>
      <p:sp>
        <p:nvSpPr>
          <p:cNvPr id="12" name="">
            <a:extLst xmlns:a="http://schemas.openxmlformats.org/drawingml/2006/main">
              <a:ext uri="{FF2B5EF4-FFF2-40B4-BE49-F238E27FC236}">
                <a16:creationId xmlns:a16="http://schemas.microsoft.com/office/drawing/2014/main" id="{E0078899-334F-4F68-9EE5-E8AED0B7DF1C}"/>
              </a:ext>
            </a:extLst>
          </p:cNvPr>
          <p:cNvSpPr>
            <a:spLocks xmlns:a="http://schemas.openxmlformats.org/drawingml/2006/main" noGrp="1"/>
          </p:cNvSpPr>
          <p:nvPr/>
        </p:nvSpPr>
        <p:spPr>
          <a:xfrm xmlns:a="http://schemas.openxmlformats.org/drawingml/2006/main">
            <a:off x="838200" y="4371975"/>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02B39"/>
                </a:solidFill>
                <a:latin typeface="Aptos"/>
                <a:ea typeface="Aptos"/>
                <a:cs typeface="Aptos"/>
              </a:defRPr>
            </a:defPPr>
          </a:lstStyle>
          <a:p xmlns:a="http://schemas.openxmlformats.org/drawingml/2006/main">
            <a:pPr algn="l">
              <a:defRPr sz="1200" b="0" i="0">
                <a:solidFill>
                  <a:srgbClr val="102B39"/>
                </a:solidFill>
                <a:latin typeface="Aptos"/>
                <a:ea typeface="Aptos"/>
                <a:cs typeface="Aptos"/>
              </a:defRPr>
            </a:pPr>
            <a:r>
              <a:rPr sz="1200" b="0" i="0">
                <a:solidFill>
                  <a:srgbClr val="102B39"/>
                </a:solidFill>
                <a:latin typeface="Aptos"/>
                <a:ea typeface="Aptos"/>
                <a:cs typeface="Aptos"/>
              </a:rPr>
              <a:t>Use an operator-supervised service craft during trials; defer an uncrewed vessel until it proves a labor or safety benefit.</a:t>
            </a:r>
          </a:p>
        </p:txBody>
      </p:sp>
      <p:sp>
        <p:nvSpPr>
          <p:cNvPr id="13" name="">
            <a:extLst xmlns:a="http://schemas.openxmlformats.org/drawingml/2006/main">
              <a:ext uri="{FF2B5EF4-FFF2-40B4-BE49-F238E27FC236}">
                <a16:creationId xmlns:a16="http://schemas.microsoft.com/office/drawing/2014/main" id="{8B8A6216-5025-4B4B-B224-53E7D5F12EC0}"/>
              </a:ext>
            </a:extLst>
          </p:cNvPr>
          <p:cNvSpPr>
            <a:spLocks xmlns:a="http://schemas.openxmlformats.org/drawingml/2006/main" noGrp="1"/>
          </p:cNvSpPr>
          <p:nvPr/>
        </p:nvSpPr>
        <p:spPr>
          <a:xfrm xmlns:a="http://schemas.openxmlformats.org/drawingml/2006/main">
            <a:off x="6096000" y="2076450"/>
            <a:ext cx="9525" cy="3371850"/>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A09C138-5B9E-4BFC-80EA-20BD8A938BAE}"/>
              </a:ext>
            </a:extLst>
          </p:cNvPr>
          <p:cNvSpPr>
            <a:spLocks xmlns:a="http://schemas.openxmlformats.org/drawingml/2006/main" noGrp="1"/>
          </p:cNvSpPr>
          <p:nvPr/>
        </p:nvSpPr>
        <p:spPr>
          <a:xfrm xmlns:a="http://schemas.openxmlformats.org/drawingml/2006/main">
            <a:off x="6486525" y="2143125"/>
            <a:ext cx="471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EA705E"/>
                </a:solidFill>
                <a:latin typeface="Aptos"/>
                <a:ea typeface="Aptos"/>
                <a:cs typeface="Aptos"/>
              </a:defRPr>
            </a:defPPr>
          </a:lstStyle>
          <a:p xmlns:a="http://schemas.openxmlformats.org/drawingml/2006/main">
            <a:pPr algn="l">
              <a:defRPr sz="975" b="1" i="0">
                <a:solidFill>
                  <a:srgbClr val="EA705E"/>
                </a:solidFill>
                <a:latin typeface="Aptos"/>
                <a:ea typeface="Aptos"/>
                <a:cs typeface="Aptos"/>
              </a:defRPr>
            </a:pPr>
            <a:r>
              <a:rPr sz="975" b="1" i="0">
                <a:solidFill>
                  <a:srgbClr val="EA705E"/>
                </a:solidFill>
                <a:latin typeface="Aptos"/>
                <a:ea typeface="Aptos"/>
                <a:cs typeface="Aptos"/>
              </a:rPr>
              <a:t>BUBBLES ARE AN EVIDENCE-GATED OPTION</a:t>
            </a:r>
          </a:p>
        </p:txBody>
      </p:sp>
      <p:sp>
        <p:nvSpPr>
          <p:cNvPr id="15" name="">
            <a:extLst xmlns:a="http://schemas.openxmlformats.org/drawingml/2006/main">
              <a:ext uri="{FF2B5EF4-FFF2-40B4-BE49-F238E27FC236}">
                <a16:creationId xmlns:a16="http://schemas.microsoft.com/office/drawing/2014/main" id="{58D7B6E6-11E6-43A7-A9E6-AD4FBA92A580}"/>
              </a:ext>
            </a:extLst>
          </p:cNvPr>
          <p:cNvSpPr>
            <a:spLocks xmlns:a="http://schemas.openxmlformats.org/drawingml/2006/main" noGrp="1"/>
          </p:cNvSpPr>
          <p:nvPr/>
        </p:nvSpPr>
        <p:spPr>
          <a:xfrm xmlns:a="http://schemas.openxmlformats.org/drawingml/2006/main">
            <a:off x="6486525" y="2466975"/>
            <a:ext cx="4286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i="0">
                <a:solidFill>
                  <a:srgbClr val="102B39"/>
                </a:solidFill>
                <a:latin typeface="Georgia"/>
                <a:ea typeface="Georgia"/>
                <a:cs typeface="Georgia"/>
              </a:defRPr>
            </a:defPPr>
          </a:lstStyle>
          <a:p xmlns:a="http://schemas.openxmlformats.org/drawingml/2006/main">
            <a:pPr algn="l">
              <a:defRPr sz="2100" b="1" i="0">
                <a:solidFill>
                  <a:srgbClr val="102B39"/>
                </a:solidFill>
                <a:latin typeface="Georgia"/>
                <a:ea typeface="Georgia"/>
                <a:cs typeface="Georgia"/>
              </a:defRPr>
            </a:pPr>
            <a:r>
              <a:rPr sz="2100" b="1" i="0">
                <a:solidFill>
                  <a:srgbClr val="102B39"/>
                </a:solidFill>
                <a:latin typeface="Georgia"/>
                <a:ea typeface="Georgia"/>
                <a:cs typeface="Georgia"/>
              </a:rPr>
              <a:t>Not the core barrier</a:t>
            </a:r>
          </a:p>
        </p:txBody>
      </p:sp>
      <p:sp>
        <p:nvSpPr>
          <p:cNvPr id="16" name="">
            <a:extLst xmlns:a="http://schemas.openxmlformats.org/drawingml/2006/main">
              <a:ext uri="{FF2B5EF4-FFF2-40B4-BE49-F238E27FC236}">
                <a16:creationId xmlns:a16="http://schemas.microsoft.com/office/drawing/2014/main" id="{CFAD37DD-B105-401E-B916-5F2F179628B4}"/>
              </a:ext>
            </a:extLst>
          </p:cNvPr>
          <p:cNvSpPr>
            <a:spLocks xmlns:a="http://schemas.openxmlformats.org/drawingml/2006/main" noGrp="1"/>
          </p:cNvSpPr>
          <p:nvPr/>
        </p:nvSpPr>
        <p:spPr>
          <a:xfrm xmlns:a="http://schemas.openxmlformats.org/drawingml/2006/main">
            <a:off x="6486525" y="3009900"/>
            <a:ext cx="4524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566B72"/>
                </a:solidFill>
                <a:latin typeface="Aptos"/>
                <a:ea typeface="Aptos"/>
                <a:cs typeface="Aptos"/>
              </a:defRPr>
            </a:defPPr>
          </a:lstStyle>
          <a:p xmlns:a="http://schemas.openxmlformats.org/drawingml/2006/main">
            <a:pPr algn="l">
              <a:defRPr sz="1350" b="0" i="0">
                <a:solidFill>
                  <a:srgbClr val="566B72"/>
                </a:solidFill>
                <a:latin typeface="Aptos"/>
                <a:ea typeface="Aptos"/>
                <a:cs typeface="Aptos"/>
              </a:defRPr>
            </a:pPr>
            <a:r>
              <a:rPr sz="1350" b="0" i="0">
                <a:solidFill>
                  <a:srgbClr val="566B72"/>
                </a:solidFill>
                <a:latin typeface="Aptos"/>
                <a:ea typeface="Aptos"/>
                <a:cs typeface="Aptos"/>
              </a:rPr>
              <a:t>The current comparison does not show a dependable capture gain from continuous bubble operation.</a:t>
            </a:r>
          </a:p>
        </p:txBody>
      </p:sp>
      <p:sp>
        <p:nvSpPr>
          <p:cNvPr id="17" name="">
            <a:extLst xmlns:a="http://schemas.openxmlformats.org/drawingml/2006/main">
              <a:ext uri="{FF2B5EF4-FFF2-40B4-BE49-F238E27FC236}">
                <a16:creationId xmlns:a16="http://schemas.microsoft.com/office/drawing/2014/main" id="{09AA4560-C927-4F03-B127-37B196FFB51C}"/>
              </a:ext>
            </a:extLst>
          </p:cNvPr>
          <p:cNvSpPr>
            <a:spLocks xmlns:a="http://schemas.openxmlformats.org/drawingml/2006/main" noGrp="1"/>
          </p:cNvSpPr>
          <p:nvPr/>
        </p:nvSpPr>
        <p:spPr>
          <a:xfrm xmlns:a="http://schemas.openxmlformats.org/drawingml/2006/main">
            <a:off x="6486525" y="3781425"/>
            <a:ext cx="11430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i="0">
                <a:solidFill>
                  <a:srgbClr val="3F91B5"/>
                </a:solidFill>
                <a:latin typeface="Georgia"/>
                <a:ea typeface="Georgia"/>
                <a:cs typeface="Georgia"/>
              </a:defRPr>
            </a:defPPr>
          </a:lstStyle>
          <a:p xmlns:a="http://schemas.openxmlformats.org/drawingml/2006/main">
            <a:pPr algn="l">
              <a:defRPr sz="3600" b="1" i="0">
                <a:solidFill>
                  <a:srgbClr val="3F91B5"/>
                </a:solidFill>
                <a:latin typeface="Georgia"/>
                <a:ea typeface="Georgia"/>
                <a:cs typeface="Georgia"/>
              </a:defRPr>
            </a:pPr>
            <a:r>
              <a:rPr sz="3600" b="1" i="0">
                <a:solidFill>
                  <a:srgbClr val="3F91B5"/>
                </a:solidFill>
                <a:latin typeface="Georgia"/>
                <a:ea typeface="Georgia"/>
                <a:cs typeface="Georgia"/>
              </a:rPr>
              <a:t>77.1</a:t>
            </a:r>
          </a:p>
        </p:txBody>
      </p:sp>
      <p:sp>
        <p:nvSpPr>
          <p:cNvPr id="18" name="">
            <a:extLst xmlns:a="http://schemas.openxmlformats.org/drawingml/2006/main">
              <a:ext uri="{FF2B5EF4-FFF2-40B4-BE49-F238E27FC236}">
                <a16:creationId xmlns:a16="http://schemas.microsoft.com/office/drawing/2014/main" id="{956FEE0B-4B86-40A5-A3A1-2194E93063E7}"/>
              </a:ext>
            </a:extLst>
          </p:cNvPr>
          <p:cNvSpPr>
            <a:spLocks xmlns:a="http://schemas.openxmlformats.org/drawingml/2006/main" noGrp="1"/>
          </p:cNvSpPr>
          <p:nvPr/>
        </p:nvSpPr>
        <p:spPr>
          <a:xfrm xmlns:a="http://schemas.openxmlformats.org/drawingml/2006/main">
            <a:off x="7667625" y="395287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02B39"/>
                </a:solidFill>
                <a:latin typeface="Aptos"/>
                <a:ea typeface="Aptos"/>
                <a:cs typeface="Aptos"/>
              </a:defRPr>
            </a:defPPr>
          </a:lstStyle>
          <a:p xmlns:a="http://schemas.openxmlformats.org/drawingml/2006/main">
            <a:pPr algn="l">
              <a:defRPr sz="1350" b="1" i="0">
                <a:solidFill>
                  <a:srgbClr val="102B39"/>
                </a:solidFill>
                <a:latin typeface="Aptos"/>
                <a:ea typeface="Aptos"/>
                <a:cs typeface="Aptos"/>
              </a:defRPr>
            </a:pPr>
            <a:r>
              <a:rPr sz="1350" b="1" i="0">
                <a:solidFill>
                  <a:srgbClr val="102B39"/>
                </a:solidFill>
                <a:latin typeface="Aptos"/>
                <a:ea typeface="Aptos"/>
                <a:cs typeface="Aptos"/>
              </a:rPr>
              <a:t>kWh / bloom event</a:t>
            </a:r>
          </a:p>
        </p:txBody>
      </p:sp>
      <p:sp>
        <p:nvSpPr>
          <p:cNvPr id="19" name="">
            <a:extLst xmlns:a="http://schemas.openxmlformats.org/drawingml/2006/main">
              <a:ext uri="{FF2B5EF4-FFF2-40B4-BE49-F238E27FC236}">
                <a16:creationId xmlns:a16="http://schemas.microsoft.com/office/drawing/2014/main" id="{87AD63EA-A3BC-423A-8BC4-AD9ADEB42C97}"/>
              </a:ext>
            </a:extLst>
          </p:cNvPr>
          <p:cNvSpPr>
            <a:spLocks xmlns:a="http://schemas.openxmlformats.org/drawingml/2006/main" noGrp="1"/>
          </p:cNvSpPr>
          <p:nvPr/>
        </p:nvSpPr>
        <p:spPr>
          <a:xfrm xmlns:a="http://schemas.openxmlformats.org/drawingml/2006/main">
            <a:off x="6486525" y="4457700"/>
            <a:ext cx="4448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829296"/>
                </a:solidFill>
                <a:latin typeface="Aptos"/>
                <a:ea typeface="Aptos"/>
                <a:cs typeface="Aptos"/>
              </a:defRPr>
            </a:defPPr>
          </a:lstStyle>
          <a:p xmlns:a="http://schemas.openxmlformats.org/drawingml/2006/main">
            <a:pPr algn="l">
              <a:defRPr sz="1125" b="0" i="0">
                <a:solidFill>
                  <a:srgbClr val="829296"/>
                </a:solidFill>
                <a:latin typeface="Aptos"/>
                <a:ea typeface="Aptos"/>
                <a:cs typeface="Aptos"/>
              </a:defRPr>
            </a:pPr>
            <a:r>
              <a:rPr sz="1125" b="0" i="0">
                <a:solidFill>
                  <a:srgbClr val="829296"/>
                </a:solidFill>
                <a:latin typeface="Aptos"/>
                <a:ea typeface="Aptos"/>
                <a:cs typeface="Aptos"/>
              </a:rPr>
              <a:t>model estimate for two continuously operated diffuser lines; not a field energy measurement.</a:t>
            </a:r>
          </a:p>
        </p:txBody>
      </p:sp>
      <p:sp>
        <p:nvSpPr>
          <p:cNvPr id="20" name="">
            <a:extLst xmlns:a="http://schemas.openxmlformats.org/drawingml/2006/main">
              <a:ext uri="{FF2B5EF4-FFF2-40B4-BE49-F238E27FC236}">
                <a16:creationId xmlns:a16="http://schemas.microsoft.com/office/drawing/2014/main" id="{E373641B-3FE4-459B-B5F8-2FF2A3E8ED64}"/>
              </a:ext>
            </a:extLst>
          </p:cNvPr>
          <p:cNvSpPr>
            <a:spLocks xmlns:a="http://schemas.openxmlformats.org/drawingml/2006/main" noGrp="1"/>
          </p:cNvSpPr>
          <p:nvPr/>
        </p:nvSpPr>
        <p:spPr>
          <a:xfrm xmlns:a="http://schemas.openxmlformats.org/drawingml/2006/main">
            <a:off x="6486525" y="5086350"/>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102B39"/>
                </a:solidFill>
                <a:latin typeface="Aptos"/>
                <a:ea typeface="Aptos"/>
                <a:cs typeface="Aptos"/>
              </a:defRPr>
            </a:defPPr>
          </a:lstStyle>
          <a:p xmlns:a="http://schemas.openxmlformats.org/drawingml/2006/main">
            <a:pPr algn="l">
              <a:defRPr sz="1200" b="1" i="0">
                <a:solidFill>
                  <a:srgbClr val="102B39"/>
                </a:solidFill>
                <a:latin typeface="Aptos"/>
                <a:ea typeface="Aptos"/>
                <a:cs typeface="Aptos"/>
              </a:defRPr>
            </a:pPr>
            <a:r>
              <a:rPr sz="1200" b="1" i="0">
                <a:solidFill>
                  <a:srgbClr val="102B39"/>
                </a:solidFill>
                <a:latin typeface="Aptos"/>
                <a:ea typeface="Aptos"/>
                <a:cs typeface="Aptos"/>
              </a:rPr>
              <a:t>Test airlift and curtain independently in a flume; retain only if capture, ecology, and energy improve together.</a:t>
            </a:r>
          </a:p>
        </p:txBody>
      </p:sp>
      <p:sp>
        <p:nvSpPr>
          <p:cNvPr id="21" name="">
            <a:extLst xmlns:a="http://schemas.openxmlformats.org/drawingml/2006/main">
              <a:ext uri="{FF2B5EF4-FFF2-40B4-BE49-F238E27FC236}">
                <a16:creationId xmlns:a16="http://schemas.microsoft.com/office/drawing/2014/main" id="{9CE65171-0A3B-42ED-BEB0-EB5A20FA00C3}"/>
              </a:ext>
            </a:extLst>
          </p:cNvPr>
          <p:cNvSpPr>
            <a:spLocks xmlns:a="http://schemas.openxmlformats.org/drawingml/2006/main" noGrp="1"/>
          </p:cNvSpPr>
          <p:nvPr/>
        </p:nvSpPr>
        <p:spPr>
          <a:xfrm xmlns:a="http://schemas.openxmlformats.org/drawingml/2006/main">
            <a:off x="552450" y="6457950"/>
            <a:ext cx="1108710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B39C581-D7B8-40EC-A7BE-ACA781689C4A}"/>
              </a:ext>
            </a:extLst>
          </p:cNvPr>
          <p:cNvSpPr>
            <a:spLocks xmlns:a="http://schemas.openxmlformats.org/drawingml/2006/main" noGrp="1"/>
          </p:cNvSpPr>
          <p:nvPr/>
        </p:nvSpPr>
        <p:spPr>
          <a:xfrm xmlns:a="http://schemas.openxmlformats.org/drawingml/2006/main">
            <a:off x="552450" y="655320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66B72"/>
                </a:solidFill>
                <a:latin typeface="Aptos"/>
                <a:ea typeface="Aptos"/>
                <a:cs typeface="Aptos"/>
              </a:defRPr>
            </a:defPPr>
          </a:lstStyle>
          <a:p xmlns:a="http://schemas.openxmlformats.org/drawingml/2006/main">
            <a:pPr algn="l">
              <a:defRPr sz="900" b="1" i="0">
                <a:solidFill>
                  <a:srgbClr val="566B72"/>
                </a:solidFill>
                <a:latin typeface="Aptos"/>
                <a:ea typeface="Aptos"/>
                <a:cs typeface="Aptos"/>
              </a:defRPr>
            </a:pPr>
            <a:r>
              <a:rPr sz="900" b="1" i="0">
                <a:solidFill>
                  <a:srgbClr val="566B72"/>
                </a:solidFill>
                <a:latin typeface="Aptos"/>
                <a:ea typeface="Aptos"/>
                <a:cs typeface="Aptos"/>
              </a:rPr>
              <a:t>MARLIN   /   ATP 2026 • ENEC CHALLENGE</a:t>
            </a:r>
          </a:p>
        </p:txBody>
      </p:sp>
      <p:sp>
        <p:nvSpPr>
          <p:cNvPr id="23" name="">
            <a:extLst xmlns:a="http://schemas.openxmlformats.org/drawingml/2006/main">
              <a:ext uri="{FF2B5EF4-FFF2-40B4-BE49-F238E27FC236}">
                <a16:creationId xmlns:a16="http://schemas.microsoft.com/office/drawing/2014/main" id="{565D6E92-67FA-463B-9294-C495445FBD85}"/>
              </a:ext>
            </a:extLst>
          </p:cNvPr>
          <p:cNvSpPr>
            <a:spLocks xmlns:a="http://schemas.openxmlformats.org/drawingml/2006/main" noGrp="1"/>
          </p:cNvSpPr>
          <p:nvPr/>
        </p:nvSpPr>
        <p:spPr>
          <a:xfrm xmlns:a="http://schemas.openxmlformats.org/drawingml/2006/main">
            <a:off x="11239500" y="65341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566B72"/>
                </a:solidFill>
                <a:latin typeface="Aptos"/>
                <a:ea typeface="Aptos"/>
                <a:cs typeface="Aptos"/>
              </a:defRPr>
            </a:defPPr>
          </a:lstStyle>
          <a:p xmlns:a="http://schemas.openxmlformats.org/drawingml/2006/main">
            <a:pPr algn="r">
              <a:defRPr sz="975" b="1" i="0">
                <a:solidFill>
                  <a:srgbClr val="566B72"/>
                </a:solidFill>
                <a:latin typeface="Aptos"/>
                <a:ea typeface="Aptos"/>
                <a:cs typeface="Aptos"/>
              </a:defRPr>
            </a:pPr>
            <a:r>
              <a:rPr sz="975" b="1" i="0">
                <a:solidFill>
                  <a:srgbClr val="566B72"/>
                </a:solidFill>
                <a:latin typeface="Aptos"/>
                <a:ea typeface="Aptos"/>
                <a:cs typeface="Aptos"/>
              </a:rPr>
              <a:t>08</a:t>
            </a:r>
          </a:p>
        </p:txBody>
      </p:sp>
    </p:spTree>
    <p:extLst>
      <p:ext uri="{BB962C8B-B14F-4D97-AF65-F5344CB8AC3E}">
        <p14:creationId xmlns:p14="http://schemas.microsoft.com/office/powerpoint/2010/main" val="57749584"/>
      </p:ext>
    </p:extLst>
  </p:cSld>
</p:sld>
</file>

<file path=ppt/slides/slide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0486193-384D-4669-A43B-B83F9B2FBD71}"/>
              </a:ext>
            </a:extLst>
          </p:cNvPr>
          <p:cNvSpPr>
            <a:spLocks xmlns:a="http://schemas.openxmlformats.org/drawingml/2006/main" noGrp="1"/>
          </p:cNvSpPr>
          <p:nvPr/>
        </p:nvSpPr>
        <p:spPr>
          <a:xfrm xmlns:a="http://schemas.openxmlformats.org/drawingml/2006/main">
            <a:off x="552450" y="3619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08   /   TEST PLAN</a:t>
            </a:r>
          </a:p>
        </p:txBody>
      </p:sp>
      <p:sp>
        <p:nvSpPr>
          <p:cNvPr id="2" name="">
            <a:extLst xmlns:a="http://schemas.openxmlformats.org/drawingml/2006/main">
              <a:ext uri="{FF2B5EF4-FFF2-40B4-BE49-F238E27FC236}">
                <a16:creationId xmlns:a16="http://schemas.microsoft.com/office/drawing/2014/main" id="{0B8D8327-69E3-42B6-B026-0EDF3F096E46}"/>
              </a:ext>
            </a:extLst>
          </p:cNvPr>
          <p:cNvSpPr>
            <a:spLocks xmlns:a="http://schemas.openxmlformats.org/drawingml/2006/main" noGrp="1"/>
          </p:cNvSpPr>
          <p:nvPr/>
        </p:nvSpPr>
        <p:spPr>
          <a:xfrm xmlns:a="http://schemas.openxmlformats.org/drawingml/2006/main">
            <a:off x="552450" y="72390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102B39"/>
                </a:solidFill>
                <a:latin typeface="Georgia"/>
                <a:ea typeface="Georgia"/>
                <a:cs typeface="Georgia"/>
              </a:defRPr>
            </a:defPPr>
          </a:lstStyle>
          <a:p xmlns:a="http://schemas.openxmlformats.org/drawingml/2006/main">
            <a:pPr algn="l">
              <a:defRPr sz="2850" b="1" i="0">
                <a:solidFill>
                  <a:srgbClr val="102B39"/>
                </a:solidFill>
                <a:latin typeface="Georgia"/>
                <a:ea typeface="Georgia"/>
                <a:cs typeface="Georgia"/>
              </a:defRPr>
            </a:pPr>
            <a:r>
              <a:rPr sz="2850" b="1" i="0">
                <a:solidFill>
                  <a:srgbClr val="102B39"/>
                </a:solidFill>
                <a:latin typeface="Georgia"/>
                <a:ea typeface="Georgia"/>
                <a:cs typeface="Georgia"/>
              </a:rPr>
              <a:t>Prove the hard parts before a site pilot</a:t>
            </a:r>
          </a:p>
        </p:txBody>
      </p:sp>
      <p:sp>
        <p:nvSpPr>
          <p:cNvPr id="3" name="">
            <a:extLst xmlns:a="http://schemas.openxmlformats.org/drawingml/2006/main">
              <a:ext uri="{FF2B5EF4-FFF2-40B4-BE49-F238E27FC236}">
                <a16:creationId xmlns:a16="http://schemas.microsoft.com/office/drawing/2014/main" id="{EC45A7FB-FBB7-495A-BECB-B46D2D658C77}"/>
              </a:ext>
            </a:extLst>
          </p:cNvPr>
          <p:cNvSpPr>
            <a:spLocks xmlns:a="http://schemas.openxmlformats.org/drawingml/2006/main" noGrp="1"/>
          </p:cNvSpPr>
          <p:nvPr/>
        </p:nvSpPr>
        <p:spPr>
          <a:xfrm xmlns:a="http://schemas.openxmlformats.org/drawingml/2006/main">
            <a:off x="571500" y="13049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566B72"/>
                </a:solidFill>
                <a:latin typeface="Aptos"/>
                <a:ea typeface="Aptos"/>
                <a:cs typeface="Aptos"/>
              </a:defRPr>
            </a:defPPr>
          </a:lstStyle>
          <a:p xmlns:a="http://schemas.openxmlformats.org/drawingml/2006/main">
            <a:pPr algn="l">
              <a:defRPr sz="1425" b="0" i="0">
                <a:solidFill>
                  <a:srgbClr val="566B72"/>
                </a:solidFill>
                <a:latin typeface="Aptos"/>
                <a:ea typeface="Aptos"/>
                <a:cs typeface="Aptos"/>
              </a:defRPr>
            </a:pPr>
            <a:r>
              <a:rPr sz="1425" b="0" i="0">
                <a:solidFill>
                  <a:srgbClr val="566B72"/>
                </a:solidFill>
                <a:latin typeface="Aptos"/>
                <a:ea typeface="Aptos"/>
                <a:cs typeface="Aptos"/>
              </a:rPr>
              <a:t>Every gate should measure capture, marine impact, flow cost, and failure recovery together.</a:t>
            </a:r>
          </a:p>
        </p:txBody>
      </p:sp>
      <p:sp>
        <p:nvSpPr>
          <p:cNvPr id="4" name="">
            <a:extLst xmlns:a="http://schemas.openxmlformats.org/drawingml/2006/main">
              <a:ext uri="{FF2B5EF4-FFF2-40B4-BE49-F238E27FC236}">
                <a16:creationId xmlns:a16="http://schemas.microsoft.com/office/drawing/2014/main" id="{6DD0A607-3399-4B67-9094-1E03973702E1}"/>
              </a:ext>
            </a:extLst>
          </p:cNvPr>
          <p:cNvSpPr>
            <a:spLocks xmlns:a="http://schemas.openxmlformats.org/drawingml/2006/main" noGrp="1"/>
          </p:cNvSpPr>
          <p:nvPr/>
        </p:nvSpPr>
        <p:spPr>
          <a:xfrm xmlns:a="http://schemas.openxmlformats.org/drawingml/2006/main">
            <a:off x="628650" y="2447925"/>
            <a:ext cx="10744200" cy="2857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DE27084-CF28-4BD2-B565-0385FF032C5C}"/>
              </a:ext>
            </a:extLst>
          </p:cNvPr>
          <p:cNvSpPr>
            <a:spLocks xmlns:a="http://schemas.openxmlformats.org/drawingml/2006/main" noGrp="1"/>
          </p:cNvSpPr>
          <p:nvPr/>
        </p:nvSpPr>
        <p:spPr>
          <a:xfrm xmlns:a="http://schemas.openxmlformats.org/drawingml/2006/main">
            <a:off x="666750" y="2324100"/>
            <a:ext cx="266700" cy="266700"/>
          </a:xfrm>
          <a:prstGeom xmlns:a="http://schemas.openxmlformats.org/drawingml/2006/main" prst="ellipse">
            <a:avLst/>
          </a:prstGeom>
          <a:solidFill xmlns:a="http://schemas.openxmlformats.org/drawingml/2006/main">
            <a:srgbClr val="087E8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082DF58-9A08-42FD-96AB-EB525B64505A}"/>
              </a:ext>
            </a:extLst>
          </p:cNvPr>
          <p:cNvSpPr>
            <a:spLocks xmlns:a="http://schemas.openxmlformats.org/drawingml/2006/main" noGrp="1"/>
          </p:cNvSpPr>
          <p:nvPr/>
        </p:nvSpPr>
        <p:spPr>
          <a:xfrm xmlns:a="http://schemas.openxmlformats.org/drawingml/2006/main">
            <a:off x="704850" y="2352675"/>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FFFFFF"/>
                </a:solidFill>
                <a:latin typeface="Aptos"/>
                <a:ea typeface="Aptos"/>
                <a:cs typeface="Aptos"/>
              </a:defRPr>
            </a:defPPr>
          </a:lstStyle>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0</a:t>
            </a:r>
          </a:p>
        </p:txBody>
      </p:sp>
      <p:sp>
        <p:nvSpPr>
          <p:cNvPr id="7" name="">
            <a:extLst xmlns:a="http://schemas.openxmlformats.org/drawingml/2006/main">
              <a:ext uri="{FF2B5EF4-FFF2-40B4-BE49-F238E27FC236}">
                <a16:creationId xmlns:a16="http://schemas.microsoft.com/office/drawing/2014/main" id="{55EB33B0-58E5-4D85-8952-AF0D785340E0}"/>
              </a:ext>
            </a:extLst>
          </p:cNvPr>
          <p:cNvSpPr>
            <a:spLocks xmlns:a="http://schemas.openxmlformats.org/drawingml/2006/main" noGrp="1"/>
          </p:cNvSpPr>
          <p:nvPr/>
        </p:nvSpPr>
        <p:spPr>
          <a:xfrm xmlns:a="http://schemas.openxmlformats.org/drawingml/2006/main">
            <a:off x="628650" y="2762250"/>
            <a:ext cx="2362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CALIBRATE</a:t>
            </a:r>
          </a:p>
        </p:txBody>
      </p:sp>
      <p:sp>
        <p:nvSpPr>
          <p:cNvPr id="8" name="">
            <a:extLst xmlns:a="http://schemas.openxmlformats.org/drawingml/2006/main">
              <a:ext uri="{FF2B5EF4-FFF2-40B4-BE49-F238E27FC236}">
                <a16:creationId xmlns:a16="http://schemas.microsoft.com/office/drawing/2014/main" id="{AFE9D0E9-E153-4025-AB51-7E4A578C6773}"/>
              </a:ext>
            </a:extLst>
          </p:cNvPr>
          <p:cNvSpPr>
            <a:spLocks xmlns:a="http://schemas.openxmlformats.org/drawingml/2006/main" noGrp="1"/>
          </p:cNvSpPr>
          <p:nvPr/>
        </p:nvSpPr>
        <p:spPr>
          <a:xfrm xmlns:a="http://schemas.openxmlformats.org/drawingml/2006/main">
            <a:off x="628650" y="3143250"/>
            <a:ext cx="2305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02B39"/>
                </a:solidFill>
                <a:latin typeface="Aptos"/>
                <a:ea typeface="Aptos"/>
                <a:cs typeface="Aptos"/>
              </a:defRPr>
            </a:defPPr>
          </a:lstStyle>
          <a:p xmlns:a="http://schemas.openxmlformats.org/drawingml/2006/main">
            <a:pPr algn="l">
              <a:defRPr sz="1200" b="0" i="0">
                <a:solidFill>
                  <a:srgbClr val="102B39"/>
                </a:solidFill>
                <a:latin typeface="Aptos"/>
                <a:ea typeface="Aptos"/>
                <a:cs typeface="Aptos"/>
              </a:defRPr>
            </a:pPr>
            <a:r>
              <a:rPr sz="1200" b="0" i="0">
                <a:solidFill>
                  <a:srgbClr val="102B39"/>
                </a:solidFill>
                <a:latin typeface="Aptos"/>
                <a:ea typeface="Aptos"/>
                <a:cs typeface="Aptos"/>
              </a:rPr>
              <a:t>Bathymetry, ADCP current, intake-adjacent flow, bloom trajectories, and operator constraints.</a:t>
            </a:r>
          </a:p>
        </p:txBody>
      </p:sp>
      <p:sp>
        <p:nvSpPr>
          <p:cNvPr id="9" name="">
            <a:extLst xmlns:a="http://schemas.openxmlformats.org/drawingml/2006/main">
              <a:ext uri="{FF2B5EF4-FFF2-40B4-BE49-F238E27FC236}">
                <a16:creationId xmlns:a16="http://schemas.microsoft.com/office/drawing/2014/main" id="{3DCB8847-68DF-4296-AA96-F405DA135C1B}"/>
              </a:ext>
            </a:extLst>
          </p:cNvPr>
          <p:cNvSpPr>
            <a:spLocks xmlns:a="http://schemas.openxmlformats.org/drawingml/2006/main" noGrp="1"/>
          </p:cNvSpPr>
          <p:nvPr/>
        </p:nvSpPr>
        <p:spPr>
          <a:xfrm xmlns:a="http://schemas.openxmlformats.org/drawingml/2006/main">
            <a:off x="628650" y="4191000"/>
            <a:ext cx="230505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85E8C73-D46F-472A-A8AF-3A457F4D2C26}"/>
              </a:ext>
            </a:extLst>
          </p:cNvPr>
          <p:cNvSpPr>
            <a:spLocks xmlns:a="http://schemas.openxmlformats.org/drawingml/2006/main" noGrp="1"/>
          </p:cNvSpPr>
          <p:nvPr/>
        </p:nvSpPr>
        <p:spPr>
          <a:xfrm xmlns:a="http://schemas.openxmlformats.org/drawingml/2006/main">
            <a:off x="628650" y="43719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A705E"/>
                </a:solidFill>
                <a:latin typeface="Aptos"/>
                <a:ea typeface="Aptos"/>
                <a:cs typeface="Aptos"/>
              </a:defRPr>
            </a:defPPr>
          </a:lstStyle>
          <a:p xmlns:a="http://schemas.openxmlformats.org/drawingml/2006/main">
            <a:pPr algn="l">
              <a:defRPr sz="825" b="1" i="0">
                <a:solidFill>
                  <a:srgbClr val="EA705E"/>
                </a:solidFill>
                <a:latin typeface="Aptos"/>
                <a:ea typeface="Aptos"/>
                <a:cs typeface="Aptos"/>
              </a:defRPr>
            </a:pPr>
            <a:r>
              <a:rPr sz="825" b="1" i="0">
                <a:solidFill>
                  <a:srgbClr val="EA705E"/>
                </a:solidFill>
                <a:latin typeface="Aptos"/>
                <a:ea typeface="Aptos"/>
                <a:cs typeface="Aptos"/>
              </a:rPr>
              <a:t>ADVANCE WHEN</a:t>
            </a:r>
          </a:p>
        </p:txBody>
      </p:sp>
      <p:sp>
        <p:nvSpPr>
          <p:cNvPr id="11" name="">
            <a:extLst xmlns:a="http://schemas.openxmlformats.org/drawingml/2006/main">
              <a:ext uri="{FF2B5EF4-FFF2-40B4-BE49-F238E27FC236}">
                <a16:creationId xmlns:a16="http://schemas.microsoft.com/office/drawing/2014/main" id="{34854BF2-763D-4CB6-B4A8-D44EEE3AAFAC}"/>
              </a:ext>
            </a:extLst>
          </p:cNvPr>
          <p:cNvSpPr>
            <a:spLocks xmlns:a="http://schemas.openxmlformats.org/drawingml/2006/main" noGrp="1"/>
          </p:cNvSpPr>
          <p:nvPr/>
        </p:nvSpPr>
        <p:spPr>
          <a:xfrm xmlns:a="http://schemas.openxmlformats.org/drawingml/2006/main">
            <a:off x="628650" y="4591050"/>
            <a:ext cx="2305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566B72"/>
                </a:solidFill>
                <a:latin typeface="Aptos"/>
                <a:ea typeface="Aptos"/>
                <a:cs typeface="Aptos"/>
              </a:defRPr>
            </a:defPPr>
          </a:lstStyle>
          <a:p xmlns:a="http://schemas.openxmlformats.org/drawingml/2006/main">
            <a:pPr algn="l">
              <a:defRPr sz="1125" b="1" i="0">
                <a:solidFill>
                  <a:srgbClr val="566B72"/>
                </a:solidFill>
                <a:latin typeface="Aptos"/>
                <a:ea typeface="Aptos"/>
                <a:cs typeface="Aptos"/>
              </a:defRPr>
            </a:pPr>
            <a:r>
              <a:rPr sz="1125" b="1" i="0">
                <a:solidFill>
                  <a:srgbClr val="566B72"/>
                </a:solidFill>
                <a:latin typeface="Aptos"/>
                <a:ea typeface="Aptos"/>
                <a:cs typeface="Aptos"/>
              </a:rPr>
              <a:t>Site envelope signed off</a:t>
            </a:r>
          </a:p>
        </p:txBody>
      </p:sp>
      <p:sp>
        <p:nvSpPr>
          <p:cNvPr id="12" name="">
            <a:extLst xmlns:a="http://schemas.openxmlformats.org/drawingml/2006/main">
              <a:ext uri="{FF2B5EF4-FFF2-40B4-BE49-F238E27FC236}">
                <a16:creationId xmlns:a16="http://schemas.microsoft.com/office/drawing/2014/main" id="{99A81653-31A4-4218-9030-E99EAFB6D47B}"/>
              </a:ext>
            </a:extLst>
          </p:cNvPr>
          <p:cNvSpPr>
            <a:spLocks xmlns:a="http://schemas.openxmlformats.org/drawingml/2006/main" noGrp="1"/>
          </p:cNvSpPr>
          <p:nvPr/>
        </p:nvSpPr>
        <p:spPr>
          <a:xfrm xmlns:a="http://schemas.openxmlformats.org/drawingml/2006/main">
            <a:off x="3409950" y="2324100"/>
            <a:ext cx="266700" cy="266700"/>
          </a:xfrm>
          <a:prstGeom xmlns:a="http://schemas.openxmlformats.org/drawingml/2006/main" prst="ellipse">
            <a:avLst/>
          </a:prstGeom>
          <a:solidFill xmlns:a="http://schemas.openxmlformats.org/drawingml/2006/main">
            <a:srgbClr val="087E8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1856634-4604-459E-8730-F4EFFAC98AD9}"/>
              </a:ext>
            </a:extLst>
          </p:cNvPr>
          <p:cNvSpPr>
            <a:spLocks xmlns:a="http://schemas.openxmlformats.org/drawingml/2006/main" noGrp="1"/>
          </p:cNvSpPr>
          <p:nvPr/>
        </p:nvSpPr>
        <p:spPr>
          <a:xfrm xmlns:a="http://schemas.openxmlformats.org/drawingml/2006/main">
            <a:off x="3448050" y="2352675"/>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FFFFFF"/>
                </a:solidFill>
                <a:latin typeface="Aptos"/>
                <a:ea typeface="Aptos"/>
                <a:cs typeface="Aptos"/>
              </a:defRPr>
            </a:defPPr>
          </a:lstStyle>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1</a:t>
            </a:r>
          </a:p>
        </p:txBody>
      </p:sp>
      <p:sp>
        <p:nvSpPr>
          <p:cNvPr id="14" name="">
            <a:extLst xmlns:a="http://schemas.openxmlformats.org/drawingml/2006/main">
              <a:ext uri="{FF2B5EF4-FFF2-40B4-BE49-F238E27FC236}">
                <a16:creationId xmlns:a16="http://schemas.microsoft.com/office/drawing/2014/main" id="{2E3892BC-24C7-488F-B96A-2EB452F4A506}"/>
              </a:ext>
            </a:extLst>
          </p:cNvPr>
          <p:cNvSpPr>
            <a:spLocks xmlns:a="http://schemas.openxmlformats.org/drawingml/2006/main" noGrp="1"/>
          </p:cNvSpPr>
          <p:nvPr/>
        </p:nvSpPr>
        <p:spPr>
          <a:xfrm xmlns:a="http://schemas.openxmlformats.org/drawingml/2006/main">
            <a:off x="3371850" y="2762250"/>
            <a:ext cx="2362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FLUME</a:t>
            </a:r>
          </a:p>
        </p:txBody>
      </p:sp>
      <p:sp>
        <p:nvSpPr>
          <p:cNvPr id="15" name="">
            <a:extLst xmlns:a="http://schemas.openxmlformats.org/drawingml/2006/main">
              <a:ext uri="{FF2B5EF4-FFF2-40B4-BE49-F238E27FC236}">
                <a16:creationId xmlns:a16="http://schemas.microsoft.com/office/drawing/2014/main" id="{23394EC2-D842-4E74-B3E5-B4E815C6F0E3}"/>
              </a:ext>
            </a:extLst>
          </p:cNvPr>
          <p:cNvSpPr>
            <a:spLocks xmlns:a="http://schemas.openxmlformats.org/drawingml/2006/main" noGrp="1"/>
          </p:cNvSpPr>
          <p:nvPr/>
        </p:nvSpPr>
        <p:spPr>
          <a:xfrm xmlns:a="http://schemas.openxmlformats.org/drawingml/2006/main">
            <a:off x="3371850" y="3143250"/>
            <a:ext cx="2305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02B39"/>
                </a:solidFill>
                <a:latin typeface="Aptos"/>
                <a:ea typeface="Aptos"/>
                <a:cs typeface="Aptos"/>
              </a:defRPr>
            </a:defPPr>
          </a:lstStyle>
          <a:p xmlns:a="http://schemas.openxmlformats.org/drawingml/2006/main">
            <a:pPr algn="l">
              <a:defRPr sz="1200" b="0" i="0">
                <a:solidFill>
                  <a:srgbClr val="102B39"/>
                </a:solidFill>
                <a:latin typeface="Aptos"/>
                <a:ea typeface="Aptos"/>
                <a:cs typeface="Aptos"/>
              </a:defRPr>
            </a:pPr>
            <a:r>
              <a:rPr sz="1200" b="0" i="0">
                <a:solidFill>
                  <a:srgbClr val="102B39"/>
                </a:solidFill>
                <a:latin typeface="Aptos"/>
                <a:ea typeface="Aptos"/>
                <a:cs typeface="Aptos"/>
              </a:rPr>
              <a:t>Guide geometry, airlift/bubble on-off, conveyor speed, clogging, escape, and bycatch handling.</a:t>
            </a:r>
          </a:p>
        </p:txBody>
      </p:sp>
      <p:sp>
        <p:nvSpPr>
          <p:cNvPr id="16" name="">
            <a:extLst xmlns:a="http://schemas.openxmlformats.org/drawingml/2006/main">
              <a:ext uri="{FF2B5EF4-FFF2-40B4-BE49-F238E27FC236}">
                <a16:creationId xmlns:a16="http://schemas.microsoft.com/office/drawing/2014/main" id="{76ABAA10-2BB3-4BF1-812F-D6EA53AEA546}"/>
              </a:ext>
            </a:extLst>
          </p:cNvPr>
          <p:cNvSpPr>
            <a:spLocks xmlns:a="http://schemas.openxmlformats.org/drawingml/2006/main" noGrp="1"/>
          </p:cNvSpPr>
          <p:nvPr/>
        </p:nvSpPr>
        <p:spPr>
          <a:xfrm xmlns:a="http://schemas.openxmlformats.org/drawingml/2006/main">
            <a:off x="3371850" y="4191000"/>
            <a:ext cx="230505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B8FF08D-511E-4E79-A9A7-9113F462AA9F}"/>
              </a:ext>
            </a:extLst>
          </p:cNvPr>
          <p:cNvSpPr>
            <a:spLocks xmlns:a="http://schemas.openxmlformats.org/drawingml/2006/main" noGrp="1"/>
          </p:cNvSpPr>
          <p:nvPr/>
        </p:nvSpPr>
        <p:spPr>
          <a:xfrm xmlns:a="http://schemas.openxmlformats.org/drawingml/2006/main">
            <a:off x="3371850" y="43719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A705E"/>
                </a:solidFill>
                <a:latin typeface="Aptos"/>
                <a:ea typeface="Aptos"/>
                <a:cs typeface="Aptos"/>
              </a:defRPr>
            </a:defPPr>
          </a:lstStyle>
          <a:p xmlns:a="http://schemas.openxmlformats.org/drawingml/2006/main">
            <a:pPr algn="l">
              <a:defRPr sz="825" b="1" i="0">
                <a:solidFill>
                  <a:srgbClr val="EA705E"/>
                </a:solidFill>
                <a:latin typeface="Aptos"/>
                <a:ea typeface="Aptos"/>
                <a:cs typeface="Aptos"/>
              </a:defRPr>
            </a:pPr>
            <a:r>
              <a:rPr sz="825" b="1" i="0">
                <a:solidFill>
                  <a:srgbClr val="EA705E"/>
                </a:solidFill>
                <a:latin typeface="Aptos"/>
                <a:ea typeface="Aptos"/>
                <a:cs typeface="Aptos"/>
              </a:rPr>
              <a:t>ADVANCE WHEN</a:t>
            </a:r>
          </a:p>
        </p:txBody>
      </p:sp>
      <p:sp>
        <p:nvSpPr>
          <p:cNvPr id="18" name="">
            <a:extLst xmlns:a="http://schemas.openxmlformats.org/drawingml/2006/main">
              <a:ext uri="{FF2B5EF4-FFF2-40B4-BE49-F238E27FC236}">
                <a16:creationId xmlns:a16="http://schemas.microsoft.com/office/drawing/2014/main" id="{364E5EA6-0D87-400B-97FC-9B9B0A916692}"/>
              </a:ext>
            </a:extLst>
          </p:cNvPr>
          <p:cNvSpPr>
            <a:spLocks xmlns:a="http://schemas.openxmlformats.org/drawingml/2006/main" noGrp="1"/>
          </p:cNvSpPr>
          <p:nvPr/>
        </p:nvSpPr>
        <p:spPr>
          <a:xfrm xmlns:a="http://schemas.openxmlformats.org/drawingml/2006/main">
            <a:off x="3371850" y="4591050"/>
            <a:ext cx="2305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566B72"/>
                </a:solidFill>
                <a:latin typeface="Aptos"/>
                <a:ea typeface="Aptos"/>
                <a:cs typeface="Aptos"/>
              </a:defRPr>
            </a:defPPr>
          </a:lstStyle>
          <a:p xmlns:a="http://schemas.openxmlformats.org/drawingml/2006/main">
            <a:pPr algn="l">
              <a:defRPr sz="1125" b="1" i="0">
                <a:solidFill>
                  <a:srgbClr val="566B72"/>
                </a:solidFill>
                <a:latin typeface="Aptos"/>
                <a:ea typeface="Aptos"/>
                <a:cs typeface="Aptos"/>
              </a:defRPr>
            </a:pPr>
            <a:r>
              <a:rPr sz="1125" b="1" i="0">
                <a:solidFill>
                  <a:srgbClr val="566B72"/>
                </a:solidFill>
                <a:latin typeface="Aptos"/>
                <a:ea typeface="Aptos"/>
                <a:cs typeface="Aptos"/>
              </a:rPr>
              <a:t>Target &lt;5% escape in defined test envelope</a:t>
            </a:r>
          </a:p>
        </p:txBody>
      </p:sp>
      <p:sp>
        <p:nvSpPr>
          <p:cNvPr id="19" name="">
            <a:extLst xmlns:a="http://schemas.openxmlformats.org/drawingml/2006/main">
              <a:ext uri="{FF2B5EF4-FFF2-40B4-BE49-F238E27FC236}">
                <a16:creationId xmlns:a16="http://schemas.microsoft.com/office/drawing/2014/main" id="{498C0C66-C918-421B-B9DA-FCC32E011C6D}"/>
              </a:ext>
            </a:extLst>
          </p:cNvPr>
          <p:cNvSpPr>
            <a:spLocks xmlns:a="http://schemas.openxmlformats.org/drawingml/2006/main" noGrp="1"/>
          </p:cNvSpPr>
          <p:nvPr/>
        </p:nvSpPr>
        <p:spPr>
          <a:xfrm xmlns:a="http://schemas.openxmlformats.org/drawingml/2006/main">
            <a:off x="6153150" y="2324100"/>
            <a:ext cx="266700" cy="266700"/>
          </a:xfrm>
          <a:prstGeom xmlns:a="http://schemas.openxmlformats.org/drawingml/2006/main" prst="ellipse">
            <a:avLst/>
          </a:prstGeom>
          <a:solidFill xmlns:a="http://schemas.openxmlformats.org/drawingml/2006/main">
            <a:srgbClr val="087E8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27B5BD9-E1EA-4A41-920C-5E33303194F3}"/>
              </a:ext>
            </a:extLst>
          </p:cNvPr>
          <p:cNvSpPr>
            <a:spLocks xmlns:a="http://schemas.openxmlformats.org/drawingml/2006/main" noGrp="1"/>
          </p:cNvSpPr>
          <p:nvPr/>
        </p:nvSpPr>
        <p:spPr>
          <a:xfrm xmlns:a="http://schemas.openxmlformats.org/drawingml/2006/main">
            <a:off x="6191250" y="2352675"/>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FFFFFF"/>
                </a:solidFill>
                <a:latin typeface="Aptos"/>
                <a:ea typeface="Aptos"/>
                <a:cs typeface="Aptos"/>
              </a:defRPr>
            </a:defPPr>
          </a:lstStyle>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2</a:t>
            </a:r>
          </a:p>
        </p:txBody>
      </p:sp>
      <p:sp>
        <p:nvSpPr>
          <p:cNvPr id="21" name="">
            <a:extLst xmlns:a="http://schemas.openxmlformats.org/drawingml/2006/main">
              <a:ext uri="{FF2B5EF4-FFF2-40B4-BE49-F238E27FC236}">
                <a16:creationId xmlns:a16="http://schemas.microsoft.com/office/drawing/2014/main" id="{7B4D400C-4C2A-4D88-9DE0-496F9DBD5F69}"/>
              </a:ext>
            </a:extLst>
          </p:cNvPr>
          <p:cNvSpPr>
            <a:spLocks xmlns:a="http://schemas.openxmlformats.org/drawingml/2006/main" noGrp="1"/>
          </p:cNvSpPr>
          <p:nvPr/>
        </p:nvSpPr>
        <p:spPr>
          <a:xfrm xmlns:a="http://schemas.openxmlformats.org/drawingml/2006/main">
            <a:off x="6115050" y="2762250"/>
            <a:ext cx="2362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SHELTERED SEA</a:t>
            </a:r>
          </a:p>
        </p:txBody>
      </p:sp>
      <p:sp>
        <p:nvSpPr>
          <p:cNvPr id="22" name="">
            <a:extLst xmlns:a="http://schemas.openxmlformats.org/drawingml/2006/main">
              <a:ext uri="{FF2B5EF4-FFF2-40B4-BE49-F238E27FC236}">
                <a16:creationId xmlns:a16="http://schemas.microsoft.com/office/drawing/2014/main" id="{975FCBEE-3E99-42BF-9F16-838C768C438D}"/>
              </a:ext>
            </a:extLst>
          </p:cNvPr>
          <p:cNvSpPr>
            <a:spLocks xmlns:a="http://schemas.openxmlformats.org/drawingml/2006/main" noGrp="1"/>
          </p:cNvSpPr>
          <p:nvPr/>
        </p:nvSpPr>
        <p:spPr>
          <a:xfrm xmlns:a="http://schemas.openxmlformats.org/drawingml/2006/main">
            <a:off x="6115050" y="3143250"/>
            <a:ext cx="2305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02B39"/>
                </a:solidFill>
                <a:latin typeface="Aptos"/>
                <a:ea typeface="Aptos"/>
                <a:cs typeface="Aptos"/>
              </a:defRPr>
            </a:defPPr>
          </a:lstStyle>
          <a:p xmlns:a="http://schemas.openxmlformats.org/drawingml/2006/main">
            <a:pPr algn="l">
              <a:defRPr sz="1200" b="0" i="0">
                <a:solidFill>
                  <a:srgbClr val="102B39"/>
                </a:solidFill>
                <a:latin typeface="Aptos"/>
                <a:ea typeface="Aptos"/>
                <a:cs typeface="Aptos"/>
              </a:defRPr>
            </a:pPr>
            <a:r>
              <a:rPr sz="1200" b="0" i="0">
                <a:solidFill>
                  <a:srgbClr val="102B39"/>
                </a:solidFill>
                <a:latin typeface="Aptos"/>
                <a:ea typeface="Aptos"/>
                <a:cs typeface="Aptos"/>
              </a:rPr>
              <a:t>Permitted deployment with ecological observation, load cells, pressure, flow, and recovery drills.</a:t>
            </a:r>
          </a:p>
        </p:txBody>
      </p:sp>
      <p:sp>
        <p:nvSpPr>
          <p:cNvPr id="23" name="">
            <a:extLst xmlns:a="http://schemas.openxmlformats.org/drawingml/2006/main">
              <a:ext uri="{FF2B5EF4-FFF2-40B4-BE49-F238E27FC236}">
                <a16:creationId xmlns:a16="http://schemas.microsoft.com/office/drawing/2014/main" id="{95160F47-4579-44EC-9208-934106A8B525}"/>
              </a:ext>
            </a:extLst>
          </p:cNvPr>
          <p:cNvSpPr>
            <a:spLocks xmlns:a="http://schemas.openxmlformats.org/drawingml/2006/main" noGrp="1"/>
          </p:cNvSpPr>
          <p:nvPr/>
        </p:nvSpPr>
        <p:spPr>
          <a:xfrm xmlns:a="http://schemas.openxmlformats.org/drawingml/2006/main">
            <a:off x="6115050" y="4191000"/>
            <a:ext cx="230505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385F676-8E3F-4D4A-B88A-5DA301862B04}"/>
              </a:ext>
            </a:extLst>
          </p:cNvPr>
          <p:cNvSpPr>
            <a:spLocks xmlns:a="http://schemas.openxmlformats.org/drawingml/2006/main" noGrp="1"/>
          </p:cNvSpPr>
          <p:nvPr/>
        </p:nvSpPr>
        <p:spPr>
          <a:xfrm xmlns:a="http://schemas.openxmlformats.org/drawingml/2006/main">
            <a:off x="6115050" y="43719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A705E"/>
                </a:solidFill>
                <a:latin typeface="Aptos"/>
                <a:ea typeface="Aptos"/>
                <a:cs typeface="Aptos"/>
              </a:defRPr>
            </a:defPPr>
          </a:lstStyle>
          <a:p xmlns:a="http://schemas.openxmlformats.org/drawingml/2006/main">
            <a:pPr algn="l">
              <a:defRPr sz="825" b="1" i="0">
                <a:solidFill>
                  <a:srgbClr val="EA705E"/>
                </a:solidFill>
                <a:latin typeface="Aptos"/>
                <a:ea typeface="Aptos"/>
                <a:cs typeface="Aptos"/>
              </a:defRPr>
            </a:pPr>
            <a:r>
              <a:rPr sz="825" b="1" i="0">
                <a:solidFill>
                  <a:srgbClr val="EA705E"/>
                </a:solidFill>
                <a:latin typeface="Aptos"/>
                <a:ea typeface="Aptos"/>
                <a:cs typeface="Aptos"/>
              </a:rPr>
              <a:t>ADVANCE WHEN</a:t>
            </a:r>
          </a:p>
        </p:txBody>
      </p:sp>
      <p:sp>
        <p:nvSpPr>
          <p:cNvPr id="25" name="">
            <a:extLst xmlns:a="http://schemas.openxmlformats.org/drawingml/2006/main">
              <a:ext uri="{FF2B5EF4-FFF2-40B4-BE49-F238E27FC236}">
                <a16:creationId xmlns:a16="http://schemas.microsoft.com/office/drawing/2014/main" id="{756C31EE-3EA7-43CE-80A5-39C4AE523028}"/>
              </a:ext>
            </a:extLst>
          </p:cNvPr>
          <p:cNvSpPr>
            <a:spLocks xmlns:a="http://schemas.openxmlformats.org/drawingml/2006/main" noGrp="1"/>
          </p:cNvSpPr>
          <p:nvPr/>
        </p:nvSpPr>
        <p:spPr>
          <a:xfrm xmlns:a="http://schemas.openxmlformats.org/drawingml/2006/main">
            <a:off x="6115050" y="4591050"/>
            <a:ext cx="2305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566B72"/>
                </a:solidFill>
                <a:latin typeface="Aptos"/>
                <a:ea typeface="Aptos"/>
                <a:cs typeface="Aptos"/>
              </a:defRPr>
            </a:defPPr>
          </a:lstStyle>
          <a:p xmlns:a="http://schemas.openxmlformats.org/drawingml/2006/main">
            <a:pPr algn="l">
              <a:defRPr sz="1125" b="1" i="0">
                <a:solidFill>
                  <a:srgbClr val="566B72"/>
                </a:solidFill>
                <a:latin typeface="Aptos"/>
                <a:ea typeface="Aptos"/>
                <a:cs typeface="Aptos"/>
              </a:defRPr>
            </a:pPr>
            <a:r>
              <a:rPr sz="1125" b="1" i="0">
                <a:solidFill>
                  <a:srgbClr val="566B72"/>
                </a:solidFill>
                <a:latin typeface="Aptos"/>
                <a:ea typeface="Aptos"/>
                <a:cs typeface="Aptos"/>
              </a:rPr>
              <a:t>Impact and hydraulic limits met</a:t>
            </a:r>
          </a:p>
        </p:txBody>
      </p:sp>
      <p:sp>
        <p:nvSpPr>
          <p:cNvPr id="26" name="">
            <a:extLst xmlns:a="http://schemas.openxmlformats.org/drawingml/2006/main">
              <a:ext uri="{FF2B5EF4-FFF2-40B4-BE49-F238E27FC236}">
                <a16:creationId xmlns:a16="http://schemas.microsoft.com/office/drawing/2014/main" id="{9827C3E3-DD25-45A8-B5BC-323C0DBE6A8A}"/>
              </a:ext>
            </a:extLst>
          </p:cNvPr>
          <p:cNvSpPr>
            <a:spLocks xmlns:a="http://schemas.openxmlformats.org/drawingml/2006/main" noGrp="1"/>
          </p:cNvSpPr>
          <p:nvPr/>
        </p:nvSpPr>
        <p:spPr>
          <a:xfrm xmlns:a="http://schemas.openxmlformats.org/drawingml/2006/main">
            <a:off x="8896350" y="2324100"/>
            <a:ext cx="266700" cy="266700"/>
          </a:xfrm>
          <a:prstGeom xmlns:a="http://schemas.openxmlformats.org/drawingml/2006/main" prst="ellipse">
            <a:avLst/>
          </a:prstGeom>
          <a:solidFill xmlns:a="http://schemas.openxmlformats.org/drawingml/2006/main">
            <a:srgbClr val="087E83"/>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6D915BB-E150-4786-9573-3529945315FA}"/>
              </a:ext>
            </a:extLst>
          </p:cNvPr>
          <p:cNvSpPr>
            <a:spLocks xmlns:a="http://schemas.openxmlformats.org/drawingml/2006/main" noGrp="1"/>
          </p:cNvSpPr>
          <p:nvPr/>
        </p:nvSpPr>
        <p:spPr>
          <a:xfrm xmlns:a="http://schemas.openxmlformats.org/drawingml/2006/main">
            <a:off x="8934450" y="2352675"/>
            <a:ext cx="19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FFFFFF"/>
                </a:solidFill>
                <a:latin typeface="Aptos"/>
                <a:ea typeface="Aptos"/>
                <a:cs typeface="Aptos"/>
              </a:defRPr>
            </a:defPPr>
          </a:lstStyle>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3</a:t>
            </a:r>
          </a:p>
        </p:txBody>
      </p:sp>
      <p:sp>
        <p:nvSpPr>
          <p:cNvPr id="28" name="">
            <a:extLst xmlns:a="http://schemas.openxmlformats.org/drawingml/2006/main">
              <a:ext uri="{FF2B5EF4-FFF2-40B4-BE49-F238E27FC236}">
                <a16:creationId xmlns:a16="http://schemas.microsoft.com/office/drawing/2014/main" id="{D76AF87E-7F6D-4924-99D3-A2C603802015}"/>
              </a:ext>
            </a:extLst>
          </p:cNvPr>
          <p:cNvSpPr>
            <a:spLocks xmlns:a="http://schemas.openxmlformats.org/drawingml/2006/main" noGrp="1"/>
          </p:cNvSpPr>
          <p:nvPr/>
        </p:nvSpPr>
        <p:spPr>
          <a:xfrm xmlns:a="http://schemas.openxmlformats.org/drawingml/2006/main">
            <a:off x="8858250" y="2762250"/>
            <a:ext cx="23622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7E83"/>
                </a:solidFill>
                <a:latin typeface="Aptos"/>
                <a:ea typeface="Aptos"/>
                <a:cs typeface="Aptos"/>
              </a:defRPr>
            </a:defPPr>
          </a:lstStyle>
          <a:p xmlns:a="http://schemas.openxmlformats.org/drawingml/2006/main">
            <a:pPr algn="l">
              <a:defRPr sz="1050" b="1" i="0">
                <a:solidFill>
                  <a:srgbClr val="087E83"/>
                </a:solidFill>
                <a:latin typeface="Aptos"/>
                <a:ea typeface="Aptos"/>
                <a:cs typeface="Aptos"/>
              </a:defRPr>
            </a:pPr>
            <a:r>
              <a:rPr sz="1050" b="1" i="0">
                <a:solidFill>
                  <a:srgbClr val="087E83"/>
                </a:solidFill>
                <a:latin typeface="Aptos"/>
                <a:ea typeface="Aptos"/>
                <a:cs typeface="Aptos"/>
              </a:rPr>
              <a:t>CONTROLLED DEMO</a:t>
            </a:r>
          </a:p>
        </p:txBody>
      </p:sp>
      <p:sp>
        <p:nvSpPr>
          <p:cNvPr id="29" name="">
            <a:extLst xmlns:a="http://schemas.openxmlformats.org/drawingml/2006/main">
              <a:ext uri="{FF2B5EF4-FFF2-40B4-BE49-F238E27FC236}">
                <a16:creationId xmlns:a16="http://schemas.microsoft.com/office/drawing/2014/main" id="{72D08C72-E864-41E6-9886-01E1A25FDAF0}"/>
              </a:ext>
            </a:extLst>
          </p:cNvPr>
          <p:cNvSpPr>
            <a:spLocks xmlns:a="http://schemas.openxmlformats.org/drawingml/2006/main" noGrp="1"/>
          </p:cNvSpPr>
          <p:nvPr/>
        </p:nvSpPr>
        <p:spPr>
          <a:xfrm xmlns:a="http://schemas.openxmlformats.org/drawingml/2006/main">
            <a:off x="8858250" y="3143250"/>
            <a:ext cx="2305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102B39"/>
                </a:solidFill>
                <a:latin typeface="Aptos"/>
                <a:ea typeface="Aptos"/>
                <a:cs typeface="Aptos"/>
              </a:defRPr>
            </a:defPPr>
          </a:lstStyle>
          <a:p xmlns:a="http://schemas.openxmlformats.org/drawingml/2006/main">
            <a:pPr algn="l">
              <a:defRPr sz="1200" b="0" i="0">
                <a:solidFill>
                  <a:srgbClr val="102B39"/>
                </a:solidFill>
                <a:latin typeface="Aptos"/>
                <a:ea typeface="Aptos"/>
                <a:cs typeface="Aptos"/>
              </a:defRPr>
            </a:pPr>
            <a:r>
              <a:rPr sz="1200" b="0" i="0">
                <a:solidFill>
                  <a:srgbClr val="102B39"/>
                </a:solidFill>
                <a:latin typeface="Aptos"/>
                <a:ea typeface="Aptos"/>
                <a:cs typeface="Aptos"/>
              </a:rPr>
              <a:t>Operator-led demonstration under approved boundaries; no modification to plant or nuclear-safety systems.</a:t>
            </a:r>
          </a:p>
        </p:txBody>
      </p:sp>
      <p:sp>
        <p:nvSpPr>
          <p:cNvPr id="30" name="">
            <a:extLst xmlns:a="http://schemas.openxmlformats.org/drawingml/2006/main">
              <a:ext uri="{FF2B5EF4-FFF2-40B4-BE49-F238E27FC236}">
                <a16:creationId xmlns:a16="http://schemas.microsoft.com/office/drawing/2014/main" id="{347D1205-01D0-4DAB-A272-D7B0BB96399B}"/>
              </a:ext>
            </a:extLst>
          </p:cNvPr>
          <p:cNvSpPr>
            <a:spLocks xmlns:a="http://schemas.openxmlformats.org/drawingml/2006/main" noGrp="1"/>
          </p:cNvSpPr>
          <p:nvPr/>
        </p:nvSpPr>
        <p:spPr>
          <a:xfrm xmlns:a="http://schemas.openxmlformats.org/drawingml/2006/main">
            <a:off x="8858250" y="4191000"/>
            <a:ext cx="230505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B0C2B1DF-89BC-467F-AB46-EAB69C9238DD}"/>
              </a:ext>
            </a:extLst>
          </p:cNvPr>
          <p:cNvSpPr>
            <a:spLocks xmlns:a="http://schemas.openxmlformats.org/drawingml/2006/main" noGrp="1"/>
          </p:cNvSpPr>
          <p:nvPr/>
        </p:nvSpPr>
        <p:spPr>
          <a:xfrm xmlns:a="http://schemas.openxmlformats.org/drawingml/2006/main">
            <a:off x="8858250" y="4371975"/>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EA705E"/>
                </a:solidFill>
                <a:latin typeface="Aptos"/>
                <a:ea typeface="Aptos"/>
                <a:cs typeface="Aptos"/>
              </a:defRPr>
            </a:defPPr>
          </a:lstStyle>
          <a:p xmlns:a="http://schemas.openxmlformats.org/drawingml/2006/main">
            <a:pPr algn="l">
              <a:defRPr sz="825" b="1" i="0">
                <a:solidFill>
                  <a:srgbClr val="EA705E"/>
                </a:solidFill>
                <a:latin typeface="Aptos"/>
                <a:ea typeface="Aptos"/>
                <a:cs typeface="Aptos"/>
              </a:defRPr>
            </a:pPr>
            <a:r>
              <a:rPr sz="825" b="1" i="0">
                <a:solidFill>
                  <a:srgbClr val="EA705E"/>
                </a:solidFill>
                <a:latin typeface="Aptos"/>
                <a:ea typeface="Aptos"/>
                <a:cs typeface="Aptos"/>
              </a:rPr>
              <a:t>ADVANCE WHEN</a:t>
            </a:r>
          </a:p>
        </p:txBody>
      </p:sp>
      <p:sp>
        <p:nvSpPr>
          <p:cNvPr id="32" name="">
            <a:extLst xmlns:a="http://schemas.openxmlformats.org/drawingml/2006/main">
              <a:ext uri="{FF2B5EF4-FFF2-40B4-BE49-F238E27FC236}">
                <a16:creationId xmlns:a16="http://schemas.microsoft.com/office/drawing/2014/main" id="{9ED15009-EFE2-4871-954F-F8864BE8B3C2}"/>
              </a:ext>
            </a:extLst>
          </p:cNvPr>
          <p:cNvSpPr>
            <a:spLocks xmlns:a="http://schemas.openxmlformats.org/drawingml/2006/main" noGrp="1"/>
          </p:cNvSpPr>
          <p:nvPr/>
        </p:nvSpPr>
        <p:spPr>
          <a:xfrm xmlns:a="http://schemas.openxmlformats.org/drawingml/2006/main">
            <a:off x="8858250" y="4591050"/>
            <a:ext cx="2305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566B72"/>
                </a:solidFill>
                <a:latin typeface="Aptos"/>
                <a:ea typeface="Aptos"/>
                <a:cs typeface="Aptos"/>
              </a:defRPr>
            </a:defPPr>
          </a:lstStyle>
          <a:p xmlns:a="http://schemas.openxmlformats.org/drawingml/2006/main">
            <a:pPr algn="l">
              <a:defRPr sz="1125" b="1" i="0">
                <a:solidFill>
                  <a:srgbClr val="566B72"/>
                </a:solidFill>
                <a:latin typeface="Aptos"/>
                <a:ea typeface="Aptos"/>
                <a:cs typeface="Aptos"/>
              </a:defRPr>
            </a:pPr>
            <a:r>
              <a:rPr sz="1125" b="1" i="0">
                <a:solidFill>
                  <a:srgbClr val="566B72"/>
                </a:solidFill>
                <a:latin typeface="Aptos"/>
                <a:ea typeface="Aptos"/>
                <a:cs typeface="Aptos"/>
              </a:rPr>
              <a:t>ENEC authorizes next step</a:t>
            </a:r>
          </a:p>
        </p:txBody>
      </p:sp>
      <p:sp>
        <p:nvSpPr>
          <p:cNvPr id="33" name="">
            <a:extLst xmlns:a="http://schemas.openxmlformats.org/drawingml/2006/main">
              <a:ext uri="{FF2B5EF4-FFF2-40B4-BE49-F238E27FC236}">
                <a16:creationId xmlns:a16="http://schemas.microsoft.com/office/drawing/2014/main" id="{546447AD-697C-49CD-807A-1D6D17E03675}"/>
              </a:ext>
            </a:extLst>
          </p:cNvPr>
          <p:cNvSpPr>
            <a:spLocks xmlns:a="http://schemas.openxmlformats.org/drawingml/2006/main" noGrp="1"/>
          </p:cNvSpPr>
          <p:nvPr/>
        </p:nvSpPr>
        <p:spPr>
          <a:xfrm xmlns:a="http://schemas.openxmlformats.org/drawingml/2006/main">
            <a:off x="638175" y="5391150"/>
            <a:ext cx="1083945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2948F16-371E-4D4B-BCC9-C3017FF42C13}"/>
              </a:ext>
            </a:extLst>
          </p:cNvPr>
          <p:cNvSpPr>
            <a:spLocks xmlns:a="http://schemas.openxmlformats.org/drawingml/2006/main" noGrp="1"/>
          </p:cNvSpPr>
          <p:nvPr/>
        </p:nvSpPr>
        <p:spPr>
          <a:xfrm xmlns:a="http://schemas.openxmlformats.org/drawingml/2006/main">
            <a:off x="647700" y="5562600"/>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082332"/>
                </a:solidFill>
                <a:latin typeface="Aptos"/>
                <a:ea typeface="Aptos"/>
                <a:cs typeface="Aptos"/>
              </a:defRPr>
            </a:defPPr>
          </a:lstStyle>
          <a:p xmlns:a="http://schemas.openxmlformats.org/drawingml/2006/main">
            <a:pPr algn="l">
              <a:defRPr sz="1050" b="1" i="0">
                <a:solidFill>
                  <a:srgbClr val="082332"/>
                </a:solidFill>
                <a:latin typeface="Aptos"/>
                <a:ea typeface="Aptos"/>
                <a:cs typeface="Aptos"/>
              </a:defRPr>
            </a:pPr>
            <a:r>
              <a:rPr sz="1050" b="1" i="0">
                <a:solidFill>
                  <a:srgbClr val="082332"/>
                </a:solidFill>
                <a:latin typeface="Aptos"/>
                <a:ea typeface="Aptos"/>
                <a:cs typeface="Aptos"/>
              </a:rPr>
              <a:t>Core measures</a:t>
            </a:r>
          </a:p>
        </p:txBody>
      </p:sp>
      <p:sp>
        <p:nvSpPr>
          <p:cNvPr id="35" name="">
            <a:extLst xmlns:a="http://schemas.openxmlformats.org/drawingml/2006/main">
              <a:ext uri="{FF2B5EF4-FFF2-40B4-BE49-F238E27FC236}">
                <a16:creationId xmlns:a16="http://schemas.microsoft.com/office/drawing/2014/main" id="{D16C78D3-C610-4622-8DB1-861AFF54BE71}"/>
              </a:ext>
            </a:extLst>
          </p:cNvPr>
          <p:cNvSpPr>
            <a:spLocks xmlns:a="http://schemas.openxmlformats.org/drawingml/2006/main" noGrp="1"/>
          </p:cNvSpPr>
          <p:nvPr/>
        </p:nvSpPr>
        <p:spPr>
          <a:xfrm xmlns:a="http://schemas.openxmlformats.org/drawingml/2006/main">
            <a:off x="2028825" y="5553075"/>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102B39"/>
                </a:solidFill>
                <a:latin typeface="Aptos"/>
                <a:ea typeface="Aptos"/>
                <a:cs typeface="Aptos"/>
              </a:defRPr>
            </a:defPPr>
          </a:lstStyle>
          <a:p xmlns:a="http://schemas.openxmlformats.org/drawingml/2006/main">
            <a:pPr algn="l">
              <a:defRPr sz="1125" b="0" i="0">
                <a:solidFill>
                  <a:srgbClr val="102B39"/>
                </a:solidFill>
                <a:latin typeface="Aptos"/>
                <a:ea typeface="Aptos"/>
                <a:cs typeface="Aptos"/>
              </a:defRPr>
            </a:pPr>
            <a:r>
              <a:rPr sz="1125" b="0" i="0">
                <a:solidFill>
                  <a:srgbClr val="102B39"/>
                </a:solidFill>
                <a:latin typeface="Aptos"/>
                <a:ea typeface="Aptos"/>
                <a:cs typeface="Aptos"/>
              </a:rPr>
              <a:t>Escape %  ·  bycatch / injury  ·  pressure &amp; flow change  ·  kWh per tonne  ·  staff-hours  ·  recovery time  ·  mass-balance closure</a:t>
            </a:r>
          </a:p>
        </p:txBody>
      </p:sp>
      <p:sp>
        <p:nvSpPr>
          <p:cNvPr id="36" name="">
            <a:extLst xmlns:a="http://schemas.openxmlformats.org/drawingml/2006/main">
              <a:ext uri="{FF2B5EF4-FFF2-40B4-BE49-F238E27FC236}">
                <a16:creationId xmlns:a16="http://schemas.microsoft.com/office/drawing/2014/main" id="{BC1E6388-12D7-4E06-8E76-429C572DC1AA}"/>
              </a:ext>
            </a:extLst>
          </p:cNvPr>
          <p:cNvSpPr>
            <a:spLocks xmlns:a="http://schemas.openxmlformats.org/drawingml/2006/main" noGrp="1"/>
          </p:cNvSpPr>
          <p:nvPr/>
        </p:nvSpPr>
        <p:spPr>
          <a:xfrm xmlns:a="http://schemas.openxmlformats.org/drawingml/2006/main">
            <a:off x="552450" y="6457950"/>
            <a:ext cx="11087100" cy="9525"/>
          </a:xfrm>
          <a:prstGeom xmlns:a="http://schemas.openxmlformats.org/drawingml/2006/main" prst="rect">
            <a:avLst/>
          </a:prstGeom>
          <a:solidFill xmlns:a="http://schemas.openxmlformats.org/drawingml/2006/main">
            <a:srgbClr val="CED9D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C2C4F43-30AB-43B4-BD0D-506E13E482A5}"/>
              </a:ext>
            </a:extLst>
          </p:cNvPr>
          <p:cNvSpPr>
            <a:spLocks xmlns:a="http://schemas.openxmlformats.org/drawingml/2006/main" noGrp="1"/>
          </p:cNvSpPr>
          <p:nvPr/>
        </p:nvSpPr>
        <p:spPr>
          <a:xfrm xmlns:a="http://schemas.openxmlformats.org/drawingml/2006/main">
            <a:off x="552450" y="655320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66B72"/>
                </a:solidFill>
                <a:latin typeface="Aptos"/>
                <a:ea typeface="Aptos"/>
                <a:cs typeface="Aptos"/>
              </a:defRPr>
            </a:defPPr>
          </a:lstStyle>
          <a:p xmlns:a="http://schemas.openxmlformats.org/drawingml/2006/main">
            <a:pPr algn="l">
              <a:defRPr sz="900" b="1" i="0">
                <a:solidFill>
                  <a:srgbClr val="566B72"/>
                </a:solidFill>
                <a:latin typeface="Aptos"/>
                <a:ea typeface="Aptos"/>
                <a:cs typeface="Aptos"/>
              </a:defRPr>
            </a:pPr>
            <a:r>
              <a:rPr sz="900" b="1" i="0">
                <a:solidFill>
                  <a:srgbClr val="566B72"/>
                </a:solidFill>
                <a:latin typeface="Aptos"/>
                <a:ea typeface="Aptos"/>
                <a:cs typeface="Aptos"/>
              </a:rPr>
              <a:t>MARLIN   /   ATP 2026 • ENEC CHALLENGE</a:t>
            </a:r>
          </a:p>
        </p:txBody>
      </p:sp>
      <p:sp>
        <p:nvSpPr>
          <p:cNvPr id="38" name="">
            <a:extLst xmlns:a="http://schemas.openxmlformats.org/drawingml/2006/main">
              <a:ext uri="{FF2B5EF4-FFF2-40B4-BE49-F238E27FC236}">
                <a16:creationId xmlns:a16="http://schemas.microsoft.com/office/drawing/2014/main" id="{B93DADB8-5600-457D-BD51-A61946BC6200}"/>
              </a:ext>
            </a:extLst>
          </p:cNvPr>
          <p:cNvSpPr>
            <a:spLocks xmlns:a="http://schemas.openxmlformats.org/drawingml/2006/main" noGrp="1"/>
          </p:cNvSpPr>
          <p:nvPr/>
        </p:nvSpPr>
        <p:spPr>
          <a:xfrm xmlns:a="http://schemas.openxmlformats.org/drawingml/2006/main">
            <a:off x="11239500" y="65341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566B72"/>
                </a:solidFill>
                <a:latin typeface="Aptos"/>
                <a:ea typeface="Aptos"/>
                <a:cs typeface="Aptos"/>
              </a:defRPr>
            </a:defPPr>
          </a:lstStyle>
          <a:p xmlns:a="http://schemas.openxmlformats.org/drawingml/2006/main">
            <a:pPr algn="r">
              <a:defRPr sz="975" b="1" i="0">
                <a:solidFill>
                  <a:srgbClr val="566B72"/>
                </a:solidFill>
                <a:latin typeface="Aptos"/>
                <a:ea typeface="Aptos"/>
                <a:cs typeface="Aptos"/>
              </a:defRPr>
            </a:pPr>
            <a:r>
              <a:rPr sz="975" b="1" i="0">
                <a:solidFill>
                  <a:srgbClr val="566B72"/>
                </a:solidFill>
                <a:latin typeface="Aptos"/>
                <a:ea typeface="Aptos"/>
                <a:cs typeface="Aptos"/>
              </a:rPr>
              <a:t>09</a:t>
            </a:r>
          </a:p>
        </p:txBody>
      </p:sp>
    </p:spTree>
    <p:extLst>
      <p:ext uri="{BB962C8B-B14F-4D97-AF65-F5344CB8AC3E}">
        <p14:creationId xmlns:p14="http://schemas.microsoft.com/office/powerpoint/2010/main" val="1397170043"/>
      </p:ext>
    </p:extLst>
  </p:cSld>
</p:sld>
</file>

<file path=ppt/slides/slide10.xml><?xml version="1.0" encoding="utf-8"?>
<p:sld xmlns:p="http://schemas.openxmlformats.org/presentationml/2006/main">
  <p:cSld>
    <p:bg>
      <p:bgPr>
        <a:solidFill xmlns:a="http://schemas.openxmlformats.org/drawingml/2006/main">
          <a:srgbClr val="08233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4A17168-E6BD-410F-9A0C-B28A15F612C4}"/>
              </a:ext>
            </a:extLst>
          </p:cNvPr>
          <p:cNvSpPr>
            <a:spLocks xmlns:a="http://schemas.openxmlformats.org/drawingml/2006/main" noGrp="1"/>
          </p:cNvSpPr>
          <p:nvPr/>
        </p:nvSpPr>
        <p:spPr>
          <a:xfrm xmlns:a="http://schemas.openxmlformats.org/drawingml/2006/main">
            <a:off x="552450" y="3619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8C7BE"/>
                </a:solidFill>
                <a:latin typeface="Aptos"/>
                <a:ea typeface="Aptos"/>
                <a:cs typeface="Aptos"/>
              </a:defRPr>
            </a:defPPr>
          </a:lstStyle>
          <a:p xmlns:a="http://schemas.openxmlformats.org/drawingml/2006/main">
            <a:pPr algn="l">
              <a:defRPr sz="1050" b="1" i="0">
                <a:solidFill>
                  <a:srgbClr val="58C7BE"/>
                </a:solidFill>
                <a:latin typeface="Aptos"/>
                <a:ea typeface="Aptos"/>
                <a:cs typeface="Aptos"/>
              </a:defRPr>
            </a:pPr>
            <a:r>
              <a:rPr sz="1050" b="1" i="0">
                <a:solidFill>
                  <a:srgbClr val="58C7BE"/>
                </a:solidFill>
                <a:latin typeface="Aptos"/>
                <a:ea typeface="Aptos"/>
                <a:cs typeface="Aptos"/>
              </a:rPr>
              <a:t>09   /   ASSUMPTIONS &amp; NEXT DECISIONS</a:t>
            </a:r>
          </a:p>
        </p:txBody>
      </p:sp>
      <p:sp>
        <p:nvSpPr>
          <p:cNvPr id="2" name="">
            <a:extLst xmlns:a="http://schemas.openxmlformats.org/drawingml/2006/main">
              <a:ext uri="{FF2B5EF4-FFF2-40B4-BE49-F238E27FC236}">
                <a16:creationId xmlns:a16="http://schemas.microsoft.com/office/drawing/2014/main" id="{BB15F739-013B-4270-A156-8417D4FFD3CE}"/>
              </a:ext>
            </a:extLst>
          </p:cNvPr>
          <p:cNvSpPr>
            <a:spLocks xmlns:a="http://schemas.openxmlformats.org/drawingml/2006/main" noGrp="1"/>
          </p:cNvSpPr>
          <p:nvPr/>
        </p:nvSpPr>
        <p:spPr>
          <a:xfrm xmlns:a="http://schemas.openxmlformats.org/drawingml/2006/main">
            <a:off x="552450" y="7239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FFFFFF"/>
                </a:solidFill>
                <a:latin typeface="Georgia"/>
                <a:ea typeface="Georgia"/>
                <a:cs typeface="Georgia"/>
              </a:defRPr>
            </a:defPPr>
          </a:lstStyle>
          <a:p xmlns:a="http://schemas.openxmlformats.org/drawingml/2006/main">
            <a:pPr algn="l">
              <a:defRPr sz="2850" b="1" i="0">
                <a:solidFill>
                  <a:srgbClr val="FFFFFF"/>
                </a:solidFill>
                <a:latin typeface="Georgia"/>
                <a:ea typeface="Georgia"/>
                <a:cs typeface="Georgia"/>
              </a:defRPr>
            </a:pPr>
            <a:r>
              <a:rPr sz="2850" b="1" i="0">
                <a:solidFill>
                  <a:srgbClr val="FFFFFF"/>
                </a:solidFill>
                <a:latin typeface="Georgia"/>
                <a:ea typeface="Georgia"/>
                <a:cs typeface="Georgia"/>
              </a:rPr>
              <a:t>A promising screen—not a promise</a:t>
            </a:r>
          </a:p>
        </p:txBody>
      </p:sp>
      <p:sp>
        <p:nvSpPr>
          <p:cNvPr id="3" name="">
            <a:extLst xmlns:a="http://schemas.openxmlformats.org/drawingml/2006/main">
              <a:ext uri="{FF2B5EF4-FFF2-40B4-BE49-F238E27FC236}">
                <a16:creationId xmlns:a16="http://schemas.microsoft.com/office/drawing/2014/main" id="{B6B04BEC-1E4A-401B-8AF9-E072F02D7FEC}"/>
              </a:ext>
            </a:extLst>
          </p:cNvPr>
          <p:cNvSpPr>
            <a:spLocks xmlns:a="http://schemas.openxmlformats.org/drawingml/2006/main" noGrp="1"/>
          </p:cNvSpPr>
          <p:nvPr/>
        </p:nvSpPr>
        <p:spPr>
          <a:xfrm xmlns:a="http://schemas.openxmlformats.org/drawingml/2006/main">
            <a:off x="571500" y="13144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FFFFFF">
                    <a:alpha val="82000"/>
                  </a:srgbClr>
                </a:solidFill>
                <a:latin typeface="Aptos"/>
                <a:ea typeface="Aptos"/>
                <a:cs typeface="Aptos"/>
              </a:defRPr>
            </a:defPPr>
          </a:lstStyle>
          <a:p xmlns:a="http://schemas.openxmlformats.org/drawingml/2006/main">
            <a:pPr algn="l">
              <a:defRPr sz="1425" b="0" i="0">
                <a:solidFill>
                  <a:srgbClr val="FFFFFF">
                    <a:alpha val="82000"/>
                  </a:srgbClr>
                </a:solidFill>
                <a:latin typeface="Aptos"/>
                <a:ea typeface="Aptos"/>
                <a:cs typeface="Aptos"/>
              </a:defRPr>
            </a:pPr>
            <a:r>
              <a:rPr sz="1425" b="0" i="0">
                <a:solidFill>
                  <a:srgbClr val="FFFFFF">
                    <a:alpha val="82000"/>
                  </a:srgbClr>
                </a:solidFill>
                <a:latin typeface="Aptos"/>
                <a:ea typeface="Aptos"/>
                <a:cs typeface="Aptos"/>
              </a:rPr>
              <a:t>The model helps decide what to test next. It cannot yet certify a safe, 95% field outcome.</a:t>
            </a:r>
          </a:p>
        </p:txBody>
      </p:sp>
      <p:sp>
        <p:nvSpPr>
          <p:cNvPr id="4" name="">
            <a:extLst xmlns:a="http://schemas.openxmlformats.org/drawingml/2006/main">
              <a:ext uri="{FF2B5EF4-FFF2-40B4-BE49-F238E27FC236}">
                <a16:creationId xmlns:a16="http://schemas.microsoft.com/office/drawing/2014/main" id="{7634E279-337E-4818-9653-2CF45B9C381B}"/>
              </a:ext>
            </a:extLst>
          </p:cNvPr>
          <p:cNvSpPr>
            <a:spLocks xmlns:a="http://schemas.openxmlformats.org/drawingml/2006/main" noGrp="1"/>
          </p:cNvSpPr>
          <p:nvPr/>
        </p:nvSpPr>
        <p:spPr>
          <a:xfrm xmlns:a="http://schemas.openxmlformats.org/drawingml/2006/main">
            <a:off x="590550" y="2000250"/>
            <a:ext cx="2476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58C7BE"/>
                </a:solidFill>
                <a:latin typeface="Aptos"/>
                <a:ea typeface="Aptos"/>
                <a:cs typeface="Aptos"/>
              </a:defRPr>
            </a:defPPr>
          </a:lstStyle>
          <a:p xmlns:a="http://schemas.openxmlformats.org/drawingml/2006/main">
            <a:pPr algn="l">
              <a:defRPr sz="975" b="1" i="0">
                <a:solidFill>
                  <a:srgbClr val="58C7BE"/>
                </a:solidFill>
                <a:latin typeface="Aptos"/>
                <a:ea typeface="Aptos"/>
                <a:cs typeface="Aptos"/>
              </a:defRPr>
            </a:pPr>
            <a:r>
              <a:rPr sz="975" b="1" i="0">
                <a:solidFill>
                  <a:srgbClr val="58C7BE"/>
                </a:solidFill>
                <a:latin typeface="Aptos"/>
                <a:ea typeface="Aptos"/>
                <a:cs typeface="Aptos"/>
              </a:rPr>
              <a:t>KEY ASSUMPTIONS</a:t>
            </a:r>
          </a:p>
        </p:txBody>
      </p:sp>
      <p:sp>
        <p:nvSpPr>
          <p:cNvPr id="5" name="">
            <a:extLst xmlns:a="http://schemas.openxmlformats.org/drawingml/2006/main">
              <a:ext uri="{FF2B5EF4-FFF2-40B4-BE49-F238E27FC236}">
                <a16:creationId xmlns:a16="http://schemas.microsoft.com/office/drawing/2014/main" id="{59859AE6-87BD-421F-97E4-A6FCFDF166D5}"/>
              </a:ext>
            </a:extLst>
          </p:cNvPr>
          <p:cNvSpPr>
            <a:spLocks xmlns:a="http://schemas.openxmlformats.org/drawingml/2006/main" noGrp="1"/>
          </p:cNvSpPr>
          <p:nvPr/>
        </p:nvSpPr>
        <p:spPr>
          <a:xfrm xmlns:a="http://schemas.openxmlformats.org/drawingml/2006/main">
            <a:off x="657225" y="2381250"/>
            <a:ext cx="76200" cy="76200"/>
          </a:xfrm>
          <a:prstGeom xmlns:a="http://schemas.openxmlformats.org/drawingml/2006/main" prst="ellipse">
            <a:avLst/>
          </a:prstGeom>
          <a:solidFill xmlns:a="http://schemas.openxmlformats.org/drawingml/2006/main">
            <a:srgbClr val="EA705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8B768A9-3125-4FFA-A13D-86F1B98D1B6D}"/>
              </a:ext>
            </a:extLst>
          </p:cNvPr>
          <p:cNvSpPr>
            <a:spLocks xmlns:a="http://schemas.openxmlformats.org/drawingml/2006/main" noGrp="1"/>
          </p:cNvSpPr>
          <p:nvPr/>
        </p:nvSpPr>
        <p:spPr>
          <a:xfrm xmlns:a="http://schemas.openxmlformats.org/drawingml/2006/main">
            <a:off x="866775" y="2324100"/>
            <a:ext cx="5000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FFFFF">
                    <a:alpha val="90000"/>
                  </a:srgbClr>
                </a:solidFill>
                <a:latin typeface="Aptos"/>
                <a:ea typeface="Aptos"/>
                <a:cs typeface="Aptos"/>
              </a:defRPr>
            </a:defPPr>
          </a:lstStyle>
          <a:p xmlns:a="http://schemas.openxmlformats.org/drawingml/2006/main">
            <a:pPr algn="l">
              <a:defRPr sz="1200" b="0" i="0">
                <a:solidFill>
                  <a:srgbClr val="FFFFFF">
                    <a:alpha val="90000"/>
                  </a:srgbClr>
                </a:solidFill>
                <a:latin typeface="Aptos"/>
                <a:ea typeface="Aptos"/>
                <a:cs typeface="Aptos"/>
              </a:defRPr>
            </a:pPr>
            <a:r>
              <a:rPr sz="1200" b="0" i="0">
                <a:solidFill>
                  <a:srgbClr val="FFFFFF">
                    <a:alpha val="90000"/>
                  </a:srgbClr>
                </a:solidFill>
                <a:latin typeface="Aptos"/>
                <a:ea typeface="Aptos"/>
                <a:cs typeface="Aptos"/>
              </a:rPr>
              <a:t>Synthetic bloom arrivals at 1,200 kg/h for four hours; not a public local abundance record.</a:t>
            </a:r>
          </a:p>
        </p:txBody>
      </p:sp>
      <p:sp>
        <p:nvSpPr>
          <p:cNvPr id="7" name="">
            <a:extLst xmlns:a="http://schemas.openxmlformats.org/drawingml/2006/main">
              <a:ext uri="{FF2B5EF4-FFF2-40B4-BE49-F238E27FC236}">
                <a16:creationId xmlns:a16="http://schemas.microsoft.com/office/drawing/2014/main" id="{8C07642E-5B3C-44EF-BAFE-F9D261116799}"/>
              </a:ext>
            </a:extLst>
          </p:cNvPr>
          <p:cNvSpPr>
            <a:spLocks xmlns:a="http://schemas.openxmlformats.org/drawingml/2006/main" noGrp="1"/>
          </p:cNvSpPr>
          <p:nvPr/>
        </p:nvSpPr>
        <p:spPr>
          <a:xfrm xmlns:a="http://schemas.openxmlformats.org/drawingml/2006/main">
            <a:off x="657225" y="2962275"/>
            <a:ext cx="76200" cy="76200"/>
          </a:xfrm>
          <a:prstGeom xmlns:a="http://schemas.openxmlformats.org/drawingml/2006/main" prst="ellipse">
            <a:avLst/>
          </a:prstGeom>
          <a:solidFill xmlns:a="http://schemas.openxmlformats.org/drawingml/2006/main">
            <a:srgbClr val="EA705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B20E2B-A8E3-4DF7-A3DD-BD64047B3B03}"/>
              </a:ext>
            </a:extLst>
          </p:cNvPr>
          <p:cNvSpPr>
            <a:spLocks xmlns:a="http://schemas.openxmlformats.org/drawingml/2006/main" noGrp="1"/>
          </p:cNvSpPr>
          <p:nvPr/>
        </p:nvSpPr>
        <p:spPr>
          <a:xfrm xmlns:a="http://schemas.openxmlformats.org/drawingml/2006/main">
            <a:off x="866775" y="2905125"/>
            <a:ext cx="5000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FFFFF">
                    <a:alpha val="90000"/>
                  </a:srgbClr>
                </a:solidFill>
                <a:latin typeface="Aptos"/>
                <a:ea typeface="Aptos"/>
                <a:cs typeface="Aptos"/>
              </a:defRPr>
            </a:defPPr>
          </a:lstStyle>
          <a:p xmlns:a="http://schemas.openxmlformats.org/drawingml/2006/main">
            <a:pPr algn="l">
              <a:defRPr sz="1200" b="0" i="0">
                <a:solidFill>
                  <a:srgbClr val="FFFFFF">
                    <a:alpha val="90000"/>
                  </a:srgbClr>
                </a:solidFill>
                <a:latin typeface="Aptos"/>
                <a:ea typeface="Aptos"/>
                <a:cs typeface="Aptos"/>
              </a:defRPr>
            </a:pPr>
            <a:r>
              <a:rPr sz="1200" b="0" i="0">
                <a:solidFill>
                  <a:srgbClr val="FFFFFF">
                    <a:alpha val="90000"/>
                  </a:srgbClr>
                </a:solidFill>
                <a:latin typeface="Aptos"/>
                <a:ea typeface="Aptos"/>
                <a:cs typeface="Aptos"/>
              </a:rPr>
              <a:t>12 m flat water depth, 200 m corridor, and guide contact probabilities of 0.90 / 0.80 are uncalibrated.</a:t>
            </a:r>
          </a:p>
        </p:txBody>
      </p:sp>
      <p:sp>
        <p:nvSpPr>
          <p:cNvPr id="9" name="">
            <a:extLst xmlns:a="http://schemas.openxmlformats.org/drawingml/2006/main">
              <a:ext uri="{FF2B5EF4-FFF2-40B4-BE49-F238E27FC236}">
                <a16:creationId xmlns:a16="http://schemas.microsoft.com/office/drawing/2014/main" id="{DFDAD049-7C93-4CE5-A2E6-CFFACB8D45E3}"/>
              </a:ext>
            </a:extLst>
          </p:cNvPr>
          <p:cNvSpPr>
            <a:spLocks xmlns:a="http://schemas.openxmlformats.org/drawingml/2006/main" noGrp="1"/>
          </p:cNvSpPr>
          <p:nvPr/>
        </p:nvSpPr>
        <p:spPr>
          <a:xfrm xmlns:a="http://schemas.openxmlformats.org/drawingml/2006/main">
            <a:off x="657225" y="3543300"/>
            <a:ext cx="76200" cy="76200"/>
          </a:xfrm>
          <a:prstGeom xmlns:a="http://schemas.openxmlformats.org/drawingml/2006/main" prst="ellipse">
            <a:avLst/>
          </a:prstGeom>
          <a:solidFill xmlns:a="http://schemas.openxmlformats.org/drawingml/2006/main">
            <a:srgbClr val="EA705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9C0CC0B-377E-4C22-9915-3BF31FC3D250}"/>
              </a:ext>
            </a:extLst>
          </p:cNvPr>
          <p:cNvSpPr>
            <a:spLocks xmlns:a="http://schemas.openxmlformats.org/drawingml/2006/main" noGrp="1"/>
          </p:cNvSpPr>
          <p:nvPr/>
        </p:nvSpPr>
        <p:spPr>
          <a:xfrm xmlns:a="http://schemas.openxmlformats.org/drawingml/2006/main">
            <a:off x="866775" y="3486150"/>
            <a:ext cx="5000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FFFFF">
                    <a:alpha val="90000"/>
                  </a:srgbClr>
                </a:solidFill>
                <a:latin typeface="Aptos"/>
                <a:ea typeface="Aptos"/>
                <a:cs typeface="Aptos"/>
              </a:defRPr>
            </a:defPPr>
          </a:lstStyle>
          <a:p xmlns:a="http://schemas.openxmlformats.org/drawingml/2006/main">
            <a:pPr algn="l">
              <a:defRPr sz="1200" b="0" i="0">
                <a:solidFill>
                  <a:srgbClr val="FFFFFF">
                    <a:alpha val="90000"/>
                  </a:srgbClr>
                </a:solidFill>
                <a:latin typeface="Aptos"/>
                <a:ea typeface="Aptos"/>
                <a:cs typeface="Aptos"/>
              </a:defRPr>
            </a:pPr>
            <a:r>
              <a:rPr sz="1200" b="0" i="0">
                <a:solidFill>
                  <a:srgbClr val="FFFFFF">
                    <a:alpha val="90000"/>
                  </a:srgbClr>
                </a:solidFill>
                <a:latin typeface="Aptos"/>
                <a:ea typeface="Aptos"/>
                <a:cs typeface="Aptos"/>
              </a:rPr>
              <a:t>Weather and circulation use public regional reanalysis; forcing does not resolve local intake flow, turbulence, or guide feedback.</a:t>
            </a:r>
          </a:p>
        </p:txBody>
      </p:sp>
      <p:sp>
        <p:nvSpPr>
          <p:cNvPr id="11" name="">
            <a:extLst xmlns:a="http://schemas.openxmlformats.org/drawingml/2006/main">
              <a:ext uri="{FF2B5EF4-FFF2-40B4-BE49-F238E27FC236}">
                <a16:creationId xmlns:a16="http://schemas.microsoft.com/office/drawing/2014/main" id="{8D071E8E-5A7F-464B-BD69-260432D28DE6}"/>
              </a:ext>
            </a:extLst>
          </p:cNvPr>
          <p:cNvSpPr>
            <a:spLocks xmlns:a="http://schemas.openxmlformats.org/drawingml/2006/main" noGrp="1"/>
          </p:cNvSpPr>
          <p:nvPr/>
        </p:nvSpPr>
        <p:spPr>
          <a:xfrm xmlns:a="http://schemas.openxmlformats.org/drawingml/2006/main">
            <a:off x="657225" y="4124325"/>
            <a:ext cx="76200" cy="76200"/>
          </a:xfrm>
          <a:prstGeom xmlns:a="http://schemas.openxmlformats.org/drawingml/2006/main" prst="ellipse">
            <a:avLst/>
          </a:prstGeom>
          <a:solidFill xmlns:a="http://schemas.openxmlformats.org/drawingml/2006/main">
            <a:srgbClr val="EA705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921ED0-4848-4D39-B92E-0E35C5A318ED}"/>
              </a:ext>
            </a:extLst>
          </p:cNvPr>
          <p:cNvSpPr>
            <a:spLocks xmlns:a="http://schemas.openxmlformats.org/drawingml/2006/main" noGrp="1"/>
          </p:cNvSpPr>
          <p:nvPr/>
        </p:nvSpPr>
        <p:spPr>
          <a:xfrm xmlns:a="http://schemas.openxmlformats.org/drawingml/2006/main">
            <a:off x="866775" y="4067175"/>
            <a:ext cx="5000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FFFFF">
                    <a:alpha val="90000"/>
                  </a:srgbClr>
                </a:solidFill>
                <a:latin typeface="Aptos"/>
                <a:ea typeface="Aptos"/>
                <a:cs typeface="Aptos"/>
              </a:defRPr>
            </a:defPPr>
          </a:lstStyle>
          <a:p xmlns:a="http://schemas.openxmlformats.org/drawingml/2006/main">
            <a:pPr algn="l">
              <a:defRPr sz="1200" b="0" i="0">
                <a:solidFill>
                  <a:srgbClr val="FFFFFF">
                    <a:alpha val="90000"/>
                  </a:srgbClr>
                </a:solidFill>
                <a:latin typeface="Aptos"/>
                <a:ea typeface="Aptos"/>
                <a:cs typeface="Aptos"/>
              </a:defRPr>
            </a:pPr>
            <a:r>
              <a:rPr sz="1200" b="0" i="0">
                <a:solidFill>
                  <a:srgbClr val="FFFFFF">
                    <a:alpha val="90000"/>
                  </a:srgbClr>
                </a:solidFill>
                <a:latin typeface="Aptos"/>
                <a:ea typeface="Aptos"/>
                <a:cs typeface="Aptos"/>
              </a:rPr>
              <a:t>No validated ML/CV, bycatch/injury model, animal survival model, or field-tested handling/release protocol.</a:t>
            </a:r>
          </a:p>
        </p:txBody>
      </p:sp>
      <p:sp>
        <p:nvSpPr>
          <p:cNvPr id="13" name="">
            <a:extLst xmlns:a="http://schemas.openxmlformats.org/drawingml/2006/main">
              <a:ext uri="{FF2B5EF4-FFF2-40B4-BE49-F238E27FC236}">
                <a16:creationId xmlns:a16="http://schemas.microsoft.com/office/drawing/2014/main" id="{0F0B99DD-7420-4A1A-8716-CD639147F183}"/>
              </a:ext>
            </a:extLst>
          </p:cNvPr>
          <p:cNvSpPr>
            <a:spLocks xmlns:a="http://schemas.openxmlformats.org/drawingml/2006/main" noGrp="1"/>
          </p:cNvSpPr>
          <p:nvPr/>
        </p:nvSpPr>
        <p:spPr>
          <a:xfrm xmlns:a="http://schemas.openxmlformats.org/drawingml/2006/main">
            <a:off x="6219825" y="1943100"/>
            <a:ext cx="9525" cy="2857500"/>
          </a:xfrm>
          <a:prstGeom xmlns:a="http://schemas.openxmlformats.org/drawingml/2006/main" prst="rect">
            <a:avLst/>
          </a:prstGeom>
          <a:solidFill xmlns:a="http://schemas.openxmlformats.org/drawingml/2006/main">
            <a:srgbClr val="FFFFFF">
              <a:alpha val="28000"/>
            </a:srgbClr>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3FDC56-2524-4AA3-B1D9-8B333B4CB4AE}"/>
              </a:ext>
            </a:extLst>
          </p:cNvPr>
          <p:cNvSpPr>
            <a:spLocks xmlns:a="http://schemas.openxmlformats.org/drawingml/2006/main" noGrp="1"/>
          </p:cNvSpPr>
          <p:nvPr/>
        </p:nvSpPr>
        <p:spPr>
          <a:xfrm xmlns:a="http://schemas.openxmlformats.org/drawingml/2006/main">
            <a:off x="6638925" y="2000250"/>
            <a:ext cx="2286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EA705E"/>
                </a:solidFill>
                <a:latin typeface="Aptos"/>
                <a:ea typeface="Aptos"/>
                <a:cs typeface="Aptos"/>
              </a:defRPr>
            </a:defPPr>
          </a:lstStyle>
          <a:p xmlns:a="http://schemas.openxmlformats.org/drawingml/2006/main">
            <a:pPr algn="l">
              <a:defRPr sz="975" b="1" i="0">
                <a:solidFill>
                  <a:srgbClr val="EA705E"/>
                </a:solidFill>
                <a:latin typeface="Aptos"/>
                <a:ea typeface="Aptos"/>
                <a:cs typeface="Aptos"/>
              </a:defRPr>
            </a:pPr>
            <a:r>
              <a:rPr sz="975" b="1" i="0">
                <a:solidFill>
                  <a:srgbClr val="EA705E"/>
                </a:solidFill>
                <a:latin typeface="Aptos"/>
                <a:ea typeface="Aptos"/>
                <a:cs typeface="Aptos"/>
              </a:rPr>
              <a:t>NEXT DECISION</a:t>
            </a:r>
          </a:p>
        </p:txBody>
      </p:sp>
      <p:sp>
        <p:nvSpPr>
          <p:cNvPr id="15" name="">
            <a:extLst xmlns:a="http://schemas.openxmlformats.org/drawingml/2006/main">
              <a:ext uri="{FF2B5EF4-FFF2-40B4-BE49-F238E27FC236}">
                <a16:creationId xmlns:a16="http://schemas.microsoft.com/office/drawing/2014/main" id="{7FFA5624-A21A-4004-A0BE-CA2CEF35D5B3}"/>
              </a:ext>
            </a:extLst>
          </p:cNvPr>
          <p:cNvSpPr>
            <a:spLocks xmlns:a="http://schemas.openxmlformats.org/drawingml/2006/main" noGrp="1"/>
          </p:cNvSpPr>
          <p:nvPr/>
        </p:nvSpPr>
        <p:spPr>
          <a:xfrm xmlns:a="http://schemas.openxmlformats.org/drawingml/2006/main">
            <a:off x="6638925" y="2343150"/>
            <a:ext cx="432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460"/>
          </a:bodyPr>
          <a:lstStyle xmlns:a="http://schemas.openxmlformats.org/drawingml/2006/main">
            <a:defPPr algn="l">
              <a:defRPr sz="1950" b="1" i="0">
                <a:solidFill>
                  <a:srgbClr val="FFFFFF"/>
                </a:solidFill>
                <a:latin typeface="Georgia"/>
                <a:ea typeface="Georgia"/>
                <a:cs typeface="Georgia"/>
              </a:defRPr>
            </a:defPPr>
          </a:lstStyle>
          <a:p xmlns:a="http://schemas.openxmlformats.org/drawingml/2006/main">
            <a:pPr algn="l">
              <a:defRPr sz="1950" b="1" i="0">
                <a:solidFill>
                  <a:srgbClr val="FFFFFF"/>
                </a:solidFill>
                <a:latin typeface="Georgia"/>
                <a:ea typeface="Georgia"/>
                <a:cs typeface="Georgia"/>
              </a:defRPr>
            </a:pPr>
            <a:r>
              <a:rPr sz="1950" b="1" i="0">
                <a:solidFill>
                  <a:srgbClr val="FFFFFF"/>
                </a:solidFill>
                <a:latin typeface="Georgia"/>
                <a:ea typeface="Georgia"/>
                <a:cs typeface="Georgia"/>
              </a:rPr>
              <a:t>Request a bounded technical review</a:t>
            </a:r>
          </a:p>
        </p:txBody>
      </p:sp>
      <p:sp>
        <p:nvSpPr>
          <p:cNvPr id="16" name="">
            <a:extLst xmlns:a="http://schemas.openxmlformats.org/drawingml/2006/main">
              <a:ext uri="{FF2B5EF4-FFF2-40B4-BE49-F238E27FC236}">
                <a16:creationId xmlns:a16="http://schemas.microsoft.com/office/drawing/2014/main" id="{EFB028E2-B584-4B6A-A940-17759EAE39E8}"/>
              </a:ext>
            </a:extLst>
          </p:cNvPr>
          <p:cNvSpPr>
            <a:spLocks xmlns:a="http://schemas.openxmlformats.org/drawingml/2006/main" noGrp="1"/>
          </p:cNvSpPr>
          <p:nvPr/>
        </p:nvSpPr>
        <p:spPr>
          <a:xfrm xmlns:a="http://schemas.openxmlformats.org/drawingml/2006/main">
            <a:off x="6638925" y="3048000"/>
            <a:ext cx="4457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FFFFF">
                    <a:alpha val="84000"/>
                  </a:srgbClr>
                </a:solidFill>
                <a:latin typeface="Aptos"/>
                <a:ea typeface="Aptos"/>
                <a:cs typeface="Aptos"/>
              </a:defRPr>
            </a:defPPr>
          </a:lstStyle>
          <a:p xmlns:a="http://schemas.openxmlformats.org/drawingml/2006/main">
            <a:pPr algn="l">
              <a:defRPr sz="1350" b="0" i="0">
                <a:solidFill>
                  <a:srgbClr val="FFFFFF">
                    <a:alpha val="84000"/>
                  </a:srgbClr>
                </a:solidFill>
                <a:latin typeface="Aptos"/>
                <a:ea typeface="Aptos"/>
                <a:cs typeface="Aptos"/>
              </a:defRPr>
            </a:pPr>
            <a:r>
              <a:rPr sz="1350" b="0" i="0">
                <a:solidFill>
                  <a:srgbClr val="FFFFFF">
                    <a:alpha val="84000"/>
                  </a:srgbClr>
                </a:solidFill>
                <a:latin typeface="Aptos"/>
                <a:ea typeface="Aptos"/>
                <a:cs typeface="Aptos"/>
              </a:rPr>
              <a:t>Confirm deployment boundary, depth/current envelope, allowable flow change, marine-life review pathway, and approved response handling. Then calibrate the flume model and retest its worst cases.</a:t>
            </a:r>
          </a:p>
        </p:txBody>
      </p:sp>
      <p:sp>
        <p:nvSpPr>
          <p:cNvPr id="17" name="">
            <a:extLst xmlns:a="http://schemas.openxmlformats.org/drawingml/2006/main">
              <a:ext uri="{FF2B5EF4-FFF2-40B4-BE49-F238E27FC236}">
                <a16:creationId xmlns:a16="http://schemas.microsoft.com/office/drawing/2014/main" id="{0EBCDDBF-E6B2-42B3-89B9-52D8C63ED863}"/>
              </a:ext>
            </a:extLst>
          </p:cNvPr>
          <p:cNvSpPr>
            <a:spLocks xmlns:a="http://schemas.openxmlformats.org/drawingml/2006/main" noGrp="1"/>
          </p:cNvSpPr>
          <p:nvPr/>
        </p:nvSpPr>
        <p:spPr>
          <a:xfrm xmlns:a="http://schemas.openxmlformats.org/drawingml/2006/main">
            <a:off x="6638925" y="4391025"/>
            <a:ext cx="44100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1">
                <a:solidFill>
                  <a:srgbClr val="FFFFFF">
                    <a:alpha val="70000"/>
                  </a:srgbClr>
                </a:solidFill>
                <a:latin typeface="Aptos"/>
                <a:ea typeface="Aptos"/>
                <a:cs typeface="Aptos"/>
              </a:defRPr>
            </a:defPPr>
          </a:lstStyle>
          <a:p xmlns:a="http://schemas.openxmlformats.org/drawingml/2006/main">
            <a:pPr algn="l">
              <a:defRPr sz="1050" b="0" i="1">
                <a:solidFill>
                  <a:srgbClr val="FFFFFF">
                    <a:alpha val="70000"/>
                  </a:srgbClr>
                </a:solidFill>
                <a:latin typeface="Aptos"/>
                <a:ea typeface="Aptos"/>
                <a:cs typeface="Aptos"/>
              </a:defRPr>
            </a:pPr>
            <a:r>
              <a:rPr sz="1050" b="0" i="1">
                <a:solidFill>
                  <a:srgbClr val="FFFFFF">
                    <a:alpha val="70000"/>
                  </a:srgbClr>
                </a:solidFill>
                <a:latin typeface="Aptos"/>
                <a:ea typeface="Aptos"/>
                <a:cs typeface="Aptos"/>
              </a:rPr>
              <a:t>Declaration: AI tools supported drafting and visual layout; the team reviewed the assumptions and owns the proposal.</a:t>
            </a:r>
          </a:p>
        </p:txBody>
      </p:sp>
      <p:sp>
        <p:nvSpPr>
          <p:cNvPr id="18" name="">
            <a:extLst xmlns:a="http://schemas.openxmlformats.org/drawingml/2006/main">
              <a:ext uri="{FF2B5EF4-FFF2-40B4-BE49-F238E27FC236}">
                <a16:creationId xmlns:a16="http://schemas.microsoft.com/office/drawing/2014/main" id="{DA8587A9-EA5F-47C3-91A5-D1476808D1F7}"/>
              </a:ext>
            </a:extLst>
          </p:cNvPr>
          <p:cNvSpPr>
            <a:spLocks xmlns:a="http://schemas.openxmlformats.org/drawingml/2006/main" noGrp="1"/>
          </p:cNvSpPr>
          <p:nvPr/>
        </p:nvSpPr>
        <p:spPr>
          <a:xfrm xmlns:a="http://schemas.openxmlformats.org/drawingml/2006/main">
            <a:off x="571500" y="5095875"/>
            <a:ext cx="11029950" cy="9525"/>
          </a:xfrm>
          <a:prstGeom xmlns:a="http://schemas.openxmlformats.org/drawingml/2006/main" prst="rect">
            <a:avLst/>
          </a:prstGeom>
          <a:solidFill xmlns:a="http://schemas.openxmlformats.org/drawingml/2006/main">
            <a:srgbClr val="FFFFFF">
              <a:alpha val="30000"/>
            </a:srgbClr>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67BB547-98D3-4136-A8C8-4721C6CBADE4}"/>
              </a:ext>
            </a:extLst>
          </p:cNvPr>
          <p:cNvSpPr>
            <a:spLocks xmlns:a="http://schemas.openxmlformats.org/drawingml/2006/main" noGrp="1"/>
          </p:cNvSpPr>
          <p:nvPr/>
        </p:nvSpPr>
        <p:spPr>
          <a:xfrm xmlns:a="http://schemas.openxmlformats.org/drawingml/2006/main">
            <a:off x="590550" y="526732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58C7BE"/>
                </a:solidFill>
                <a:latin typeface="Aptos"/>
                <a:ea typeface="Aptos"/>
                <a:cs typeface="Aptos"/>
              </a:defRPr>
            </a:defPPr>
          </a:lstStyle>
          <a:p xmlns:a="http://schemas.openxmlformats.org/drawingml/2006/main">
            <a:pPr algn="l">
              <a:defRPr sz="900" b="1" i="0">
                <a:solidFill>
                  <a:srgbClr val="58C7BE"/>
                </a:solidFill>
                <a:latin typeface="Aptos"/>
                <a:ea typeface="Aptos"/>
                <a:cs typeface="Aptos"/>
              </a:defRPr>
            </a:pPr>
            <a:r>
              <a:rPr sz="900" b="1" i="0">
                <a:solidFill>
                  <a:srgbClr val="58C7BE"/>
                </a:solidFill>
                <a:latin typeface="Aptos"/>
                <a:ea typeface="Aptos"/>
                <a:cs typeface="Aptos"/>
              </a:rPr>
              <a:t>SOURCES</a:t>
            </a:r>
          </a:p>
        </p:txBody>
      </p:sp>
      <p:sp>
        <p:nvSpPr>
          <p:cNvPr id="20" name="">
            <a:extLst xmlns:a="http://schemas.openxmlformats.org/drawingml/2006/main">
              <a:ext uri="{FF2B5EF4-FFF2-40B4-BE49-F238E27FC236}">
                <a16:creationId xmlns:a16="http://schemas.microsoft.com/office/drawing/2014/main" id="{AD7E0793-F70E-4583-BF98-63792BCA6276}"/>
              </a:ext>
            </a:extLst>
          </p:cNvPr>
          <p:cNvSpPr>
            <a:spLocks xmlns:a="http://schemas.openxmlformats.org/drawingml/2006/main" noGrp="1"/>
          </p:cNvSpPr>
          <p:nvPr/>
        </p:nvSpPr>
        <p:spPr>
          <a:xfrm xmlns:a="http://schemas.openxmlformats.org/drawingml/2006/main">
            <a:off x="590550" y="5505450"/>
            <a:ext cx="10763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FFFFFF">
                    <a:alpha val="86000"/>
                  </a:srgbClr>
                </a:solidFill>
                <a:latin typeface="Aptos"/>
                <a:ea typeface="Aptos"/>
                <a:cs typeface="Aptos"/>
              </a:defRPr>
            </a:defPPr>
          </a:lstStyle>
          <a:p xmlns:a="http://schemas.openxmlformats.org/drawingml/2006/main">
            <a:pPr algn="l">
              <a:defRPr sz="975" b="0" i="0">
                <a:solidFill>
                  <a:srgbClr val="FFFFFF">
                    <a:alpha val="86000"/>
                  </a:srgbClr>
                </a:solidFill>
                <a:latin typeface="Aptos"/>
                <a:ea typeface="Aptos"/>
                <a:cs typeface="Aptos"/>
              </a:defRPr>
            </a:pPr>
            <a:r>
              <a:rPr sz="975" b="0" i="0">
                <a:solidFill>
                  <a:srgbClr val="FFFFFF">
                    <a:alpha val="86000"/>
                  </a:srgbClr>
                </a:solidFill>
                <a:latin typeface="Aptos"/>
                <a:ea typeface="Aptos"/>
                <a:cs typeface="Aptos"/>
              </a:rPr>
              <a:t>ATP 2026 ENEC brief • Haberlin et al., Aquaculture (2021), DOI 10.1016/j.aquaculture.2020.735915 • Copernicus ERA5 / Marine ocean reanalysis</a:t>
            </a:r>
          </a:p>
        </p:txBody>
      </p:sp>
      <p:sp>
        <p:nvSpPr>
          <p:cNvPr id="21" name="">
            <a:extLst xmlns:a="http://schemas.openxmlformats.org/drawingml/2006/main">
              <a:ext uri="{FF2B5EF4-FFF2-40B4-BE49-F238E27FC236}">
                <a16:creationId xmlns:a16="http://schemas.microsoft.com/office/drawing/2014/main" id="{EC7F8F98-4475-4A51-AB57-F7E1AD1706BE}"/>
              </a:ext>
            </a:extLst>
          </p:cNvPr>
          <p:cNvSpPr>
            <a:spLocks xmlns:a="http://schemas.openxmlformats.org/drawingml/2006/main" noGrp="1"/>
          </p:cNvSpPr>
          <p:nvPr/>
        </p:nvSpPr>
        <p:spPr>
          <a:xfrm xmlns:a="http://schemas.openxmlformats.org/drawingml/2006/main">
            <a:off x="590550" y="5886450"/>
            <a:ext cx="1062037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FFFFFF">
                    <a:alpha val="64000"/>
                  </a:srgbClr>
                </a:solidFill>
                <a:latin typeface="Aptos"/>
                <a:ea typeface="Aptos"/>
                <a:cs typeface="Aptos"/>
              </a:defRPr>
            </a:defPPr>
          </a:lstStyle>
          <a:p xmlns:a="http://schemas.openxmlformats.org/drawingml/2006/main">
            <a:pPr algn="l">
              <a:defRPr sz="975" b="0" i="0">
                <a:solidFill>
                  <a:srgbClr val="FFFFFF">
                    <a:alpha val="64000"/>
                  </a:srgbClr>
                </a:solidFill>
                <a:latin typeface="Aptos"/>
                <a:ea typeface="Aptos"/>
                <a:cs typeface="Aptos"/>
              </a:defRPr>
            </a:pPr>
            <a:r>
              <a:rPr sz="975" b="0" i="0">
                <a:solidFill>
                  <a:srgbClr val="FFFFFF">
                    <a:alpha val="64000"/>
                  </a:srgbClr>
                </a:solidFill>
                <a:latin typeface="Aptos"/>
                <a:ea typeface="Aptos"/>
                <a:cs typeface="Aptos"/>
              </a:rPr>
              <a:t>Public data are regional forcing inputs—not a jellyfish trajectory/abundance dataset and not site measurements.</a:t>
            </a:r>
          </a:p>
        </p:txBody>
      </p:sp>
      <p:sp>
        <p:nvSpPr>
          <p:cNvPr id="22" name="">
            <a:extLst xmlns:a="http://schemas.openxmlformats.org/drawingml/2006/main">
              <a:ext uri="{FF2B5EF4-FFF2-40B4-BE49-F238E27FC236}">
                <a16:creationId xmlns:a16="http://schemas.microsoft.com/office/drawing/2014/main" id="{DAF37703-DD97-4C96-B895-36C0B5ADFA90}"/>
              </a:ext>
            </a:extLst>
          </p:cNvPr>
          <p:cNvSpPr>
            <a:spLocks xmlns:a="http://schemas.openxmlformats.org/drawingml/2006/main" noGrp="1"/>
          </p:cNvSpPr>
          <p:nvPr/>
        </p:nvSpPr>
        <p:spPr>
          <a:xfrm xmlns:a="http://schemas.openxmlformats.org/drawingml/2006/main">
            <a:off x="552450" y="6457950"/>
            <a:ext cx="11087100" cy="9525"/>
          </a:xfrm>
          <a:prstGeom xmlns:a="http://schemas.openxmlformats.org/drawingml/2006/main" prst="rect">
            <a:avLst/>
          </a:prstGeom>
          <a:solidFill xmlns:a="http://schemas.openxmlformats.org/drawingml/2006/main">
            <a:srgbClr val="FFFFFF">
              <a:alpha val="30000"/>
            </a:srgbClr>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E916183-8D45-42C5-A5D1-64266E9C4CEF}"/>
              </a:ext>
            </a:extLst>
          </p:cNvPr>
          <p:cNvSpPr>
            <a:spLocks xmlns:a="http://schemas.openxmlformats.org/drawingml/2006/main" noGrp="1"/>
          </p:cNvSpPr>
          <p:nvPr/>
        </p:nvSpPr>
        <p:spPr>
          <a:xfrm xmlns:a="http://schemas.openxmlformats.org/drawingml/2006/main">
            <a:off x="552450" y="655320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FFFF">
                    <a:alpha val="78000"/>
                  </a:srgbClr>
                </a:solidFill>
                <a:latin typeface="Aptos"/>
                <a:ea typeface="Aptos"/>
                <a:cs typeface="Aptos"/>
              </a:defRPr>
            </a:defPPr>
          </a:lstStyle>
          <a:p xmlns:a="http://schemas.openxmlformats.org/drawingml/2006/main">
            <a:pPr algn="l">
              <a:defRPr sz="900" b="1" i="0">
                <a:solidFill>
                  <a:srgbClr val="FFFFFF">
                    <a:alpha val="78000"/>
                  </a:srgbClr>
                </a:solidFill>
                <a:latin typeface="Aptos"/>
                <a:ea typeface="Aptos"/>
                <a:cs typeface="Aptos"/>
              </a:defRPr>
            </a:pPr>
            <a:r>
              <a:rPr sz="900" b="1" i="0">
                <a:solidFill>
                  <a:srgbClr val="FFFFFF">
                    <a:alpha val="78000"/>
                  </a:srgbClr>
                </a:solidFill>
                <a:latin typeface="Aptos"/>
                <a:ea typeface="Aptos"/>
                <a:cs typeface="Aptos"/>
              </a:rPr>
              <a:t>MARLIN   /   ATP 2026 • ENEC CHALLENGE</a:t>
            </a:r>
          </a:p>
        </p:txBody>
      </p:sp>
      <p:sp>
        <p:nvSpPr>
          <p:cNvPr id="24" name="">
            <a:extLst xmlns:a="http://schemas.openxmlformats.org/drawingml/2006/main">
              <a:ext uri="{FF2B5EF4-FFF2-40B4-BE49-F238E27FC236}">
                <a16:creationId xmlns:a16="http://schemas.microsoft.com/office/drawing/2014/main" id="{3E571A2E-DB3A-4CD3-B795-8AF079F8593C}"/>
              </a:ext>
            </a:extLst>
          </p:cNvPr>
          <p:cNvSpPr>
            <a:spLocks xmlns:a="http://schemas.openxmlformats.org/drawingml/2006/main" noGrp="1"/>
          </p:cNvSpPr>
          <p:nvPr/>
        </p:nvSpPr>
        <p:spPr>
          <a:xfrm xmlns:a="http://schemas.openxmlformats.org/drawingml/2006/main">
            <a:off x="11239500" y="653415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FFFFFF">
                    <a:alpha val="78000"/>
                  </a:srgbClr>
                </a:solidFill>
                <a:latin typeface="Aptos"/>
                <a:ea typeface="Aptos"/>
                <a:cs typeface="Aptos"/>
              </a:defRPr>
            </a:defPPr>
          </a:lstStyle>
          <a:p xmlns:a="http://schemas.openxmlformats.org/drawingml/2006/main">
            <a:pPr algn="r">
              <a:defRPr sz="975" b="1" i="0">
                <a:solidFill>
                  <a:srgbClr val="FFFFFF">
                    <a:alpha val="78000"/>
                  </a:srgbClr>
                </a:solidFill>
                <a:latin typeface="Aptos"/>
                <a:ea typeface="Aptos"/>
                <a:cs typeface="Aptos"/>
              </a:defRPr>
            </a:pPr>
            <a:r>
              <a:rPr sz="975" b="1" i="0">
                <a:solidFill>
                  <a:srgbClr val="FFFFFF">
                    <a:alpha val="78000"/>
                  </a:srgbClr>
                </a:solidFill>
                <a:latin typeface="Aptos"/>
                <a:ea typeface="Aptos"/>
                <a:cs typeface="Aptos"/>
              </a:rPr>
              <a:t>10</a:t>
            </a:r>
          </a:p>
        </p:txBody>
      </p:sp>
    </p:spTree>
    <p:extLst>
      <p:ext uri="{BB962C8B-B14F-4D97-AF65-F5344CB8AC3E}">
        <p14:creationId xmlns:p14="http://schemas.microsoft.com/office/powerpoint/2010/main" val="734895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2026-10-11T19:59:52.7800000Z</dcterms:created>
  <dcterms:modified xsi:type="dcterms:W3CDTF">2026-10-11T19:59:52.7800000Z</dcterms:modified>
</coreProperties>
</file>